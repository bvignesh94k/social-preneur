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3e5f1b8-621b-0144-a8a4-5af06624720d}">
          <p14:sldIdLst>
            <p14:sldId id="256"/>
            <p14:sldId id="257"/>
          </p14:sldIdLst>
        </p14:section>
        <p14:section name="The problem" id="{4ee56eef-1204-c11e-bd04-ce5b28bea315}">
          <p14:sldIdLst>
            <p14:sldId id="258"/>
            <p14:sldId id="259"/>
          </p14:sldIdLst>
        </p14:section>
        <p14:section name="Keywords" id="{a744fa7e-f076-2fc5-cf36-8709a84297ac}">
          <p14:sldIdLst>
            <p14:sldId id="260"/>
            <p14:sldId id="261"/>
          </p14:sldIdLst>
        </p14:section>
        <p14:section name="Authority" id="{0188477e-7c5d-0560-d3c2-a77ed50f59d2}">
          <p14:sldIdLst>
            <p14:sldId id="262"/>
            <p14:sldId id="263"/>
            <p14:sldId id="264"/>
            <p14:sldId id="265"/>
          </p14:sldIdLst>
        </p14:section>
        <p14:section name="Roadmap" id="{529eedfe-27ee-57e4-5190-bfe0e98d9a39}">
          <p14:sldIdLst>
            <p14:sldId id="266"/>
            <p14:sldId id="267"/>
            <p14:sldId id="268"/>
            <p14:sldId id="269"/>
            <p14:sldId id="270"/>
          </p14:sldIdLst>
        </p14:section>
        <p14:section name="Measurement and next steps" id="{fe033b14-6056-2572-5ab0-17d1f98a94ec}">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deck: show, in plain language, why Taskive is not yet visible on Google or in AI answers, and walk through a 4-phase plan that fixes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from the August 2026 audit (Moz and PageSpeed Insights), plus an October 2026 check of review platforms. These are re-measured at the end of Month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 site is technically fine. Google simply has no reason yet to trust it, cannot tell the brand apart from similar names, and is shown a description that hides the strongest selling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assistants do not rank pages the way Google does. They summarize what the wider web says about a category. Today the wider web says nothing about Taskive, so it is never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a row: the phrase people type, where they are in the buying journey, and whether that phrase appears where Google looks first. The MCP and Claude Code rows are Taskive's unique angle and today they are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title and description keep the brand, lead with the phrase buyers type, and move MCP, Claude and Jira into the visible part of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at least 10 of these live by the end of Month 2. Each profile carries the same logo, description, pricing and a link back to taskive.ai.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Glama already lists the Taskive MCP connector. The rest are quick submissions, and each gives a relevant backlink plus visibility in front of developers who already use Claude, Cursor or Codex.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URLs are the sources AI assistants read when they answer “best AI project management tool” questions. A genuine mention on any of them is worth more than a dozen low-quality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run alongside the listings. The brand mix-up fix is the quickest win and happens in Month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Months 1 to 3 build the foundation and proof. From Month 4 the work becomes a steady monthly rhythm of links, content and social presence.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 1 is about making sure everything we build later is measured and points at the right keywords. Nothing gets promoted until tracking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Blog topics are chosen for buyer intent: comparisons, alternatives and setup guides, not general thought leadership. Each one targets a keyword from the keyword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Client-side reviews carry the most weight because they come from real users invited by the Taskive team. The marketer side keeps the volume steady and makes sure every review is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Month 4 the plan becomes a monthly operating rhythm. Backlinks raise authority so new pages rank; social presence and mentions keep Taskive in the sources AI assistants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Listings, reviews and mobile speed are outputs we control, so they carry firm targets. Rankings, traffic and AI mentions follow from those signals and are reported as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 four inputs. Everything else in Month 1 is on our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rtlCol="0"/>
          <a:lstStyle>
            <a:lvl1pPr algn="l" indent="0" marL="0">
              <a:buNone/>
              <a:defRPr lang="en-US" sz="1250" b="1" spc="200" kern="0" dirty="0">
                <a:solidFill>
                  <a:schemeClr val="accent2"/>
                </a:solidFill>
              </a:defRPr>
            </a:lvl1pPr>
          </a:lstStyle>
          <a:p>
            <a:pPr algn="l" indent="0" marL="0">
              <a:buNone/>
            </a:pP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rtlCol="0"/>
          <a:lstStyle>
            <a:lvl1pPr algn="l" indent="0" marL="0">
              <a:buNone/>
              <a:defRPr lang="en-US" sz="2900" b="1" dirty="0">
                <a:solidFill>
                  <a:schemeClr val="tx1"/>
                </a:solidFill>
              </a:defRPr>
            </a:lvl1pPr>
          </a:lstStyle>
          <a:p>
            <a:pPr algn="l" indent="0" marL="0">
              <a:buNone/>
            </a:pP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rtlCol="0"/>
          <a:lstStyle>
            <a:lvl1pPr algn="l" indent="0" marL="0">
              <a:buNone/>
              <a:defRPr lang="en-US" sz="1250" i="1" dirty="0">
                <a:solidFill>
                  <a:schemeClr val="accent6"/>
                </a:solidFill>
              </a:defRPr>
            </a:lvl1pPr>
          </a:lstStyle>
          <a:p>
            <a:pPr algn="l" indent="0" marL="0">
              <a:buNone/>
            </a:pPr>
            <a:endParaRPr lang="en-US" sz="125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121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rtlCol="0"/>
          <a:lstStyle>
            <a:lvl1pPr algn="l" indent="0" marL="0">
              <a:buNone/>
              <a:defRPr lang="en-US" sz="1250" b="1" spc="200" kern="0" dirty="0">
                <a:solidFill>
                  <a:schemeClr val="accent1"/>
                </a:solidFill>
              </a:defRPr>
            </a:lvl1pPr>
          </a:lstStyle>
          <a:p>
            <a:pPr algn="l" indent="0" marL="0">
              <a:buNone/>
            </a:pP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rtlCol="0"/>
          <a:lstStyle>
            <a:lvl1pPr algn="l" indent="0" marL="0">
              <a:buNone/>
              <a:defRPr lang="en-US" sz="2900" b="1" dirty="0">
                <a:solidFill>
                  <a:schemeClr val="bg1"/>
                </a:solidFill>
              </a:defRPr>
            </a:lvl1pPr>
          </a:lstStyle>
          <a:p>
            <a:pPr algn="l" indent="0" marL="0">
              <a:buNone/>
            </a:pP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rtlCol="0"/>
          <a:lstStyle>
            <a:lvl1pPr algn="l" indent="0" marL="0">
              <a:buNone/>
              <a:defRPr lang="en-US" sz="1250" i="1" dirty="0">
                <a:solidFill>
                  <a:srgbClr val="A1A1AA"/>
                </a:solidFill>
              </a:defRPr>
            </a:lvl1pPr>
          </a:lstStyle>
          <a:p>
            <a:pPr algn="l" indent="0" marL="0">
              <a:buNone/>
            </a:pPr>
            <a:endParaRPr lang="en-US" sz="125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1A1A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2121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g2.com/categories/project-management" TargetMode="External"/><Relationship Id="rId2" Type="http://schemas.openxmlformats.org/officeDocument/2006/relationships/hyperlink" Target="https://www.capterra.com/project-management-software" TargetMode="External"/><Relationship Id="rId3" Type="http://schemas.openxmlformats.org/officeDocument/2006/relationships/hyperlink" Target="https://www.producthunt.com" TargetMode="External"/><Relationship Id="rId4" Type="http://schemas.openxmlformats.org/officeDocument/2006/relationships/hyperlink" Target="https://www.trustradius.com/project-management" TargetMode="External"/><Relationship Id="rId5" Type="http://schemas.openxmlformats.org/officeDocument/2006/relationships/hyperlink" Target="https://www.gartner.com/reviews/market/collaborative-work-management" TargetMode="External"/><Relationship Id="rId6" Type="http://schemas.openxmlformats.org/officeDocument/2006/relationships/hyperlink" Target="https://sourceforge.net/software/project-management" TargetMode="External"/><Relationship Id="rId7" Type="http://schemas.openxmlformats.org/officeDocument/2006/relationships/hyperlink" Target="https://www.getapp.com/project-management-planning-software" TargetMode="External"/><Relationship Id="rId8" Type="http://schemas.openxmlformats.org/officeDocument/2006/relationships/hyperlink" Target="https://www.softwareadvice.com/project-management" TargetMode="External"/><Relationship Id="rId9" Type="http://schemas.openxmlformats.org/officeDocument/2006/relationships/hyperlink" Target="https://alternativeto.net/software/jira" TargetMode="External"/><Relationship Id="rId10" Type="http://schemas.openxmlformats.org/officeDocument/2006/relationships/hyperlink" Target="https://www.saashub.com/jira-alternatives" TargetMode="External"/><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registry.modelcontextprotocol.io" TargetMode="External"/><Relationship Id="rId3" Type="http://schemas.openxmlformats.org/officeDocument/2006/relationships/hyperlink" Target="https://glama.ai/mcp" TargetMode="External"/><Relationship Id="rId4" Type="http://schemas.openxmlformats.org/officeDocument/2006/relationships/hyperlink" Target="https://smithery.ai" TargetMode="External"/><Relationship Id="rId5" Type="http://schemas.openxmlformats.org/officeDocument/2006/relationships/hyperlink" Target="https://www.pulsemcp.com" TargetMode="External"/><Relationship Id="rId6" Type="http://schemas.openxmlformats.org/officeDocument/2006/relationships/hyperlink" Target="https://mcp.so" TargetMode="External"/><Relationship Id="rId8" Type="http://schemas.openxmlformats.org/officeDocument/2006/relationships/hyperlink" Target="https://theresanaiforthat.com" TargetMode="External"/><Relationship Id="rId9" Type="http://schemas.openxmlformats.org/officeDocument/2006/relationships/hyperlink" Target="https://www.futurepedia.io" TargetMode="External"/><Relationship Id="rId10" Type="http://schemas.openxmlformats.org/officeDocument/2006/relationships/hyperlink" Target="https://www.toolify.ai" TargetMode="External"/><Relationship Id="rId11" Type="http://schemas.openxmlformats.org/officeDocument/2006/relationships/hyperlink" Target="https://www.futuretools.io" TargetMode="External"/><Relationship Id="rId12" Type="http://schemas.openxmlformats.org/officeDocument/2006/relationships/hyperlink" Target="https://topai.tools" TargetMode="External"/><Relationship Id="rId14" Type="http://schemas.openxmlformats.org/officeDocument/2006/relationships/hyperlink" Target="https://news.ycombinator.com/show" TargetMode="External"/><Relationship Id="rId15" Type="http://schemas.openxmlformats.org/officeDocument/2006/relationships/hyperlink" Target="https://devhunt.org" TargetMode="External"/><Relationship Id="rId16" Type="http://schemas.openxmlformats.org/officeDocument/2006/relationships/hyperlink" Target="https://betalist.com" TargetMode="External"/><Relationship Id="rId17" Type="http://schemas.openxmlformats.org/officeDocument/2006/relationships/hyperlink" Target="https://www.indiehackers.com" TargetMode="External"/><Relationship Id="rId18" Type="http://schemas.openxmlformats.org/officeDocument/2006/relationships/hyperlink" Target="https://peerlist.io" TargetMode="External"/><Relationship Id="rId1" Type="http://schemas.openxmlformats.org/officeDocument/2006/relationships/image" Target="../media/image-8-1.png"/><Relationship Id="rId7" Type="http://schemas.openxmlformats.org/officeDocument/2006/relationships/image" Target="../media/image-8-2.png"/><Relationship Id="rId13" Type="http://schemas.openxmlformats.org/officeDocument/2006/relationships/image" Target="../media/image-8-3.png"/><Relationship Id="rId19" Type="http://schemas.openxmlformats.org/officeDocument/2006/relationships/slideLayout" Target="../slideLayouts/slideLayout2.xml"/><Relationship Id="rId2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www.reddit.com/r/ClaudeAI" TargetMode="External"/><Relationship Id="rId3" Type="http://schemas.openxmlformats.org/officeDocument/2006/relationships/hyperlink" Target="https://www.reddit.com/r/cursor" TargetMode="External"/><Relationship Id="rId4" Type="http://schemas.openxmlformats.org/officeDocument/2006/relationships/hyperlink" Target="https://www.reddit.com/r/ChatGPTCoding" TargetMode="External"/><Relationship Id="rId5" Type="http://schemas.openxmlformats.org/officeDocument/2006/relationships/hyperlink" Target="https://www.reddit.com/r/projectmanagement" TargetMode="External"/><Relationship Id="rId6" Type="http://schemas.openxmlformats.org/officeDocument/2006/relationships/hyperlink" Target="https://news.ycombinator.com" TargetMode="External"/><Relationship Id="rId8" Type="http://schemas.openxmlformats.org/officeDocument/2006/relationships/hyperlink" Target="https://github.com" TargetMode="External"/><Relationship Id="rId9" Type="http://schemas.openxmlformats.org/officeDocument/2006/relationships/hyperlink" Target="https://github.com/punkpeye/awesome-mcp-servers" TargetMode="External"/><Relationship Id="rId10" Type="http://schemas.openxmlformats.org/officeDocument/2006/relationships/hyperlink" Target="https://github.com/TensorBlock/awesome-mcp-servers" TargetMode="External"/><Relationship Id="rId11" Type="http://schemas.openxmlformats.org/officeDocument/2006/relationships/hyperlink" Target="https://dev.to" TargetMode="External"/><Relationship Id="rId12" Type="http://schemas.openxmlformats.org/officeDocument/2006/relationships/hyperlink" Target="https://hashnode.com" TargetMode="External"/><Relationship Id="rId14" Type="http://schemas.openxmlformats.org/officeDocument/2006/relationships/hyperlink" Target="https://thedigitalprojectmanager.com/tools/best-ai-project-management-tools" TargetMode="External"/><Relationship Id="rId15" Type="http://schemas.openxmlformats.org/officeDocument/2006/relationships/hyperlink" Target="https://productive.io/blog/ai-project-management-tools" TargetMode="External"/><Relationship Id="rId16" Type="http://schemas.openxmlformats.org/officeDocument/2006/relationships/hyperlink" Target="https://project-management.com/best-ai-project-management-tools" TargetMode="External"/><Relationship Id="rId17" Type="http://schemas.openxmlformats.org/officeDocument/2006/relationships/hyperlink" Target="https://www.accelo.com/blog/10-best-ai-project-management-software" TargetMode="External"/><Relationship Id="rId18" Type="http://schemas.openxmlformats.org/officeDocument/2006/relationships/hyperlink" Target="https://agiflow.io/blog/mcp-project-management-tools" TargetMode="External"/><Relationship Id="rId20" Type="http://schemas.openxmlformats.org/officeDocument/2006/relationships/hyperlink" Target="https://www.linkedin.com" TargetMode="External"/><Relationship Id="rId21" Type="http://schemas.openxmlformats.org/officeDocument/2006/relationships/hyperlink" Target="https://www.crunchbase.com" TargetMode="External"/><Relationship Id="rId22" Type="http://schemas.openxmlformats.org/officeDocument/2006/relationships/hyperlink" Target="https://wellfound.com" TargetMode="External"/><Relationship Id="rId23" Type="http://schemas.openxmlformats.org/officeDocument/2006/relationships/hyperlink" Target="https://www.wikidata.org" TargetMode="External"/><Relationship Id="rId24" Type="http://schemas.openxmlformats.org/officeDocument/2006/relationships/hyperlink" Target="https://www.youtube.com" TargetMode="External"/><Relationship Id="rId1" Type="http://schemas.openxmlformats.org/officeDocument/2006/relationships/image" Target="../media/image-9-1.png"/><Relationship Id="rId7" Type="http://schemas.openxmlformats.org/officeDocument/2006/relationships/image" Target="../media/image-9-2.png"/><Relationship Id="rId13" Type="http://schemas.openxmlformats.org/officeDocument/2006/relationships/image" Target="../media/image-9-3.png"/><Relationship Id="rId19" Type="http://schemas.openxmlformats.org/officeDocument/2006/relationships/image" Target="../media/image-9-4.png"/><Relationship Id="rId25" Type="http://schemas.openxmlformats.org/officeDocument/2006/relationships/slideLayout" Target="../slideLayouts/slideLayout2.xml"/><Relationship Id="rId2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p:cNvSpPr/>
          <p:nvPr/>
        </p:nvSpPr>
        <p:spPr>
          <a:xfrm>
            <a:off x="8778240" y="-1737360"/>
            <a:ext cx="4754880" cy="4754880"/>
          </a:xfrm>
          <a:prstGeom prst="ellipse">
            <a:avLst/>
          </a:prstGeom>
          <a:solidFill>
            <a:srgbClr val="1E1E1E"/>
          </a:solidFill>
          <a:ln w="12700">
            <a:solidFill>
              <a:srgbClr val="1E1E1E"/>
            </a:solidFill>
            <a:prstDash val="solid"/>
          </a:ln>
        </p:spPr>
      </p:sp>
      <p:sp>
        <p:nvSpPr>
          <p:cNvPr id="3" name="Decor circle"/>
          <p:cNvSpPr/>
          <p:nvPr/>
        </p:nvSpPr>
        <p:spPr>
          <a:xfrm>
            <a:off x="10332720" y="4754880"/>
            <a:ext cx="3108960" cy="3108960"/>
          </a:xfrm>
          <a:prstGeom prst="ellipse">
            <a:avLst/>
          </a:prstGeom>
          <a:solidFill>
            <a:srgbClr val="1E1E1E"/>
          </a:solidFill>
          <a:ln w="12700">
            <a:solidFill>
              <a:srgbClr val="1E1E1E"/>
            </a:solidFill>
            <a:prstDash val="solid"/>
          </a:ln>
        </p:spPr>
      </p:sp>
      <p:sp>
        <p:nvSpPr>
          <p:cNvPr id="4" name="Icon circle"/>
          <p:cNvSpPr/>
          <p:nvPr/>
        </p:nvSpPr>
        <p:spPr>
          <a:xfrm>
            <a:off x="10012680" y="2331720"/>
            <a:ext cx="1463040" cy="1463040"/>
          </a:xfrm>
          <a:prstGeom prst="ellipse">
            <a:avLst/>
          </a:prstGeom>
          <a:solidFill>
            <a:srgbClr val="8B5CF6"/>
          </a:solidFill>
          <a:ln w="12700">
            <a:solidFill>
              <a:srgbClr val="8B5CF6"/>
            </a:solidFill>
            <a:prstDash val="solid"/>
          </a:ln>
        </p:spPr>
      </p:sp>
      <p:pic>
        <p:nvPicPr>
          <p:cNvPr id="5" name="Icon" descr="preencoded.png">    </p:cNvPr>
          <p:cNvPicPr>
            <a:picLocks noChangeAspect="1"/>
          </p:cNvPicPr>
          <p:nvPr/>
        </p:nvPicPr>
        <p:blipFill>
          <a:blip r:embed="rId1"/>
          <a:stretch>
            <a:fillRect/>
          </a:stretch>
        </p:blipFill>
        <p:spPr>
          <a:xfrm>
            <a:off x="10393070" y="2712110"/>
            <a:ext cx="702259" cy="702259"/>
          </a:xfrm>
          <a:prstGeom prst="rect">
            <a:avLst/>
          </a:prstGeom>
        </p:spPr>
      </p:pic>
      <p:sp>
        <p:nvSpPr>
          <p:cNvPr id="6" name="Text 3"/>
          <p:cNvSpPr txBox="1"/>
          <p:nvPr/>
        </p:nvSpPr>
        <p:spPr>
          <a:xfrm>
            <a:off x="502920" y="658368"/>
            <a:ext cx="9144000" cy="365760"/>
          </a:xfrm>
          <a:prstGeom prst="rect">
            <a:avLst/>
          </a:prstGeom>
          <a:noFill/>
          <a:ln/>
        </p:spPr>
        <p:txBody>
          <a:bodyPr wrap="square" lIns="0" tIns="0" rIns="0" bIns="0" rtlCol="0" anchor="t"/>
          <a:lstStyle/>
          <a:p>
            <a:pPr indent="0" marL="0">
              <a:buNone/>
            </a:pPr>
            <a:r>
              <a:rPr lang="en-US" sz="1350" b="1" spc="300" kern="0" dirty="0">
                <a:solidFill>
                  <a:schemeClr val="accent1"/>
                </a:solidFill>
              </a:rPr>
              <a:t>TASKIVE  ·  taskive.ai</a:t>
            </a:r>
            <a:endParaRPr lang="en-US" sz="1350" dirty="0"/>
          </a:p>
        </p:txBody>
      </p:sp>
      <p:sp>
        <p:nvSpPr>
          <p:cNvPr id="7" name="Text 4"/>
          <p:cNvSpPr txBox="1"/>
          <p:nvPr/>
        </p:nvSpPr>
        <p:spPr>
          <a:xfrm>
            <a:off x="502920" y="1828800"/>
            <a:ext cx="9144000" cy="2011680"/>
          </a:xfrm>
          <a:prstGeom prst="rect">
            <a:avLst/>
          </a:prstGeom>
          <a:noFill/>
          <a:ln/>
        </p:spPr>
        <p:txBody>
          <a:bodyPr wrap="square" lIns="0" tIns="0" rIns="0" bIns="0" rtlCol="0" anchor="ctr"/>
          <a:lstStyle/>
          <a:p>
            <a:pPr indent="0" marL="0">
              <a:buNone/>
            </a:pPr>
            <a:r>
              <a:rPr lang="en-US" sz="4600" b="1" dirty="0">
                <a:solidFill>
                  <a:schemeClr val="bg1"/>
                </a:solidFill>
                <a:latin typeface="Century Schoolbook" pitchFamily="34" charset="0"/>
                <a:ea typeface="Century Schoolbook" pitchFamily="34" charset="-122"/>
                <a:cs typeface="Century Schoolbook" pitchFamily="34" charset="-120"/>
              </a:rPr>
              <a:t>Search &amp; AI Visibility</a:t>
            </a:r>
            <a:endParaRPr lang="en-US" sz="4600" dirty="0"/>
          </a:p>
          <a:p>
            <a:pPr indent="0" marL="0">
              <a:buNone/>
            </a:pPr>
            <a:r>
              <a:rPr lang="en-US" sz="4600" b="1" dirty="0">
                <a:solidFill>
                  <a:schemeClr val="accent1"/>
                </a:solidFill>
                <a:latin typeface="Century Schoolbook" pitchFamily="34" charset="0"/>
                <a:ea typeface="Century Schoolbook" pitchFamily="34" charset="-122"/>
                <a:cs typeface="Century Schoolbook" pitchFamily="34" charset="-120"/>
              </a:rPr>
              <a:t>Growth Plan</a:t>
            </a:r>
            <a:endParaRPr lang="en-US" sz="4600" dirty="0"/>
          </a:p>
        </p:txBody>
      </p:sp>
      <p:sp>
        <p:nvSpPr>
          <p:cNvPr id="8" name="Text 5"/>
          <p:cNvSpPr txBox="1"/>
          <p:nvPr/>
        </p:nvSpPr>
        <p:spPr>
          <a:xfrm>
            <a:off x="502920" y="4160520"/>
            <a:ext cx="8412480" cy="822960"/>
          </a:xfrm>
          <a:prstGeom prst="rect">
            <a:avLst/>
          </a:prstGeom>
          <a:noFill/>
          <a:ln/>
        </p:spPr>
        <p:txBody>
          <a:bodyPr wrap="square" lIns="0" tIns="0" rIns="0" bIns="0" rtlCol="0" anchor="t"/>
          <a:lstStyle/>
          <a:p>
            <a:pPr indent="0" marL="0">
              <a:buNone/>
            </a:pPr>
            <a:r>
              <a:rPr lang="en-US" sz="1600" dirty="0">
                <a:solidFill>
                  <a:srgbClr val="A1A1AA"/>
                </a:solidFill>
              </a:rPr>
              <a:t>What stops Google and AI assistants from recommending Taskive today, and the month-by-month plan to fix it.</a:t>
            </a:r>
            <a:endParaRPr lang="en-US" sz="1600" dirty="0"/>
          </a:p>
        </p:txBody>
      </p:sp>
      <p:sp>
        <p:nvSpPr>
          <p:cNvPr id="9" name="Text 6"/>
          <p:cNvSpPr txBox="1"/>
          <p:nvPr/>
        </p:nvSpPr>
        <p:spPr>
          <a:xfrm>
            <a:off x="502920" y="5989320"/>
            <a:ext cx="8229600" cy="365760"/>
          </a:xfrm>
          <a:prstGeom prst="rect">
            <a:avLst/>
          </a:prstGeom>
          <a:noFill/>
          <a:ln/>
        </p:spPr>
        <p:txBody>
          <a:bodyPr wrap="square" lIns="0" tIns="0" rIns="0" bIns="0" rtlCol="0" anchor="t"/>
          <a:lstStyle/>
          <a:p>
            <a:pPr indent="0" marL="0">
              <a:buNone/>
            </a:pPr>
            <a:r>
              <a:rPr lang="en-US" sz="1300" dirty="0">
                <a:solidFill>
                  <a:srgbClr val="6E6B7B"/>
                </a:solidFill>
              </a:rPr>
              <a:t>Prepared for Taskive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WHERE TASKIVE STANDS TODAY</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A clean build with almost no reach yet</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The build is sound (SEO score 100, AI crawlers can read it). The gap is reach and trust.</a:t>
            </a:r>
            <a:endParaRPr lang="en-US" sz="1250" dirty="0"/>
          </a:p>
        </p:txBody>
      </p:sp>
      <p:sp>
        <p:nvSpPr>
          <p:cNvPr id="5" name="Stat card"/>
          <p:cNvSpPr/>
          <p:nvPr/>
        </p:nvSpPr>
        <p:spPr>
          <a:xfrm>
            <a:off x="502920" y="1737360"/>
            <a:ext cx="2590038" cy="1965960"/>
          </a:xfrm>
          <a:prstGeom prst="roundRect">
            <a:avLst>
              <a:gd name="adj" fmla="val 3721"/>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6" name="Text 4"/>
          <p:cNvSpPr txBox="1"/>
          <p:nvPr/>
        </p:nvSpPr>
        <p:spPr>
          <a:xfrm>
            <a:off x="731520" y="1965960"/>
            <a:ext cx="2132838" cy="274320"/>
          </a:xfrm>
          <a:prstGeom prst="rect">
            <a:avLst/>
          </a:prstGeom>
          <a:noFill/>
          <a:ln/>
        </p:spPr>
        <p:txBody>
          <a:bodyPr wrap="square" lIns="0" tIns="0" rIns="0" bIns="0" rtlCol="0" anchor="t"/>
          <a:lstStyle/>
          <a:p>
            <a:pPr indent="0" marL="0">
              <a:buNone/>
            </a:pPr>
            <a:r>
              <a:rPr lang="en-US" sz="1000" b="1" spc="100" kern="0" dirty="0">
                <a:solidFill>
                  <a:schemeClr val="accent6"/>
                </a:solidFill>
              </a:rPr>
              <a:t>DOMAIN AUTHORITY</a:t>
            </a:r>
            <a:endParaRPr lang="en-US" sz="1000" dirty="0"/>
          </a:p>
        </p:txBody>
      </p:sp>
      <p:sp>
        <p:nvSpPr>
          <p:cNvPr id="7" name="Text 5"/>
          <p:cNvSpPr txBox="1"/>
          <p:nvPr/>
        </p:nvSpPr>
        <p:spPr>
          <a:xfrm>
            <a:off x="731520" y="2286000"/>
            <a:ext cx="2132838" cy="777240"/>
          </a:xfrm>
          <a:prstGeom prst="rect">
            <a:avLst/>
          </a:prstGeom>
          <a:noFill/>
          <a:ln/>
        </p:spPr>
        <p:txBody>
          <a:bodyPr wrap="square" lIns="0" tIns="0" rIns="0" bIns="0" rtlCol="0" anchor="ctr"/>
          <a:lstStyle/>
          <a:p>
            <a:pPr indent="0" marL="0">
              <a:buNone/>
            </a:pPr>
            <a:r>
              <a:rPr lang="en-US" sz="4000" b="1" dirty="0">
                <a:solidFill>
                  <a:srgbClr val="D6304A"/>
                </a:solidFill>
                <a:latin typeface="Century Schoolbook" pitchFamily="34" charset="0"/>
                <a:ea typeface="Century Schoolbook" pitchFamily="34" charset="-122"/>
                <a:cs typeface="Century Schoolbook" pitchFamily="34" charset="-120"/>
              </a:rPr>
              <a:t>4</a:t>
            </a:r>
            <a:endParaRPr lang="en-US" sz="4000" dirty="0"/>
          </a:p>
        </p:txBody>
      </p:sp>
      <p:sp>
        <p:nvSpPr>
          <p:cNvPr id="8" name="Text 6"/>
          <p:cNvSpPr txBox="1"/>
          <p:nvPr/>
        </p:nvSpPr>
        <p:spPr>
          <a:xfrm>
            <a:off x="731520" y="3154680"/>
            <a:ext cx="2132838" cy="365760"/>
          </a:xfrm>
          <a:prstGeom prst="rect">
            <a:avLst/>
          </a:prstGeom>
          <a:noFill/>
          <a:ln/>
        </p:spPr>
        <p:txBody>
          <a:bodyPr wrap="square" lIns="0" tIns="0" rIns="0" bIns="0" rtlCol="0" anchor="t"/>
          <a:lstStyle/>
          <a:p>
            <a:pPr indent="0" marL="0">
              <a:buNone/>
            </a:pPr>
            <a:r>
              <a:rPr lang="en-US" sz="1150" dirty="0">
                <a:solidFill>
                  <a:schemeClr val="accent6"/>
                </a:solidFill>
              </a:rPr>
              <a:t>Moz, out of 100</a:t>
            </a:r>
            <a:endParaRPr lang="en-US" sz="1150" dirty="0"/>
          </a:p>
        </p:txBody>
      </p:sp>
      <p:sp>
        <p:nvSpPr>
          <p:cNvPr id="9" name="Stat card"/>
          <p:cNvSpPr/>
          <p:nvPr/>
        </p:nvSpPr>
        <p:spPr>
          <a:xfrm>
            <a:off x="3367278" y="1737360"/>
            <a:ext cx="2590038" cy="1965960"/>
          </a:xfrm>
          <a:prstGeom prst="roundRect">
            <a:avLst>
              <a:gd name="adj" fmla="val 3721"/>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0" name="Text 8"/>
          <p:cNvSpPr txBox="1"/>
          <p:nvPr/>
        </p:nvSpPr>
        <p:spPr>
          <a:xfrm>
            <a:off x="3595878" y="1965960"/>
            <a:ext cx="2132838" cy="274320"/>
          </a:xfrm>
          <a:prstGeom prst="rect">
            <a:avLst/>
          </a:prstGeom>
          <a:noFill/>
          <a:ln/>
        </p:spPr>
        <p:txBody>
          <a:bodyPr wrap="square" lIns="0" tIns="0" rIns="0" bIns="0" rtlCol="0" anchor="t"/>
          <a:lstStyle/>
          <a:p>
            <a:pPr indent="0" marL="0">
              <a:buNone/>
            </a:pPr>
            <a:r>
              <a:rPr lang="en-US" sz="1000" b="1" spc="100" kern="0" dirty="0">
                <a:solidFill>
                  <a:schemeClr val="accent6"/>
                </a:solidFill>
              </a:rPr>
              <a:t>LINKING ROOT DOMAINS</a:t>
            </a:r>
            <a:endParaRPr lang="en-US" sz="1000" dirty="0"/>
          </a:p>
        </p:txBody>
      </p:sp>
      <p:sp>
        <p:nvSpPr>
          <p:cNvPr id="11" name="Text 9"/>
          <p:cNvSpPr txBox="1"/>
          <p:nvPr/>
        </p:nvSpPr>
        <p:spPr>
          <a:xfrm>
            <a:off x="3595878" y="2286000"/>
            <a:ext cx="2132838" cy="777240"/>
          </a:xfrm>
          <a:prstGeom prst="rect">
            <a:avLst/>
          </a:prstGeom>
          <a:noFill/>
          <a:ln/>
        </p:spPr>
        <p:txBody>
          <a:bodyPr wrap="square" lIns="0" tIns="0" rIns="0" bIns="0" rtlCol="0" anchor="ctr"/>
          <a:lstStyle/>
          <a:p>
            <a:pPr indent="0" marL="0">
              <a:buNone/>
            </a:pPr>
            <a:r>
              <a:rPr lang="en-US" sz="4000" b="1" dirty="0">
                <a:solidFill>
                  <a:srgbClr val="D6304A"/>
                </a:solidFill>
                <a:latin typeface="Century Schoolbook" pitchFamily="34" charset="0"/>
                <a:ea typeface="Century Schoolbook" pitchFamily="34" charset="-122"/>
                <a:cs typeface="Century Schoolbook" pitchFamily="34" charset="-120"/>
              </a:rPr>
              <a:t>3</a:t>
            </a:r>
            <a:endParaRPr lang="en-US" sz="4000" dirty="0"/>
          </a:p>
        </p:txBody>
      </p:sp>
      <p:sp>
        <p:nvSpPr>
          <p:cNvPr id="12" name="Text 10"/>
          <p:cNvSpPr txBox="1"/>
          <p:nvPr/>
        </p:nvSpPr>
        <p:spPr>
          <a:xfrm>
            <a:off x="3595878" y="3154680"/>
            <a:ext cx="2132838" cy="365760"/>
          </a:xfrm>
          <a:prstGeom prst="rect">
            <a:avLst/>
          </a:prstGeom>
          <a:noFill/>
          <a:ln/>
        </p:spPr>
        <p:txBody>
          <a:bodyPr wrap="square" lIns="0" tIns="0" rIns="0" bIns="0" rtlCol="0" anchor="t"/>
          <a:lstStyle/>
          <a:p>
            <a:pPr indent="0" marL="0">
              <a:buNone/>
            </a:pPr>
            <a:r>
              <a:rPr lang="en-US" sz="1150" dirty="0">
                <a:solidFill>
                  <a:schemeClr val="accent6"/>
                </a:solidFill>
              </a:rPr>
              <a:t>sites that link to taskive.ai</a:t>
            </a:r>
            <a:endParaRPr lang="en-US" sz="1150" dirty="0"/>
          </a:p>
        </p:txBody>
      </p:sp>
      <p:sp>
        <p:nvSpPr>
          <p:cNvPr id="13" name="Stat card"/>
          <p:cNvSpPr/>
          <p:nvPr/>
        </p:nvSpPr>
        <p:spPr>
          <a:xfrm>
            <a:off x="6231636" y="1737360"/>
            <a:ext cx="2590038" cy="1965960"/>
          </a:xfrm>
          <a:prstGeom prst="roundRect">
            <a:avLst>
              <a:gd name="adj" fmla="val 3721"/>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4" name="Text 12"/>
          <p:cNvSpPr txBox="1"/>
          <p:nvPr/>
        </p:nvSpPr>
        <p:spPr>
          <a:xfrm>
            <a:off x="6460236" y="1965960"/>
            <a:ext cx="2132838" cy="274320"/>
          </a:xfrm>
          <a:prstGeom prst="rect">
            <a:avLst/>
          </a:prstGeom>
          <a:noFill/>
          <a:ln/>
        </p:spPr>
        <p:txBody>
          <a:bodyPr wrap="square" lIns="0" tIns="0" rIns="0" bIns="0" rtlCol="0" anchor="t"/>
          <a:lstStyle/>
          <a:p>
            <a:pPr indent="0" marL="0">
              <a:buNone/>
            </a:pPr>
            <a:r>
              <a:rPr lang="en-US" sz="1000" b="1" spc="100" kern="0" dirty="0">
                <a:solidFill>
                  <a:schemeClr val="accent6"/>
                </a:solidFill>
              </a:rPr>
              <a:t>RANKING KEYWORDS</a:t>
            </a:r>
            <a:endParaRPr lang="en-US" sz="1000" dirty="0"/>
          </a:p>
        </p:txBody>
      </p:sp>
      <p:sp>
        <p:nvSpPr>
          <p:cNvPr id="15" name="Text 13"/>
          <p:cNvSpPr txBox="1"/>
          <p:nvPr/>
        </p:nvSpPr>
        <p:spPr>
          <a:xfrm>
            <a:off x="6460236" y="2286000"/>
            <a:ext cx="2132838" cy="777240"/>
          </a:xfrm>
          <a:prstGeom prst="rect">
            <a:avLst/>
          </a:prstGeom>
          <a:noFill/>
          <a:ln/>
        </p:spPr>
        <p:txBody>
          <a:bodyPr wrap="square" lIns="0" tIns="0" rIns="0" bIns="0" rtlCol="0" anchor="ctr"/>
          <a:lstStyle/>
          <a:p>
            <a:pPr indent="0" marL="0">
              <a:buNone/>
            </a:pPr>
            <a:r>
              <a:rPr lang="en-US" sz="4000" b="1" dirty="0">
                <a:solidFill>
                  <a:srgbClr val="D6304A"/>
                </a:solidFill>
                <a:latin typeface="Century Schoolbook" pitchFamily="34" charset="0"/>
                <a:ea typeface="Century Schoolbook" pitchFamily="34" charset="-122"/>
                <a:cs typeface="Century Schoolbook" pitchFamily="34" charset="-120"/>
              </a:rPr>
              <a:t>1</a:t>
            </a:r>
            <a:endParaRPr lang="en-US" sz="4000" dirty="0"/>
          </a:p>
        </p:txBody>
      </p:sp>
      <p:sp>
        <p:nvSpPr>
          <p:cNvPr id="16" name="Text 14"/>
          <p:cNvSpPr txBox="1"/>
          <p:nvPr/>
        </p:nvSpPr>
        <p:spPr>
          <a:xfrm>
            <a:off x="6460236" y="3154680"/>
            <a:ext cx="2132838" cy="365760"/>
          </a:xfrm>
          <a:prstGeom prst="rect">
            <a:avLst/>
          </a:prstGeom>
          <a:noFill/>
          <a:ln/>
        </p:spPr>
        <p:txBody>
          <a:bodyPr wrap="square" lIns="0" tIns="0" rIns="0" bIns="0" rtlCol="0" anchor="t"/>
          <a:lstStyle/>
          <a:p>
            <a:pPr indent="0" marL="0">
              <a:buNone/>
            </a:pPr>
            <a:r>
              <a:rPr lang="en-US" sz="1150" dirty="0">
                <a:solidFill>
                  <a:schemeClr val="accent6"/>
                </a:solidFill>
              </a:rPr>
              <a:t>across 28 live pages</a:t>
            </a:r>
            <a:endParaRPr lang="en-US" sz="1150" dirty="0"/>
          </a:p>
        </p:txBody>
      </p:sp>
      <p:sp>
        <p:nvSpPr>
          <p:cNvPr id="17" name="Stat card"/>
          <p:cNvSpPr/>
          <p:nvPr/>
        </p:nvSpPr>
        <p:spPr>
          <a:xfrm>
            <a:off x="9095994" y="1737360"/>
            <a:ext cx="2590038" cy="1965960"/>
          </a:xfrm>
          <a:prstGeom prst="roundRect">
            <a:avLst>
              <a:gd name="adj" fmla="val 3721"/>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8" name="Text 16"/>
          <p:cNvSpPr txBox="1"/>
          <p:nvPr/>
        </p:nvSpPr>
        <p:spPr>
          <a:xfrm>
            <a:off x="9324594" y="1965960"/>
            <a:ext cx="2132838" cy="274320"/>
          </a:xfrm>
          <a:prstGeom prst="rect">
            <a:avLst/>
          </a:prstGeom>
          <a:noFill/>
          <a:ln/>
        </p:spPr>
        <p:txBody>
          <a:bodyPr wrap="square" lIns="0" tIns="0" rIns="0" bIns="0" rtlCol="0" anchor="t"/>
          <a:lstStyle/>
          <a:p>
            <a:pPr indent="0" marL="0">
              <a:buNone/>
            </a:pPr>
            <a:r>
              <a:rPr lang="en-US" sz="1000" b="1" spc="100" kern="0" dirty="0">
                <a:solidFill>
                  <a:schemeClr val="accent6"/>
                </a:solidFill>
              </a:rPr>
              <a:t>THIRD-PARTY REVIEWS</a:t>
            </a:r>
            <a:endParaRPr lang="en-US" sz="1000" dirty="0"/>
          </a:p>
        </p:txBody>
      </p:sp>
      <p:sp>
        <p:nvSpPr>
          <p:cNvPr id="19" name="Text 17"/>
          <p:cNvSpPr txBox="1"/>
          <p:nvPr/>
        </p:nvSpPr>
        <p:spPr>
          <a:xfrm>
            <a:off x="9324594" y="2286000"/>
            <a:ext cx="2132838" cy="777240"/>
          </a:xfrm>
          <a:prstGeom prst="rect">
            <a:avLst/>
          </a:prstGeom>
          <a:noFill/>
          <a:ln/>
        </p:spPr>
        <p:txBody>
          <a:bodyPr wrap="square" lIns="0" tIns="0" rIns="0" bIns="0" rtlCol="0" anchor="ctr"/>
          <a:lstStyle/>
          <a:p>
            <a:pPr indent="0" marL="0">
              <a:buNone/>
            </a:pPr>
            <a:r>
              <a:rPr lang="en-US" sz="4000" b="1" dirty="0">
                <a:solidFill>
                  <a:srgbClr val="D6304A"/>
                </a:solidFill>
                <a:latin typeface="Century Schoolbook" pitchFamily="34" charset="0"/>
                <a:ea typeface="Century Schoolbook" pitchFamily="34" charset="-122"/>
                <a:cs typeface="Century Schoolbook" pitchFamily="34" charset="-120"/>
              </a:rPr>
              <a:t>0</a:t>
            </a:r>
            <a:endParaRPr lang="en-US" sz="4000" dirty="0"/>
          </a:p>
        </p:txBody>
      </p:sp>
      <p:sp>
        <p:nvSpPr>
          <p:cNvPr id="20" name="Text 18"/>
          <p:cNvSpPr txBox="1"/>
          <p:nvPr/>
        </p:nvSpPr>
        <p:spPr>
          <a:xfrm>
            <a:off x="9324594" y="3154680"/>
            <a:ext cx="2132838" cy="365760"/>
          </a:xfrm>
          <a:prstGeom prst="rect">
            <a:avLst/>
          </a:prstGeom>
          <a:noFill/>
          <a:ln/>
        </p:spPr>
        <p:txBody>
          <a:bodyPr wrap="square" lIns="0" tIns="0" rIns="0" bIns="0" rtlCol="0" anchor="t"/>
          <a:lstStyle/>
          <a:p>
            <a:pPr indent="0" marL="0">
              <a:buNone/>
            </a:pPr>
            <a:r>
              <a:rPr lang="en-US" sz="1150" dirty="0">
                <a:solidFill>
                  <a:schemeClr val="accent6"/>
                </a:solidFill>
              </a:rPr>
              <a:t>no G2, Capterra or Product Hunt</a:t>
            </a:r>
            <a:endParaRPr lang="en-US" sz="1150" dirty="0"/>
          </a:p>
        </p:txBody>
      </p:sp>
      <p:sp>
        <p:nvSpPr>
          <p:cNvPr id="21" name="Stat card"/>
          <p:cNvSpPr/>
          <p:nvPr/>
        </p:nvSpPr>
        <p:spPr>
          <a:xfrm>
            <a:off x="502920" y="3977640"/>
            <a:ext cx="2590038" cy="1965960"/>
          </a:xfrm>
          <a:prstGeom prst="roundRect">
            <a:avLst>
              <a:gd name="adj" fmla="val 3721"/>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2" name="Text 20"/>
          <p:cNvSpPr txBox="1"/>
          <p:nvPr/>
        </p:nvSpPr>
        <p:spPr>
          <a:xfrm>
            <a:off x="731520" y="4206240"/>
            <a:ext cx="2132838" cy="274320"/>
          </a:xfrm>
          <a:prstGeom prst="rect">
            <a:avLst/>
          </a:prstGeom>
          <a:noFill/>
          <a:ln/>
        </p:spPr>
        <p:txBody>
          <a:bodyPr wrap="square" lIns="0" tIns="0" rIns="0" bIns="0" rtlCol="0" anchor="t"/>
          <a:lstStyle/>
          <a:p>
            <a:pPr indent="0" marL="0">
              <a:buNone/>
            </a:pPr>
            <a:r>
              <a:rPr lang="en-US" sz="1000" b="1" spc="100" kern="0" dirty="0">
                <a:solidFill>
                  <a:schemeClr val="accent6"/>
                </a:solidFill>
              </a:rPr>
              <a:t>MOBILE PERFORMANCE</a:t>
            </a:r>
            <a:endParaRPr lang="en-US" sz="1000" dirty="0"/>
          </a:p>
        </p:txBody>
      </p:sp>
      <p:sp>
        <p:nvSpPr>
          <p:cNvPr id="23" name="Text 21"/>
          <p:cNvSpPr txBox="1"/>
          <p:nvPr/>
        </p:nvSpPr>
        <p:spPr>
          <a:xfrm>
            <a:off x="731520" y="4526280"/>
            <a:ext cx="2132838" cy="777240"/>
          </a:xfrm>
          <a:prstGeom prst="rect">
            <a:avLst/>
          </a:prstGeom>
          <a:noFill/>
          <a:ln/>
        </p:spPr>
        <p:txBody>
          <a:bodyPr wrap="square" lIns="0" tIns="0" rIns="0" bIns="0" rtlCol="0" anchor="ctr"/>
          <a:lstStyle/>
          <a:p>
            <a:pPr indent="0" marL="0">
              <a:buNone/>
            </a:pPr>
            <a:r>
              <a:rPr lang="en-US" sz="4000" b="1" dirty="0">
                <a:solidFill>
                  <a:srgbClr val="DE8C1B"/>
                </a:solidFill>
                <a:latin typeface="Century Schoolbook" pitchFamily="34" charset="0"/>
                <a:ea typeface="Century Schoolbook" pitchFamily="34" charset="-122"/>
                <a:cs typeface="Century Schoolbook" pitchFamily="34" charset="-120"/>
              </a:rPr>
              <a:t>80</a:t>
            </a:r>
            <a:endParaRPr lang="en-US" sz="4000" dirty="0"/>
          </a:p>
        </p:txBody>
      </p:sp>
      <p:sp>
        <p:nvSpPr>
          <p:cNvPr id="24" name="Text 22"/>
          <p:cNvSpPr txBox="1"/>
          <p:nvPr/>
        </p:nvSpPr>
        <p:spPr>
          <a:xfrm>
            <a:off x="731520" y="5394960"/>
            <a:ext cx="2132838" cy="365760"/>
          </a:xfrm>
          <a:prstGeom prst="rect">
            <a:avLst/>
          </a:prstGeom>
          <a:noFill/>
          <a:ln/>
        </p:spPr>
        <p:txBody>
          <a:bodyPr wrap="square" lIns="0" tIns="0" rIns="0" bIns="0" rtlCol="0" anchor="t"/>
          <a:lstStyle/>
          <a:p>
            <a:pPr indent="0" marL="0">
              <a:buNone/>
            </a:pPr>
            <a:r>
              <a:rPr lang="en-US" sz="1150" dirty="0">
                <a:solidFill>
                  <a:schemeClr val="accent6"/>
                </a:solidFill>
              </a:rPr>
              <a:t>PageSpeed, room to lift</a:t>
            </a:r>
            <a:endParaRPr lang="en-US" sz="1150" dirty="0"/>
          </a:p>
        </p:txBody>
      </p:sp>
      <p:sp>
        <p:nvSpPr>
          <p:cNvPr id="25" name="Stat card"/>
          <p:cNvSpPr/>
          <p:nvPr/>
        </p:nvSpPr>
        <p:spPr>
          <a:xfrm>
            <a:off x="3367278" y="3977640"/>
            <a:ext cx="2590038" cy="1965960"/>
          </a:xfrm>
          <a:prstGeom prst="roundRect">
            <a:avLst>
              <a:gd name="adj" fmla="val 3721"/>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6" name="Text 24"/>
          <p:cNvSpPr txBox="1"/>
          <p:nvPr/>
        </p:nvSpPr>
        <p:spPr>
          <a:xfrm>
            <a:off x="3595878" y="4206240"/>
            <a:ext cx="2132838" cy="274320"/>
          </a:xfrm>
          <a:prstGeom prst="rect">
            <a:avLst/>
          </a:prstGeom>
          <a:noFill/>
          <a:ln/>
        </p:spPr>
        <p:txBody>
          <a:bodyPr wrap="square" lIns="0" tIns="0" rIns="0" bIns="0" rtlCol="0" anchor="t"/>
          <a:lstStyle/>
          <a:p>
            <a:pPr indent="0" marL="0">
              <a:buNone/>
            </a:pPr>
            <a:r>
              <a:rPr lang="en-US" sz="1000" b="1" spc="100" kern="0" dirty="0">
                <a:solidFill>
                  <a:schemeClr val="accent6"/>
                </a:solidFill>
              </a:rPr>
              <a:t>DESKTOP PERFORMANCE</a:t>
            </a:r>
            <a:endParaRPr lang="en-US" sz="1000" dirty="0"/>
          </a:p>
        </p:txBody>
      </p:sp>
      <p:sp>
        <p:nvSpPr>
          <p:cNvPr id="27" name="Text 25"/>
          <p:cNvSpPr txBox="1"/>
          <p:nvPr/>
        </p:nvSpPr>
        <p:spPr>
          <a:xfrm>
            <a:off x="3595878" y="4526280"/>
            <a:ext cx="2132838" cy="777240"/>
          </a:xfrm>
          <a:prstGeom prst="rect">
            <a:avLst/>
          </a:prstGeom>
          <a:noFill/>
          <a:ln/>
        </p:spPr>
        <p:txBody>
          <a:bodyPr wrap="square" lIns="0" tIns="0" rIns="0" bIns="0" rtlCol="0" anchor="ctr"/>
          <a:lstStyle/>
          <a:p>
            <a:pPr indent="0" marL="0">
              <a:buNone/>
            </a:pPr>
            <a:r>
              <a:rPr lang="en-US" sz="4000" b="1" dirty="0">
                <a:solidFill>
                  <a:srgbClr val="179C6E"/>
                </a:solidFill>
                <a:latin typeface="Century Schoolbook" pitchFamily="34" charset="0"/>
                <a:ea typeface="Century Schoolbook" pitchFamily="34" charset="-122"/>
                <a:cs typeface="Century Schoolbook" pitchFamily="34" charset="-120"/>
              </a:rPr>
              <a:t>96</a:t>
            </a:r>
            <a:endParaRPr lang="en-US" sz="4000" dirty="0"/>
          </a:p>
        </p:txBody>
      </p:sp>
      <p:sp>
        <p:nvSpPr>
          <p:cNvPr id="28" name="Text 26"/>
          <p:cNvSpPr txBox="1"/>
          <p:nvPr/>
        </p:nvSpPr>
        <p:spPr>
          <a:xfrm>
            <a:off x="3595878" y="5394960"/>
            <a:ext cx="2132838" cy="365760"/>
          </a:xfrm>
          <a:prstGeom prst="rect">
            <a:avLst/>
          </a:prstGeom>
          <a:noFill/>
          <a:ln/>
        </p:spPr>
        <p:txBody>
          <a:bodyPr wrap="square" lIns="0" tIns="0" rIns="0" bIns="0" rtlCol="0" anchor="t"/>
          <a:lstStyle/>
          <a:p>
            <a:pPr indent="0" marL="0">
              <a:buNone/>
            </a:pPr>
            <a:r>
              <a:rPr lang="en-US" sz="1150" dirty="0">
                <a:solidFill>
                  <a:schemeClr val="accent6"/>
                </a:solidFill>
              </a:rPr>
              <a:t>PageSpeed, strong</a:t>
            </a:r>
            <a:endParaRPr lang="en-US" sz="1150" dirty="0"/>
          </a:p>
        </p:txBody>
      </p:sp>
      <p:sp>
        <p:nvSpPr>
          <p:cNvPr id="29" name="Stat card"/>
          <p:cNvSpPr/>
          <p:nvPr/>
        </p:nvSpPr>
        <p:spPr>
          <a:xfrm>
            <a:off x="6231636" y="3977640"/>
            <a:ext cx="2590038" cy="1965960"/>
          </a:xfrm>
          <a:prstGeom prst="roundRect">
            <a:avLst>
              <a:gd name="adj" fmla="val 3721"/>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30" name="Text 28"/>
          <p:cNvSpPr txBox="1"/>
          <p:nvPr/>
        </p:nvSpPr>
        <p:spPr>
          <a:xfrm>
            <a:off x="6460236" y="4206240"/>
            <a:ext cx="2132838" cy="274320"/>
          </a:xfrm>
          <a:prstGeom prst="rect">
            <a:avLst/>
          </a:prstGeom>
          <a:noFill/>
          <a:ln/>
        </p:spPr>
        <p:txBody>
          <a:bodyPr wrap="square" lIns="0" tIns="0" rIns="0" bIns="0" rtlCol="0" anchor="t"/>
          <a:lstStyle/>
          <a:p>
            <a:pPr indent="0" marL="0">
              <a:buNone/>
            </a:pPr>
            <a:r>
              <a:rPr lang="en-US" sz="1000" b="1" spc="100" kern="0" dirty="0">
                <a:solidFill>
                  <a:schemeClr val="accent6"/>
                </a:solidFill>
              </a:rPr>
              <a:t>SEO SCORE</a:t>
            </a:r>
            <a:endParaRPr lang="en-US" sz="1000" dirty="0"/>
          </a:p>
        </p:txBody>
      </p:sp>
      <p:sp>
        <p:nvSpPr>
          <p:cNvPr id="31" name="Text 29"/>
          <p:cNvSpPr txBox="1"/>
          <p:nvPr/>
        </p:nvSpPr>
        <p:spPr>
          <a:xfrm>
            <a:off x="6460236" y="4526280"/>
            <a:ext cx="2132838" cy="777240"/>
          </a:xfrm>
          <a:prstGeom prst="rect">
            <a:avLst/>
          </a:prstGeom>
          <a:noFill/>
          <a:ln/>
        </p:spPr>
        <p:txBody>
          <a:bodyPr wrap="square" lIns="0" tIns="0" rIns="0" bIns="0" rtlCol="0" anchor="ctr"/>
          <a:lstStyle/>
          <a:p>
            <a:pPr indent="0" marL="0">
              <a:buNone/>
            </a:pPr>
            <a:r>
              <a:rPr lang="en-US" sz="4000" b="1" dirty="0">
                <a:solidFill>
                  <a:srgbClr val="179C6E"/>
                </a:solidFill>
                <a:latin typeface="Century Schoolbook" pitchFamily="34" charset="0"/>
                <a:ea typeface="Century Schoolbook" pitchFamily="34" charset="-122"/>
                <a:cs typeface="Century Schoolbook" pitchFamily="34" charset="-120"/>
              </a:rPr>
              <a:t>100</a:t>
            </a:r>
            <a:endParaRPr lang="en-US" sz="4000" dirty="0"/>
          </a:p>
        </p:txBody>
      </p:sp>
      <p:sp>
        <p:nvSpPr>
          <p:cNvPr id="32" name="Text 30"/>
          <p:cNvSpPr txBox="1"/>
          <p:nvPr/>
        </p:nvSpPr>
        <p:spPr>
          <a:xfrm>
            <a:off x="6460236" y="5394960"/>
            <a:ext cx="2132838" cy="365760"/>
          </a:xfrm>
          <a:prstGeom prst="rect">
            <a:avLst/>
          </a:prstGeom>
          <a:noFill/>
          <a:ln/>
        </p:spPr>
        <p:txBody>
          <a:bodyPr wrap="square" lIns="0" tIns="0" rIns="0" bIns="0" rtlCol="0" anchor="t"/>
          <a:lstStyle/>
          <a:p>
            <a:pPr indent="0" marL="0">
              <a:buNone/>
            </a:pPr>
            <a:r>
              <a:rPr lang="en-US" sz="1150" dirty="0">
                <a:solidFill>
                  <a:schemeClr val="accent6"/>
                </a:solidFill>
              </a:rPr>
              <a:t>mobile and desktop</a:t>
            </a:r>
            <a:endParaRPr lang="en-US" sz="1150" dirty="0"/>
          </a:p>
        </p:txBody>
      </p:sp>
      <p:sp>
        <p:nvSpPr>
          <p:cNvPr id="33" name="Stat card"/>
          <p:cNvSpPr/>
          <p:nvPr/>
        </p:nvSpPr>
        <p:spPr>
          <a:xfrm>
            <a:off x="9095994" y="3977640"/>
            <a:ext cx="2590038" cy="1965960"/>
          </a:xfrm>
          <a:prstGeom prst="roundRect">
            <a:avLst>
              <a:gd name="adj" fmla="val 3721"/>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34" name="Text 32"/>
          <p:cNvSpPr txBox="1"/>
          <p:nvPr/>
        </p:nvSpPr>
        <p:spPr>
          <a:xfrm>
            <a:off x="9324594" y="4206240"/>
            <a:ext cx="2132838" cy="274320"/>
          </a:xfrm>
          <a:prstGeom prst="rect">
            <a:avLst/>
          </a:prstGeom>
          <a:noFill/>
          <a:ln/>
        </p:spPr>
        <p:txBody>
          <a:bodyPr wrap="square" lIns="0" tIns="0" rIns="0" bIns="0" rtlCol="0" anchor="t"/>
          <a:lstStyle/>
          <a:p>
            <a:pPr indent="0" marL="0">
              <a:buNone/>
            </a:pPr>
            <a:r>
              <a:rPr lang="en-US" sz="1000" b="1" spc="100" kern="0" dirty="0">
                <a:solidFill>
                  <a:schemeClr val="accent6"/>
                </a:solidFill>
              </a:rPr>
              <a:t>AGENTIC BROWSING</a:t>
            </a:r>
            <a:endParaRPr lang="en-US" sz="1000" dirty="0"/>
          </a:p>
        </p:txBody>
      </p:sp>
      <p:sp>
        <p:nvSpPr>
          <p:cNvPr id="35" name="Text 33"/>
          <p:cNvSpPr txBox="1"/>
          <p:nvPr/>
        </p:nvSpPr>
        <p:spPr>
          <a:xfrm>
            <a:off x="9324594" y="4526280"/>
            <a:ext cx="2132838" cy="777240"/>
          </a:xfrm>
          <a:prstGeom prst="rect">
            <a:avLst/>
          </a:prstGeom>
          <a:noFill/>
          <a:ln/>
        </p:spPr>
        <p:txBody>
          <a:bodyPr wrap="square" lIns="0" tIns="0" rIns="0" bIns="0" rtlCol="0" anchor="ctr"/>
          <a:lstStyle/>
          <a:p>
            <a:pPr indent="0" marL="0">
              <a:buNone/>
            </a:pPr>
            <a:r>
              <a:rPr lang="en-US" sz="4000" b="1" dirty="0">
                <a:solidFill>
                  <a:srgbClr val="179C6E"/>
                </a:solidFill>
                <a:latin typeface="Century Schoolbook" pitchFamily="34" charset="0"/>
                <a:ea typeface="Century Schoolbook" pitchFamily="34" charset="-122"/>
                <a:cs typeface="Century Schoolbook" pitchFamily="34" charset="-120"/>
              </a:rPr>
              <a:t>3/3</a:t>
            </a:r>
            <a:endParaRPr lang="en-US" sz="4000" dirty="0"/>
          </a:p>
        </p:txBody>
      </p:sp>
      <p:sp>
        <p:nvSpPr>
          <p:cNvPr id="36" name="Text 34"/>
          <p:cNvSpPr txBox="1"/>
          <p:nvPr/>
        </p:nvSpPr>
        <p:spPr>
          <a:xfrm>
            <a:off x="9324594" y="5394960"/>
            <a:ext cx="2132838" cy="365760"/>
          </a:xfrm>
          <a:prstGeom prst="rect">
            <a:avLst/>
          </a:prstGeom>
          <a:noFill/>
          <a:ln/>
        </p:spPr>
        <p:txBody>
          <a:bodyPr wrap="square" lIns="0" tIns="0" rIns="0" bIns="0" rtlCol="0" anchor="t"/>
          <a:lstStyle/>
          <a:p>
            <a:pPr indent="0" marL="0">
              <a:buNone/>
            </a:pPr>
            <a:r>
              <a:rPr lang="en-US" sz="1150" dirty="0">
                <a:solidFill>
                  <a:schemeClr val="accent6"/>
                </a:solidFill>
              </a:rPr>
              <a:t>AI crawlers can read it</a:t>
            </a:r>
            <a:endParaRPr lang="en-US" sz="115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THE PROBLEM IN PLAIN WORDS  ·  SEARCH ENGINES</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Why Google is not sending buyers to Taskive</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None of this is a build problem. It is a signals problem, and signals can be built.</a:t>
            </a:r>
            <a:endParaRPr lang="en-US" sz="1250" dirty="0"/>
          </a:p>
        </p:txBody>
      </p:sp>
      <p:sp>
        <p:nvSpPr>
          <p:cNvPr id="5" name="Issue card"/>
          <p:cNvSpPr/>
          <p:nvPr/>
        </p:nvSpPr>
        <p:spPr>
          <a:xfrm>
            <a:off x="502920" y="1645920"/>
            <a:ext cx="5454396" cy="2057400"/>
          </a:xfrm>
          <a:prstGeom prst="roundRect">
            <a:avLst>
              <a:gd name="adj" fmla="val 3556"/>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6" name="Severity tag"/>
          <p:cNvSpPr txBox="1"/>
          <p:nvPr/>
        </p:nvSpPr>
        <p:spPr>
          <a:xfrm>
            <a:off x="777240" y="1874520"/>
            <a:ext cx="1143000" cy="274320"/>
          </a:xfrm>
          <a:prstGeom prst="rect">
            <a:avLst/>
          </a:prstGeom>
          <a:solidFill>
            <a:srgbClr val="FCEAEE"/>
          </a:solidFill>
          <a:ln/>
        </p:spPr>
        <p:txBody>
          <a:bodyPr wrap="square" lIns="0" tIns="0" rIns="0" bIns="0" rtlCol="0" anchor="ctr"/>
          <a:lstStyle/>
          <a:p>
            <a:pPr algn="ctr" indent="0" marL="0">
              <a:buNone/>
            </a:pPr>
            <a:r>
              <a:rPr lang="en-US" sz="950" b="1" spc="150" kern="0" dirty="0">
                <a:solidFill>
                  <a:srgbClr val="D6304A"/>
                </a:solidFill>
              </a:rPr>
              <a:t>CRITICAL</a:t>
            </a:r>
            <a:endParaRPr lang="en-US" sz="950" dirty="0"/>
          </a:p>
        </p:txBody>
      </p:sp>
      <p:sp>
        <p:nvSpPr>
          <p:cNvPr id="7" name="Icon circle"/>
          <p:cNvSpPr/>
          <p:nvPr/>
        </p:nvSpPr>
        <p:spPr>
          <a:xfrm>
            <a:off x="5180076" y="1847088"/>
            <a:ext cx="502920" cy="502920"/>
          </a:xfrm>
          <a:prstGeom prst="ellipse">
            <a:avLst/>
          </a:prstGeom>
          <a:solidFill>
            <a:srgbClr val="D6304A"/>
          </a:solidFill>
          <a:ln w="12700">
            <a:solidFill>
              <a:srgbClr val="D6304A"/>
            </a:solidFill>
            <a:prstDash val="solid"/>
          </a:ln>
        </p:spPr>
      </p:sp>
      <p:pic>
        <p:nvPicPr>
          <p:cNvPr id="8" name="Icon" descr="preencoded.png">    </p:cNvPr>
          <p:cNvPicPr>
            <a:picLocks noChangeAspect="1"/>
          </p:cNvPicPr>
          <p:nvPr/>
        </p:nvPicPr>
        <p:blipFill>
          <a:blip r:embed="rId1"/>
          <a:stretch>
            <a:fillRect/>
          </a:stretch>
        </p:blipFill>
        <p:spPr>
          <a:xfrm>
            <a:off x="5310835" y="1977847"/>
            <a:ext cx="241402" cy="241402"/>
          </a:xfrm>
          <a:prstGeom prst="rect">
            <a:avLst/>
          </a:prstGeom>
        </p:spPr>
      </p:pic>
      <p:sp>
        <p:nvSpPr>
          <p:cNvPr id="9" name="Text 6"/>
          <p:cNvSpPr txBox="1"/>
          <p:nvPr/>
        </p:nvSpPr>
        <p:spPr>
          <a:xfrm>
            <a:off x="777240" y="2240280"/>
            <a:ext cx="4265676" cy="384048"/>
          </a:xfrm>
          <a:prstGeom prst="rect">
            <a:avLst/>
          </a:prstGeom>
          <a:noFill/>
          <a:ln/>
        </p:spPr>
        <p:txBody>
          <a:bodyPr wrap="square" lIns="0" tIns="0" rIns="0" bIns="0" rtlCol="0" anchor="t"/>
          <a:lstStyle/>
          <a:p>
            <a:pPr indent="0" marL="0">
              <a:buNone/>
            </a:pPr>
            <a:r>
              <a:rPr lang="en-US" sz="1700" b="1" dirty="0">
                <a:solidFill>
                  <a:schemeClr val="tx1"/>
                </a:solidFill>
              </a:rPr>
              <a:t>Google mixes Taskive up with other brands</a:t>
            </a:r>
            <a:endParaRPr lang="en-US" sz="1700" dirty="0"/>
          </a:p>
        </p:txBody>
      </p:sp>
      <p:sp>
        <p:nvSpPr>
          <p:cNvPr id="10" name="Text 7"/>
          <p:cNvSpPr txBox="1"/>
          <p:nvPr/>
        </p:nvSpPr>
        <p:spPr>
          <a:xfrm>
            <a:off x="777240" y="2633472"/>
            <a:ext cx="4905756" cy="603504"/>
          </a:xfrm>
          <a:prstGeom prst="rect">
            <a:avLst/>
          </a:prstGeom>
          <a:noFill/>
          <a:ln/>
        </p:spPr>
        <p:txBody>
          <a:bodyPr wrap="square" lIns="0" tIns="0" rIns="0" bIns="0" rtlCol="0" anchor="t"/>
          <a:lstStyle/>
          <a:p>
            <a:pPr indent="0" marL="0">
              <a:buNone/>
            </a:pPr>
            <a:r>
              <a:rPr lang="en-US" sz="1250" dirty="0">
                <a:solidFill>
                  <a:schemeClr val="accent6"/>
                </a:solidFill>
              </a:rPr>
              <a:t>Search “Taskive” and Taskade, TaskAI and Tasker AI appear beside you. Google has too few signals that Taskive is its own brand.</a:t>
            </a:r>
            <a:endParaRPr lang="en-US" sz="1250" dirty="0"/>
          </a:p>
        </p:txBody>
      </p:sp>
      <p:sp>
        <p:nvSpPr>
          <p:cNvPr id="11" name="Text 8"/>
          <p:cNvSpPr txBox="1"/>
          <p:nvPr/>
        </p:nvSpPr>
        <p:spPr>
          <a:xfrm>
            <a:off x="777240" y="3273552"/>
            <a:ext cx="4905756" cy="274320"/>
          </a:xfrm>
          <a:prstGeom prst="rect">
            <a:avLst/>
          </a:prstGeom>
          <a:noFill/>
          <a:ln/>
        </p:spPr>
        <p:txBody>
          <a:bodyPr wrap="square" lIns="0" tIns="0" rIns="0" bIns="0" rtlCol="0" anchor="t"/>
          <a:lstStyle/>
          <a:p>
            <a:pPr indent="0" marL="0">
              <a:buNone/>
            </a:pPr>
            <a:r>
              <a:rPr lang="en-US" sz="1250" b="1" dirty="0">
                <a:solidFill>
                  <a:schemeClr val="accent2"/>
                </a:solidFill>
              </a:rPr>
              <a:t>Cost: people looking for you can land on a competitor.</a:t>
            </a:r>
            <a:endParaRPr lang="en-US" sz="1250" dirty="0"/>
          </a:p>
        </p:txBody>
      </p:sp>
      <p:sp>
        <p:nvSpPr>
          <p:cNvPr id="12" name="Issue card"/>
          <p:cNvSpPr/>
          <p:nvPr/>
        </p:nvSpPr>
        <p:spPr>
          <a:xfrm>
            <a:off x="6231636" y="1645920"/>
            <a:ext cx="5454396" cy="2057400"/>
          </a:xfrm>
          <a:prstGeom prst="roundRect">
            <a:avLst>
              <a:gd name="adj" fmla="val 3556"/>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3" name="Severity tag"/>
          <p:cNvSpPr txBox="1"/>
          <p:nvPr/>
        </p:nvSpPr>
        <p:spPr>
          <a:xfrm>
            <a:off x="6505956" y="1874520"/>
            <a:ext cx="1143000" cy="274320"/>
          </a:xfrm>
          <a:prstGeom prst="rect">
            <a:avLst/>
          </a:prstGeom>
          <a:solidFill>
            <a:srgbClr val="FCEAEE"/>
          </a:solidFill>
          <a:ln/>
        </p:spPr>
        <p:txBody>
          <a:bodyPr wrap="square" lIns="0" tIns="0" rIns="0" bIns="0" rtlCol="0" anchor="ctr"/>
          <a:lstStyle/>
          <a:p>
            <a:pPr algn="ctr" indent="0" marL="0">
              <a:buNone/>
            </a:pPr>
            <a:r>
              <a:rPr lang="en-US" sz="950" b="1" spc="150" kern="0" dirty="0">
                <a:solidFill>
                  <a:srgbClr val="D6304A"/>
                </a:solidFill>
              </a:rPr>
              <a:t>CRITICAL</a:t>
            </a:r>
            <a:endParaRPr lang="en-US" sz="950" dirty="0"/>
          </a:p>
        </p:txBody>
      </p:sp>
      <p:sp>
        <p:nvSpPr>
          <p:cNvPr id="14" name="Icon circle"/>
          <p:cNvSpPr/>
          <p:nvPr/>
        </p:nvSpPr>
        <p:spPr>
          <a:xfrm>
            <a:off x="10908792" y="1847088"/>
            <a:ext cx="502920" cy="502920"/>
          </a:xfrm>
          <a:prstGeom prst="ellipse">
            <a:avLst/>
          </a:prstGeom>
          <a:solidFill>
            <a:srgbClr val="D6304A"/>
          </a:solidFill>
          <a:ln w="12700">
            <a:solidFill>
              <a:srgbClr val="D6304A"/>
            </a:solidFill>
            <a:prstDash val="solid"/>
          </a:ln>
        </p:spPr>
      </p:sp>
      <p:pic>
        <p:nvPicPr>
          <p:cNvPr id="15" name="Icon" descr="preencoded.png">    </p:cNvPr>
          <p:cNvPicPr>
            <a:picLocks noChangeAspect="1"/>
          </p:cNvPicPr>
          <p:nvPr/>
        </p:nvPicPr>
        <p:blipFill>
          <a:blip r:embed="rId2"/>
          <a:stretch>
            <a:fillRect/>
          </a:stretch>
        </p:blipFill>
        <p:spPr>
          <a:xfrm>
            <a:off x="11039551" y="1977847"/>
            <a:ext cx="241402" cy="241402"/>
          </a:xfrm>
          <a:prstGeom prst="rect">
            <a:avLst/>
          </a:prstGeom>
        </p:spPr>
      </p:pic>
      <p:sp>
        <p:nvSpPr>
          <p:cNvPr id="16" name="Text 12"/>
          <p:cNvSpPr txBox="1"/>
          <p:nvPr/>
        </p:nvSpPr>
        <p:spPr>
          <a:xfrm>
            <a:off x="6505956" y="2240280"/>
            <a:ext cx="4265676" cy="384048"/>
          </a:xfrm>
          <a:prstGeom prst="rect">
            <a:avLst/>
          </a:prstGeom>
          <a:noFill/>
          <a:ln/>
        </p:spPr>
        <p:txBody>
          <a:bodyPr wrap="square" lIns="0" tIns="0" rIns="0" bIns="0" rtlCol="0" anchor="t"/>
          <a:lstStyle/>
          <a:p>
            <a:pPr indent="0" marL="0">
              <a:buNone/>
            </a:pPr>
            <a:r>
              <a:rPr lang="en-US" sz="1700" b="1" dirty="0">
                <a:solidFill>
                  <a:schemeClr val="tx1"/>
                </a:solidFill>
              </a:rPr>
              <a:t>27 of 28 pages bring in nobody</a:t>
            </a:r>
            <a:endParaRPr lang="en-US" sz="1700" dirty="0"/>
          </a:p>
        </p:txBody>
      </p:sp>
      <p:sp>
        <p:nvSpPr>
          <p:cNvPr id="17" name="Text 13"/>
          <p:cNvSpPr txBox="1"/>
          <p:nvPr/>
        </p:nvSpPr>
        <p:spPr>
          <a:xfrm>
            <a:off x="6505956" y="2633472"/>
            <a:ext cx="4905756" cy="603504"/>
          </a:xfrm>
          <a:prstGeom prst="rect">
            <a:avLst/>
          </a:prstGeom>
          <a:noFill/>
          <a:ln/>
        </p:spPr>
        <p:txBody>
          <a:bodyPr wrap="square" lIns="0" tIns="0" rIns="0" bIns="0" rtlCol="0" anchor="t"/>
          <a:lstStyle/>
          <a:p>
            <a:pPr indent="0" marL="0">
              <a:buNone/>
            </a:pPr>
            <a:r>
              <a:rPr lang="en-US" sz="1250" dirty="0">
                <a:solidFill>
                  <a:schemeClr val="accent6"/>
                </a:solidFill>
              </a:rPr>
              <a:t>28 pages are live, yet only 1 keyword ranks. Nothing tells Google which search each page answers or why it matters.</a:t>
            </a:r>
            <a:endParaRPr lang="en-US" sz="1250" dirty="0"/>
          </a:p>
        </p:txBody>
      </p:sp>
      <p:sp>
        <p:nvSpPr>
          <p:cNvPr id="18" name="Text 14"/>
          <p:cNvSpPr txBox="1"/>
          <p:nvPr/>
        </p:nvSpPr>
        <p:spPr>
          <a:xfrm>
            <a:off x="6505956" y="3273552"/>
            <a:ext cx="4905756" cy="274320"/>
          </a:xfrm>
          <a:prstGeom prst="rect">
            <a:avLst/>
          </a:prstGeom>
          <a:noFill/>
          <a:ln/>
        </p:spPr>
        <p:txBody>
          <a:bodyPr wrap="square" lIns="0" tIns="0" rIns="0" bIns="0" rtlCol="0" anchor="t"/>
          <a:lstStyle/>
          <a:p>
            <a:pPr indent="0" marL="0">
              <a:buNone/>
            </a:pPr>
            <a:r>
              <a:rPr lang="en-US" sz="1250" b="1" dirty="0">
                <a:solidFill>
                  <a:schemeClr val="accent2"/>
                </a:solidFill>
              </a:rPr>
              <a:t>Cost: comparison and feature pages earn zero visitors.</a:t>
            </a:r>
            <a:endParaRPr lang="en-US" sz="1250" dirty="0"/>
          </a:p>
        </p:txBody>
      </p:sp>
      <p:sp>
        <p:nvSpPr>
          <p:cNvPr id="19" name="Issue card"/>
          <p:cNvSpPr/>
          <p:nvPr/>
        </p:nvSpPr>
        <p:spPr>
          <a:xfrm>
            <a:off x="502920" y="3931920"/>
            <a:ext cx="5454396" cy="2057400"/>
          </a:xfrm>
          <a:prstGeom prst="roundRect">
            <a:avLst>
              <a:gd name="adj" fmla="val 3556"/>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0" name="Severity tag"/>
          <p:cNvSpPr txBox="1"/>
          <p:nvPr/>
        </p:nvSpPr>
        <p:spPr>
          <a:xfrm>
            <a:off x="777240" y="4160520"/>
            <a:ext cx="1143000" cy="274320"/>
          </a:xfrm>
          <a:prstGeom prst="rect">
            <a:avLst/>
          </a:prstGeom>
          <a:solidFill>
            <a:srgbClr val="FDF1E0"/>
          </a:solidFill>
          <a:ln/>
        </p:spPr>
        <p:txBody>
          <a:bodyPr wrap="square" lIns="0" tIns="0" rIns="0" bIns="0" rtlCol="0" anchor="ctr"/>
          <a:lstStyle/>
          <a:p>
            <a:pPr algn="ctr" indent="0" marL="0">
              <a:buNone/>
            </a:pPr>
            <a:r>
              <a:rPr lang="en-US" sz="950" b="1" spc="150" kern="0" dirty="0">
                <a:solidFill>
                  <a:srgbClr val="DE8C1B"/>
                </a:solidFill>
              </a:rPr>
              <a:t>HIGH</a:t>
            </a:r>
            <a:endParaRPr lang="en-US" sz="950" dirty="0"/>
          </a:p>
        </p:txBody>
      </p:sp>
      <p:sp>
        <p:nvSpPr>
          <p:cNvPr id="21" name="Icon circle"/>
          <p:cNvSpPr/>
          <p:nvPr/>
        </p:nvSpPr>
        <p:spPr>
          <a:xfrm>
            <a:off x="5180076" y="4133088"/>
            <a:ext cx="502920" cy="502920"/>
          </a:xfrm>
          <a:prstGeom prst="ellipse">
            <a:avLst/>
          </a:prstGeom>
          <a:solidFill>
            <a:srgbClr val="DE8C1B"/>
          </a:solidFill>
          <a:ln w="12700">
            <a:solidFill>
              <a:srgbClr val="DE8C1B"/>
            </a:solidFill>
            <a:prstDash val="solid"/>
          </a:ln>
        </p:spPr>
      </p:sp>
      <p:pic>
        <p:nvPicPr>
          <p:cNvPr id="22" name="Icon" descr="preencoded.png">    </p:cNvPr>
          <p:cNvPicPr>
            <a:picLocks noChangeAspect="1"/>
          </p:cNvPicPr>
          <p:nvPr/>
        </p:nvPicPr>
        <p:blipFill>
          <a:blip r:embed="rId3"/>
          <a:stretch>
            <a:fillRect/>
          </a:stretch>
        </p:blipFill>
        <p:spPr>
          <a:xfrm>
            <a:off x="5310835" y="4263847"/>
            <a:ext cx="241402" cy="241402"/>
          </a:xfrm>
          <a:prstGeom prst="rect">
            <a:avLst/>
          </a:prstGeom>
        </p:spPr>
      </p:pic>
      <p:sp>
        <p:nvSpPr>
          <p:cNvPr id="23" name="Text 18"/>
          <p:cNvSpPr txBox="1"/>
          <p:nvPr/>
        </p:nvSpPr>
        <p:spPr>
          <a:xfrm>
            <a:off x="777240" y="4526280"/>
            <a:ext cx="4265676" cy="384048"/>
          </a:xfrm>
          <a:prstGeom prst="rect">
            <a:avLst/>
          </a:prstGeom>
          <a:noFill/>
          <a:ln/>
        </p:spPr>
        <p:txBody>
          <a:bodyPr wrap="square" lIns="0" tIns="0" rIns="0" bIns="0" rtlCol="0" anchor="t"/>
          <a:lstStyle/>
          <a:p>
            <a:pPr indent="0" marL="0">
              <a:buNone/>
            </a:pPr>
            <a:r>
              <a:rPr lang="en-US" sz="1700" b="1" dirty="0">
                <a:solidFill>
                  <a:schemeClr val="tx1"/>
                </a:solidFill>
              </a:rPr>
              <a:t>Your best selling points are cut off</a:t>
            </a:r>
            <a:endParaRPr lang="en-US" sz="1700" dirty="0"/>
          </a:p>
        </p:txBody>
      </p:sp>
      <p:sp>
        <p:nvSpPr>
          <p:cNvPr id="24" name="Text 19"/>
          <p:cNvSpPr txBox="1"/>
          <p:nvPr/>
        </p:nvSpPr>
        <p:spPr>
          <a:xfrm>
            <a:off x="777240" y="4919472"/>
            <a:ext cx="4905756" cy="603504"/>
          </a:xfrm>
          <a:prstGeom prst="rect">
            <a:avLst/>
          </a:prstGeom>
          <a:noFill/>
          <a:ln/>
        </p:spPr>
        <p:txBody>
          <a:bodyPr wrap="square" lIns="0" tIns="0" rIns="0" bIns="0" rtlCol="0" anchor="t"/>
          <a:lstStyle/>
          <a:p>
            <a:pPr indent="0" marL="0">
              <a:buNone/>
            </a:pPr>
            <a:r>
              <a:rPr lang="en-US" sz="1250" dirty="0">
                <a:solidFill>
                  <a:schemeClr val="accent6"/>
                </a:solidFill>
              </a:rPr>
              <a:t>Google shows about 155 of the description’s 269 characters. “MCP”, “Claude, Cursor, Codex” and “Jira alternative” sit in the hidden part.</a:t>
            </a:r>
            <a:endParaRPr lang="en-US" sz="1250" dirty="0"/>
          </a:p>
        </p:txBody>
      </p:sp>
      <p:sp>
        <p:nvSpPr>
          <p:cNvPr id="25" name="Text 20"/>
          <p:cNvSpPr txBox="1"/>
          <p:nvPr/>
        </p:nvSpPr>
        <p:spPr>
          <a:xfrm>
            <a:off x="777240" y="5559552"/>
            <a:ext cx="4905756" cy="274320"/>
          </a:xfrm>
          <a:prstGeom prst="rect">
            <a:avLst/>
          </a:prstGeom>
          <a:noFill/>
          <a:ln/>
        </p:spPr>
        <p:txBody>
          <a:bodyPr wrap="square" lIns="0" tIns="0" rIns="0" bIns="0" rtlCol="0" anchor="t"/>
          <a:lstStyle/>
          <a:p>
            <a:pPr indent="0" marL="0">
              <a:buNone/>
            </a:pPr>
            <a:r>
              <a:rPr lang="en-US" sz="1250" b="1" dirty="0">
                <a:solidFill>
                  <a:schemeClr val="accent2"/>
                </a:solidFill>
              </a:rPr>
              <a:t>Cost: the reasons to click never reach the searcher.</a:t>
            </a:r>
            <a:endParaRPr lang="en-US" sz="1250" dirty="0"/>
          </a:p>
        </p:txBody>
      </p:sp>
      <p:sp>
        <p:nvSpPr>
          <p:cNvPr id="26" name="Issue card"/>
          <p:cNvSpPr/>
          <p:nvPr/>
        </p:nvSpPr>
        <p:spPr>
          <a:xfrm>
            <a:off x="6231636" y="3931920"/>
            <a:ext cx="5454396" cy="2057400"/>
          </a:xfrm>
          <a:prstGeom prst="roundRect">
            <a:avLst>
              <a:gd name="adj" fmla="val 3556"/>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7" name="Severity tag"/>
          <p:cNvSpPr txBox="1"/>
          <p:nvPr/>
        </p:nvSpPr>
        <p:spPr>
          <a:xfrm>
            <a:off x="6505956" y="4160520"/>
            <a:ext cx="1143000" cy="274320"/>
          </a:xfrm>
          <a:prstGeom prst="rect">
            <a:avLst/>
          </a:prstGeom>
          <a:solidFill>
            <a:srgbClr val="FCEAEE"/>
          </a:solidFill>
          <a:ln/>
        </p:spPr>
        <p:txBody>
          <a:bodyPr wrap="square" lIns="0" tIns="0" rIns="0" bIns="0" rtlCol="0" anchor="ctr"/>
          <a:lstStyle/>
          <a:p>
            <a:pPr algn="ctr" indent="0" marL="0">
              <a:buNone/>
            </a:pPr>
            <a:r>
              <a:rPr lang="en-US" sz="950" b="1" spc="150" kern="0" dirty="0">
                <a:solidFill>
                  <a:srgbClr val="D6304A"/>
                </a:solidFill>
              </a:rPr>
              <a:t>CRITICAL</a:t>
            </a:r>
            <a:endParaRPr lang="en-US" sz="950" dirty="0"/>
          </a:p>
        </p:txBody>
      </p:sp>
      <p:sp>
        <p:nvSpPr>
          <p:cNvPr id="28" name="Icon circle"/>
          <p:cNvSpPr/>
          <p:nvPr/>
        </p:nvSpPr>
        <p:spPr>
          <a:xfrm>
            <a:off x="10908792" y="4133088"/>
            <a:ext cx="502920" cy="502920"/>
          </a:xfrm>
          <a:prstGeom prst="ellipse">
            <a:avLst/>
          </a:prstGeom>
          <a:solidFill>
            <a:srgbClr val="D6304A"/>
          </a:solidFill>
          <a:ln w="12700">
            <a:solidFill>
              <a:srgbClr val="D6304A"/>
            </a:solidFill>
            <a:prstDash val="solid"/>
          </a:ln>
        </p:spPr>
      </p:sp>
      <p:pic>
        <p:nvPicPr>
          <p:cNvPr id="29" name="Icon" descr="preencoded.png">    </p:cNvPr>
          <p:cNvPicPr>
            <a:picLocks noChangeAspect="1"/>
          </p:cNvPicPr>
          <p:nvPr/>
        </p:nvPicPr>
        <p:blipFill>
          <a:blip r:embed="rId4"/>
          <a:stretch>
            <a:fillRect/>
          </a:stretch>
        </p:blipFill>
        <p:spPr>
          <a:xfrm>
            <a:off x="11039551" y="4263847"/>
            <a:ext cx="241402" cy="241402"/>
          </a:xfrm>
          <a:prstGeom prst="rect">
            <a:avLst/>
          </a:prstGeom>
        </p:spPr>
      </p:pic>
      <p:sp>
        <p:nvSpPr>
          <p:cNvPr id="30" name="Text 24"/>
          <p:cNvSpPr txBox="1"/>
          <p:nvPr/>
        </p:nvSpPr>
        <p:spPr>
          <a:xfrm>
            <a:off x="6505956" y="4526280"/>
            <a:ext cx="4265676" cy="384048"/>
          </a:xfrm>
          <a:prstGeom prst="rect">
            <a:avLst/>
          </a:prstGeom>
          <a:noFill/>
          <a:ln/>
        </p:spPr>
        <p:txBody>
          <a:bodyPr wrap="square" lIns="0" tIns="0" rIns="0" bIns="0" rtlCol="0" anchor="t"/>
          <a:lstStyle/>
          <a:p>
            <a:pPr indent="0" marL="0">
              <a:buNone/>
            </a:pPr>
            <a:r>
              <a:rPr lang="en-US" sz="1700" b="1" dirty="0">
                <a:solidFill>
                  <a:schemeClr val="tx1"/>
                </a:solidFill>
              </a:rPr>
              <a:t>Almost no one vouches for Taskive</a:t>
            </a:r>
            <a:endParaRPr lang="en-US" sz="1700" dirty="0"/>
          </a:p>
        </p:txBody>
      </p:sp>
      <p:sp>
        <p:nvSpPr>
          <p:cNvPr id="31" name="Text 25"/>
          <p:cNvSpPr txBox="1"/>
          <p:nvPr/>
        </p:nvSpPr>
        <p:spPr>
          <a:xfrm>
            <a:off x="6505956" y="4919472"/>
            <a:ext cx="4905756" cy="603504"/>
          </a:xfrm>
          <a:prstGeom prst="rect">
            <a:avLst/>
          </a:prstGeom>
          <a:noFill/>
          <a:ln/>
        </p:spPr>
        <p:txBody>
          <a:bodyPr wrap="square" lIns="0" tIns="0" rIns="0" bIns="0" rtlCol="0" anchor="t"/>
          <a:lstStyle/>
          <a:p>
            <a:pPr indent="0" marL="0">
              <a:buNone/>
            </a:pPr>
            <a:r>
              <a:rPr lang="en-US" sz="1250" dirty="0">
                <a:solidFill>
                  <a:schemeClr val="accent6"/>
                </a:solidFill>
              </a:rPr>
              <a:t>Only 3 websites link to taskive.ai. Google ranks the sites that other trusted sites point to, and Domain Authority is 4 out of 100.</a:t>
            </a:r>
            <a:endParaRPr lang="en-US" sz="1250" dirty="0"/>
          </a:p>
        </p:txBody>
      </p:sp>
      <p:sp>
        <p:nvSpPr>
          <p:cNvPr id="32" name="Text 26"/>
          <p:cNvSpPr txBox="1"/>
          <p:nvPr/>
        </p:nvSpPr>
        <p:spPr>
          <a:xfrm>
            <a:off x="6505956" y="5559552"/>
            <a:ext cx="4905756" cy="274320"/>
          </a:xfrm>
          <a:prstGeom prst="rect">
            <a:avLst/>
          </a:prstGeom>
          <a:noFill/>
          <a:ln/>
        </p:spPr>
        <p:txBody>
          <a:bodyPr wrap="square" lIns="0" tIns="0" rIns="0" bIns="0" rtlCol="0" anchor="t"/>
          <a:lstStyle/>
          <a:p>
            <a:pPr indent="0" marL="0">
              <a:buNone/>
            </a:pPr>
            <a:r>
              <a:rPr lang="en-US" sz="1250" b="1" dirty="0">
                <a:solidFill>
                  <a:schemeClr val="accent2"/>
                </a:solidFill>
              </a:rPr>
              <a:t>Cost: new pages will struggle to rank until this changes.</a:t>
            </a:r>
            <a:endParaRPr lang="en-US" sz="125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THE PROBLEM IN PLAIN WORDS  ·  AI PLATFORMS</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Why AI assistants do not recommend Taskive yet</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Google ranks pages. AI assistants recommend brands. Taskive needs both.</a:t>
            </a:r>
            <a:endParaRPr lang="en-US" sz="1250" dirty="0"/>
          </a:p>
        </p:txBody>
      </p:sp>
      <p:sp>
        <p:nvSpPr>
          <p:cNvPr id="5" name="How AI picks panel"/>
          <p:cNvSpPr/>
          <p:nvPr/>
        </p:nvSpPr>
        <p:spPr>
          <a:xfrm>
            <a:off x="502920" y="1645920"/>
            <a:ext cx="4160520" cy="4343400"/>
          </a:xfrm>
          <a:prstGeom prst="roundRect">
            <a:avLst>
              <a:gd name="adj" fmla="val 1758"/>
            </a:avLst>
          </a:prstGeom>
          <a:solidFill>
            <a:srgbClr val="121212"/>
          </a:solidFill>
          <a:ln w="12700">
            <a:solidFill>
              <a:srgbClr val="121212"/>
            </a:solidFill>
            <a:prstDash val="solid"/>
          </a:ln>
        </p:spPr>
      </p:sp>
      <p:sp>
        <p:nvSpPr>
          <p:cNvPr id="6" name="Text 4"/>
          <p:cNvSpPr txBox="1"/>
          <p:nvPr/>
        </p:nvSpPr>
        <p:spPr>
          <a:xfrm>
            <a:off x="822960" y="1920240"/>
            <a:ext cx="3520440"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HOW AN AI ASSISTANT PICKS A TOOL</a:t>
            </a:r>
            <a:endParaRPr lang="en-US" sz="1050" dirty="0"/>
          </a:p>
        </p:txBody>
      </p:sp>
      <p:sp>
        <p:nvSpPr>
          <p:cNvPr id="7" name="Step number"/>
          <p:cNvSpPr/>
          <p:nvPr/>
        </p:nvSpPr>
        <p:spPr>
          <a:xfrm>
            <a:off x="822960" y="2377440"/>
            <a:ext cx="457200" cy="457200"/>
          </a:xfrm>
          <a:prstGeom prst="ellipse">
            <a:avLst/>
          </a:prstGeom>
          <a:solidFill>
            <a:srgbClr val="8B5CF6"/>
          </a:solidFill>
          <a:ln w="12700">
            <a:solidFill>
              <a:srgbClr val="8B5CF6"/>
            </a:solidFill>
            <a:prstDash val="solid"/>
          </a:ln>
        </p:spPr>
      </p:sp>
      <p:sp>
        <p:nvSpPr>
          <p:cNvPr id="8" name="Text 6"/>
          <p:cNvSpPr txBox="1"/>
          <p:nvPr/>
        </p:nvSpPr>
        <p:spPr>
          <a:xfrm>
            <a:off x="822960" y="2377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7"/>
          <p:cNvSpPr txBox="1"/>
          <p:nvPr/>
        </p:nvSpPr>
        <p:spPr>
          <a:xfrm>
            <a:off x="1463040" y="2359152"/>
            <a:ext cx="2926080" cy="310896"/>
          </a:xfrm>
          <a:prstGeom prst="rect">
            <a:avLst/>
          </a:prstGeom>
          <a:noFill/>
          <a:ln/>
        </p:spPr>
        <p:txBody>
          <a:bodyPr wrap="square" lIns="0" tIns="0" rIns="0" bIns="0" rtlCol="0" anchor="t"/>
          <a:lstStyle/>
          <a:p>
            <a:pPr indent="0" marL="0">
              <a:buNone/>
            </a:pPr>
            <a:r>
              <a:rPr lang="en-US" sz="1500" b="1" dirty="0">
                <a:solidFill>
                  <a:schemeClr val="bg1"/>
                </a:solidFill>
              </a:rPr>
              <a:t>A buyer asks</a:t>
            </a:r>
            <a:endParaRPr lang="en-US" sz="1500" dirty="0"/>
          </a:p>
        </p:txBody>
      </p:sp>
      <p:sp>
        <p:nvSpPr>
          <p:cNvPr id="10" name="Text 8"/>
          <p:cNvSpPr txBox="1"/>
          <p:nvPr/>
        </p:nvSpPr>
        <p:spPr>
          <a:xfrm>
            <a:off x="1463040" y="2688336"/>
            <a:ext cx="2926080" cy="731520"/>
          </a:xfrm>
          <a:prstGeom prst="rect">
            <a:avLst/>
          </a:prstGeom>
          <a:noFill/>
          <a:ln/>
        </p:spPr>
        <p:txBody>
          <a:bodyPr wrap="square" lIns="0" tIns="0" rIns="0" bIns="0" rtlCol="0" anchor="t"/>
          <a:lstStyle/>
          <a:p>
            <a:pPr indent="0" marL="0">
              <a:buNone/>
            </a:pPr>
            <a:r>
              <a:rPr lang="en-US" sz="1200" dirty="0">
                <a:solidFill>
                  <a:srgbClr val="A1A1AA"/>
                </a:solidFill>
              </a:rPr>
              <a:t>“Best project management tool that works with Claude Code?” in ChatGPT, Perplexity, Gemini or Claude.</a:t>
            </a:r>
            <a:endParaRPr lang="en-US" sz="1200" dirty="0"/>
          </a:p>
        </p:txBody>
      </p:sp>
      <p:sp>
        <p:nvSpPr>
          <p:cNvPr id="11" name="Step number"/>
          <p:cNvSpPr/>
          <p:nvPr/>
        </p:nvSpPr>
        <p:spPr>
          <a:xfrm>
            <a:off x="822960" y="3566160"/>
            <a:ext cx="457200" cy="457200"/>
          </a:xfrm>
          <a:prstGeom prst="ellipse">
            <a:avLst/>
          </a:prstGeom>
          <a:solidFill>
            <a:srgbClr val="8B5CF6"/>
          </a:solidFill>
          <a:ln w="12700">
            <a:solidFill>
              <a:srgbClr val="8B5CF6"/>
            </a:solidFill>
            <a:prstDash val="solid"/>
          </a:ln>
        </p:spPr>
      </p:sp>
      <p:sp>
        <p:nvSpPr>
          <p:cNvPr id="12" name="Text 10"/>
          <p:cNvSpPr txBox="1"/>
          <p:nvPr/>
        </p:nvSpPr>
        <p:spPr>
          <a:xfrm>
            <a:off x="822960" y="3566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1463040" y="3547872"/>
            <a:ext cx="2926080" cy="310896"/>
          </a:xfrm>
          <a:prstGeom prst="rect">
            <a:avLst/>
          </a:prstGeom>
          <a:noFill/>
          <a:ln/>
        </p:spPr>
        <p:txBody>
          <a:bodyPr wrap="square" lIns="0" tIns="0" rIns="0" bIns="0" rtlCol="0" anchor="t"/>
          <a:lstStyle/>
          <a:p>
            <a:pPr indent="0" marL="0">
              <a:buNone/>
            </a:pPr>
            <a:r>
              <a:rPr lang="en-US" sz="1500" b="1" dirty="0">
                <a:solidFill>
                  <a:schemeClr val="bg1"/>
                </a:solidFill>
              </a:rPr>
              <a:t>The AI reads the web</a:t>
            </a:r>
            <a:endParaRPr lang="en-US" sz="1500" dirty="0"/>
          </a:p>
        </p:txBody>
      </p:sp>
      <p:sp>
        <p:nvSpPr>
          <p:cNvPr id="14" name="Text 12"/>
          <p:cNvSpPr txBox="1"/>
          <p:nvPr/>
        </p:nvSpPr>
        <p:spPr>
          <a:xfrm>
            <a:off x="1463040" y="3877056"/>
            <a:ext cx="2926080" cy="731520"/>
          </a:xfrm>
          <a:prstGeom prst="rect">
            <a:avLst/>
          </a:prstGeom>
          <a:noFill/>
          <a:ln/>
        </p:spPr>
        <p:txBody>
          <a:bodyPr wrap="square" lIns="0" tIns="0" rIns="0" bIns="0" rtlCol="0" anchor="t"/>
          <a:lstStyle/>
          <a:p>
            <a:pPr indent="0" marL="0">
              <a:buNone/>
            </a:pPr>
            <a:r>
              <a:rPr lang="en-US" sz="1200" dirty="0">
                <a:solidFill>
                  <a:srgbClr val="A1A1AA"/>
                </a:solidFill>
              </a:rPr>
              <a:t>Review sites, “best of” articles, Reddit threads, docs and directories.</a:t>
            </a:r>
            <a:endParaRPr lang="en-US" sz="1200" dirty="0"/>
          </a:p>
        </p:txBody>
      </p:sp>
      <p:sp>
        <p:nvSpPr>
          <p:cNvPr id="15" name="Step number"/>
          <p:cNvSpPr/>
          <p:nvPr/>
        </p:nvSpPr>
        <p:spPr>
          <a:xfrm>
            <a:off x="822960" y="4754880"/>
            <a:ext cx="457200" cy="457200"/>
          </a:xfrm>
          <a:prstGeom prst="ellipse">
            <a:avLst/>
          </a:prstGeom>
          <a:solidFill>
            <a:srgbClr val="8B5CF6"/>
          </a:solidFill>
          <a:ln w="12700">
            <a:solidFill>
              <a:srgbClr val="8B5CF6"/>
            </a:solidFill>
            <a:prstDash val="solid"/>
          </a:ln>
        </p:spPr>
      </p:sp>
      <p:sp>
        <p:nvSpPr>
          <p:cNvPr id="16" name="Text 14"/>
          <p:cNvSpPr txBox="1"/>
          <p:nvPr/>
        </p:nvSpPr>
        <p:spPr>
          <a:xfrm>
            <a:off x="822960" y="4754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1463040" y="4736592"/>
            <a:ext cx="2926080" cy="310896"/>
          </a:xfrm>
          <a:prstGeom prst="rect">
            <a:avLst/>
          </a:prstGeom>
          <a:noFill/>
          <a:ln/>
        </p:spPr>
        <p:txBody>
          <a:bodyPr wrap="square" lIns="0" tIns="0" rIns="0" bIns="0" rtlCol="0" anchor="t"/>
          <a:lstStyle/>
          <a:p>
            <a:pPr indent="0" marL="0">
              <a:buNone/>
            </a:pPr>
            <a:r>
              <a:rPr lang="en-US" sz="1500" b="1" dirty="0">
                <a:solidFill>
                  <a:schemeClr val="bg1"/>
                </a:solidFill>
              </a:rPr>
              <a:t>It names the brands it sees repeated</a:t>
            </a:r>
            <a:endParaRPr lang="en-US" sz="1500" dirty="0"/>
          </a:p>
        </p:txBody>
      </p:sp>
      <p:sp>
        <p:nvSpPr>
          <p:cNvPr id="18" name="Text 16"/>
          <p:cNvSpPr txBox="1"/>
          <p:nvPr/>
        </p:nvSpPr>
        <p:spPr>
          <a:xfrm>
            <a:off x="1463040" y="5065776"/>
            <a:ext cx="2926080" cy="731520"/>
          </a:xfrm>
          <a:prstGeom prst="rect">
            <a:avLst/>
          </a:prstGeom>
          <a:noFill/>
          <a:ln/>
        </p:spPr>
        <p:txBody>
          <a:bodyPr wrap="square" lIns="0" tIns="0" rIns="0" bIns="0" rtlCol="0" anchor="t"/>
          <a:lstStyle/>
          <a:p>
            <a:pPr indent="0" marL="0">
              <a:buNone/>
            </a:pPr>
            <a:r>
              <a:rPr lang="en-US" sz="1200" dirty="0">
                <a:solidFill>
                  <a:srgbClr val="A1A1AA"/>
                </a:solidFill>
              </a:rPr>
              <a:t>No mentions means no recommendation, however good the product is.</a:t>
            </a:r>
            <a:endParaRPr lang="en-US" sz="1200" dirty="0"/>
          </a:p>
        </p:txBody>
      </p:sp>
      <p:sp>
        <p:nvSpPr>
          <p:cNvPr id="19" name="AI issue row"/>
          <p:cNvSpPr/>
          <p:nvPr/>
        </p:nvSpPr>
        <p:spPr>
          <a:xfrm>
            <a:off x="4937760" y="1645920"/>
            <a:ext cx="6748272" cy="950976"/>
          </a:xfrm>
          <a:prstGeom prst="roundRect">
            <a:avLst>
              <a:gd name="adj" fmla="val 7692"/>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0" name="Icon circle"/>
          <p:cNvSpPr/>
          <p:nvPr/>
        </p:nvSpPr>
        <p:spPr>
          <a:xfrm>
            <a:off x="5166360" y="1865376"/>
            <a:ext cx="512064" cy="512064"/>
          </a:xfrm>
          <a:prstGeom prst="ellipse">
            <a:avLst/>
          </a:prstGeom>
          <a:solidFill>
            <a:srgbClr val="D6304A"/>
          </a:solidFill>
          <a:ln w="12700">
            <a:solidFill>
              <a:srgbClr val="D6304A"/>
            </a:solidFill>
            <a:prstDash val="solid"/>
          </a:ln>
        </p:spPr>
      </p:sp>
      <p:pic>
        <p:nvPicPr>
          <p:cNvPr id="21" name="Icon" descr="preencoded.png">    </p:cNvPr>
          <p:cNvPicPr>
            <a:picLocks noChangeAspect="1"/>
          </p:cNvPicPr>
          <p:nvPr/>
        </p:nvPicPr>
        <p:blipFill>
          <a:blip r:embed="rId1"/>
          <a:stretch>
            <a:fillRect/>
          </a:stretch>
        </p:blipFill>
        <p:spPr>
          <a:xfrm>
            <a:off x="5299497" y="1998513"/>
            <a:ext cx="245791" cy="245791"/>
          </a:xfrm>
          <a:prstGeom prst="rect">
            <a:avLst/>
          </a:prstGeom>
        </p:spPr>
      </p:pic>
      <p:sp>
        <p:nvSpPr>
          <p:cNvPr id="22" name="Text 19"/>
          <p:cNvSpPr txBox="1"/>
          <p:nvPr/>
        </p:nvSpPr>
        <p:spPr>
          <a:xfrm>
            <a:off x="5897880" y="1773936"/>
            <a:ext cx="4279392" cy="310896"/>
          </a:xfrm>
          <a:prstGeom prst="rect">
            <a:avLst/>
          </a:prstGeom>
          <a:noFill/>
          <a:ln/>
        </p:spPr>
        <p:txBody>
          <a:bodyPr wrap="square" lIns="0" tIns="0" rIns="0" bIns="0" rtlCol="0" anchor="t"/>
          <a:lstStyle/>
          <a:p>
            <a:pPr indent="0" marL="0">
              <a:buNone/>
            </a:pPr>
            <a:r>
              <a:rPr lang="en-US" sz="1500" b="1" dirty="0">
                <a:solidFill>
                  <a:schemeClr val="tx1"/>
                </a:solidFill>
              </a:rPr>
              <a:t>Not on the lists AI reads</a:t>
            </a:r>
            <a:endParaRPr lang="en-US" sz="1500" dirty="0"/>
          </a:p>
        </p:txBody>
      </p:sp>
      <p:sp>
        <p:nvSpPr>
          <p:cNvPr id="23" name="Severity tag"/>
          <p:cNvSpPr txBox="1"/>
          <p:nvPr/>
        </p:nvSpPr>
        <p:spPr>
          <a:xfrm>
            <a:off x="10314432" y="1783080"/>
            <a:ext cx="1143000" cy="274320"/>
          </a:xfrm>
          <a:prstGeom prst="rect">
            <a:avLst/>
          </a:prstGeom>
          <a:solidFill>
            <a:srgbClr val="FCEAEE"/>
          </a:solidFill>
          <a:ln/>
        </p:spPr>
        <p:txBody>
          <a:bodyPr wrap="square" lIns="0" tIns="0" rIns="0" bIns="0" rtlCol="0" anchor="ctr"/>
          <a:lstStyle/>
          <a:p>
            <a:pPr algn="ctr" indent="0" marL="0">
              <a:buNone/>
            </a:pPr>
            <a:r>
              <a:rPr lang="en-US" sz="950" b="1" spc="150" kern="0" dirty="0">
                <a:solidFill>
                  <a:srgbClr val="D6304A"/>
                </a:solidFill>
              </a:rPr>
              <a:t>CRITICAL</a:t>
            </a:r>
            <a:endParaRPr lang="en-US" sz="950" dirty="0"/>
          </a:p>
        </p:txBody>
      </p:sp>
      <p:sp>
        <p:nvSpPr>
          <p:cNvPr id="24" name="Text 21"/>
          <p:cNvSpPr txBox="1"/>
          <p:nvPr/>
        </p:nvSpPr>
        <p:spPr>
          <a:xfrm>
            <a:off x="5897880" y="2103120"/>
            <a:ext cx="5513832" cy="438912"/>
          </a:xfrm>
          <a:prstGeom prst="rect">
            <a:avLst/>
          </a:prstGeom>
          <a:noFill/>
          <a:ln/>
        </p:spPr>
        <p:txBody>
          <a:bodyPr wrap="square" lIns="0" tIns="0" rIns="0" bIns="0" rtlCol="0" anchor="t"/>
          <a:lstStyle/>
          <a:p>
            <a:pPr indent="0" marL="0">
              <a:buNone/>
            </a:pPr>
            <a:r>
              <a:rPr lang="en-US" sz="1200" dirty="0">
                <a:solidFill>
                  <a:schemeClr val="accent6"/>
                </a:solidFill>
              </a:rPr>
              <a:t>The 2026 “best AI project management tools” roundups (The Digital Project Manager, Productive, project-management.com) do not include Taskive.</a:t>
            </a:r>
            <a:endParaRPr lang="en-US" sz="1200" dirty="0"/>
          </a:p>
        </p:txBody>
      </p:sp>
      <p:sp>
        <p:nvSpPr>
          <p:cNvPr id="25" name="AI issue row"/>
          <p:cNvSpPr/>
          <p:nvPr/>
        </p:nvSpPr>
        <p:spPr>
          <a:xfrm>
            <a:off x="4937760" y="2779776"/>
            <a:ext cx="6748272" cy="950976"/>
          </a:xfrm>
          <a:prstGeom prst="roundRect">
            <a:avLst>
              <a:gd name="adj" fmla="val 7692"/>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6" name="Icon circle"/>
          <p:cNvSpPr/>
          <p:nvPr/>
        </p:nvSpPr>
        <p:spPr>
          <a:xfrm>
            <a:off x="5166360" y="2999232"/>
            <a:ext cx="512064" cy="512064"/>
          </a:xfrm>
          <a:prstGeom prst="ellipse">
            <a:avLst/>
          </a:prstGeom>
          <a:solidFill>
            <a:srgbClr val="D6304A"/>
          </a:solidFill>
          <a:ln w="12700">
            <a:solidFill>
              <a:srgbClr val="D6304A"/>
            </a:solidFill>
            <a:prstDash val="solid"/>
          </a:ln>
        </p:spPr>
      </p:sp>
      <p:pic>
        <p:nvPicPr>
          <p:cNvPr id="27" name="Icon" descr="preencoded.png">    </p:cNvPr>
          <p:cNvPicPr>
            <a:picLocks noChangeAspect="1"/>
          </p:cNvPicPr>
          <p:nvPr/>
        </p:nvPicPr>
        <p:blipFill>
          <a:blip r:embed="rId2"/>
          <a:stretch>
            <a:fillRect/>
          </a:stretch>
        </p:blipFill>
        <p:spPr>
          <a:xfrm>
            <a:off x="5299497" y="3132369"/>
            <a:ext cx="245791" cy="245791"/>
          </a:xfrm>
          <a:prstGeom prst="rect">
            <a:avLst/>
          </a:prstGeom>
        </p:spPr>
      </p:pic>
      <p:sp>
        <p:nvSpPr>
          <p:cNvPr id="28" name="Text 24"/>
          <p:cNvSpPr txBox="1"/>
          <p:nvPr/>
        </p:nvSpPr>
        <p:spPr>
          <a:xfrm>
            <a:off x="5897880" y="2907792"/>
            <a:ext cx="4279392" cy="310896"/>
          </a:xfrm>
          <a:prstGeom prst="rect">
            <a:avLst/>
          </a:prstGeom>
          <a:noFill/>
          <a:ln/>
        </p:spPr>
        <p:txBody>
          <a:bodyPr wrap="square" lIns="0" tIns="0" rIns="0" bIns="0" rtlCol="0" anchor="t"/>
          <a:lstStyle/>
          <a:p>
            <a:pPr indent="0" marL="0">
              <a:buNone/>
            </a:pPr>
            <a:r>
              <a:rPr lang="en-US" sz="1500" b="1" dirty="0">
                <a:solidFill>
                  <a:schemeClr val="tx1"/>
                </a:solidFill>
              </a:rPr>
              <a:t>No reviews to quote</a:t>
            </a:r>
            <a:endParaRPr lang="en-US" sz="1500" dirty="0"/>
          </a:p>
        </p:txBody>
      </p:sp>
      <p:sp>
        <p:nvSpPr>
          <p:cNvPr id="29" name="Severity tag"/>
          <p:cNvSpPr txBox="1"/>
          <p:nvPr/>
        </p:nvSpPr>
        <p:spPr>
          <a:xfrm>
            <a:off x="10314432" y="2916936"/>
            <a:ext cx="1143000" cy="274320"/>
          </a:xfrm>
          <a:prstGeom prst="rect">
            <a:avLst/>
          </a:prstGeom>
          <a:solidFill>
            <a:srgbClr val="FCEAEE"/>
          </a:solidFill>
          <a:ln/>
        </p:spPr>
        <p:txBody>
          <a:bodyPr wrap="square" lIns="0" tIns="0" rIns="0" bIns="0" rtlCol="0" anchor="ctr"/>
          <a:lstStyle/>
          <a:p>
            <a:pPr algn="ctr" indent="0" marL="0">
              <a:buNone/>
            </a:pPr>
            <a:r>
              <a:rPr lang="en-US" sz="950" b="1" spc="150" kern="0" dirty="0">
                <a:solidFill>
                  <a:srgbClr val="D6304A"/>
                </a:solidFill>
              </a:rPr>
              <a:t>CRITICAL</a:t>
            </a:r>
            <a:endParaRPr lang="en-US" sz="950" dirty="0"/>
          </a:p>
        </p:txBody>
      </p:sp>
      <p:sp>
        <p:nvSpPr>
          <p:cNvPr id="30" name="Text 26"/>
          <p:cNvSpPr txBox="1"/>
          <p:nvPr/>
        </p:nvSpPr>
        <p:spPr>
          <a:xfrm>
            <a:off x="5897880" y="3236976"/>
            <a:ext cx="5513832" cy="438912"/>
          </a:xfrm>
          <a:prstGeom prst="rect">
            <a:avLst/>
          </a:prstGeom>
          <a:noFill/>
          <a:ln/>
        </p:spPr>
        <p:txBody>
          <a:bodyPr wrap="square" lIns="0" tIns="0" rIns="0" bIns="0" rtlCol="0" anchor="t"/>
          <a:lstStyle/>
          <a:p>
            <a:pPr indent="0" marL="0">
              <a:buNone/>
            </a:pPr>
            <a:r>
              <a:rPr lang="en-US" sz="1200" dirty="0">
                <a:solidFill>
                  <a:schemeClr val="accent6"/>
                </a:solidFill>
              </a:rPr>
              <a:t>No G2, Capterra or Product Hunt profile, so AI assistants have no third-party proof to cite.</a:t>
            </a:r>
            <a:endParaRPr lang="en-US" sz="1200" dirty="0"/>
          </a:p>
        </p:txBody>
      </p:sp>
      <p:sp>
        <p:nvSpPr>
          <p:cNvPr id="31" name="AI issue row"/>
          <p:cNvSpPr/>
          <p:nvPr/>
        </p:nvSpPr>
        <p:spPr>
          <a:xfrm>
            <a:off x="4937760" y="3913632"/>
            <a:ext cx="6748272" cy="950976"/>
          </a:xfrm>
          <a:prstGeom prst="roundRect">
            <a:avLst>
              <a:gd name="adj" fmla="val 7692"/>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32" name="Icon circle"/>
          <p:cNvSpPr/>
          <p:nvPr/>
        </p:nvSpPr>
        <p:spPr>
          <a:xfrm>
            <a:off x="5166360" y="4133088"/>
            <a:ext cx="512064" cy="512064"/>
          </a:xfrm>
          <a:prstGeom prst="ellipse">
            <a:avLst/>
          </a:prstGeom>
          <a:solidFill>
            <a:srgbClr val="DE8C1B"/>
          </a:solidFill>
          <a:ln w="12700">
            <a:solidFill>
              <a:srgbClr val="DE8C1B"/>
            </a:solidFill>
            <a:prstDash val="solid"/>
          </a:ln>
        </p:spPr>
      </p:sp>
      <p:pic>
        <p:nvPicPr>
          <p:cNvPr id="33" name="Icon" descr="preencoded.png">    </p:cNvPr>
          <p:cNvPicPr>
            <a:picLocks noChangeAspect="1"/>
          </p:cNvPicPr>
          <p:nvPr/>
        </p:nvPicPr>
        <p:blipFill>
          <a:blip r:embed="rId3"/>
          <a:stretch>
            <a:fillRect/>
          </a:stretch>
        </p:blipFill>
        <p:spPr>
          <a:xfrm>
            <a:off x="5299497" y="4266225"/>
            <a:ext cx="245791" cy="245791"/>
          </a:xfrm>
          <a:prstGeom prst="rect">
            <a:avLst/>
          </a:prstGeom>
        </p:spPr>
      </p:pic>
      <p:sp>
        <p:nvSpPr>
          <p:cNvPr id="34" name="Text 29"/>
          <p:cNvSpPr txBox="1"/>
          <p:nvPr/>
        </p:nvSpPr>
        <p:spPr>
          <a:xfrm>
            <a:off x="5897880" y="4041648"/>
            <a:ext cx="4279392" cy="310896"/>
          </a:xfrm>
          <a:prstGeom prst="rect">
            <a:avLst/>
          </a:prstGeom>
          <a:noFill/>
          <a:ln/>
        </p:spPr>
        <p:txBody>
          <a:bodyPr wrap="square" lIns="0" tIns="0" rIns="0" bIns="0" rtlCol="0" anchor="t"/>
          <a:lstStyle/>
          <a:p>
            <a:pPr indent="0" marL="0">
              <a:buNone/>
            </a:pPr>
            <a:r>
              <a:rPr lang="en-US" sz="1500" b="1" dirty="0">
                <a:solidFill>
                  <a:schemeClr val="tx1"/>
                </a:solidFill>
              </a:rPr>
              <a:t>Nobody is talking about it yet</a:t>
            </a:r>
            <a:endParaRPr lang="en-US" sz="1500" dirty="0"/>
          </a:p>
        </p:txBody>
      </p:sp>
      <p:sp>
        <p:nvSpPr>
          <p:cNvPr id="35" name="Severity tag"/>
          <p:cNvSpPr txBox="1"/>
          <p:nvPr/>
        </p:nvSpPr>
        <p:spPr>
          <a:xfrm>
            <a:off x="10314432" y="4050792"/>
            <a:ext cx="1143000" cy="274320"/>
          </a:xfrm>
          <a:prstGeom prst="rect">
            <a:avLst/>
          </a:prstGeom>
          <a:solidFill>
            <a:srgbClr val="FDF1E0"/>
          </a:solidFill>
          <a:ln/>
        </p:spPr>
        <p:txBody>
          <a:bodyPr wrap="square" lIns="0" tIns="0" rIns="0" bIns="0" rtlCol="0" anchor="ctr"/>
          <a:lstStyle/>
          <a:p>
            <a:pPr algn="ctr" indent="0" marL="0">
              <a:buNone/>
            </a:pPr>
            <a:r>
              <a:rPr lang="en-US" sz="950" b="1" spc="150" kern="0" dirty="0">
                <a:solidFill>
                  <a:srgbClr val="DE8C1B"/>
                </a:solidFill>
              </a:rPr>
              <a:t>HIGH</a:t>
            </a:r>
            <a:endParaRPr lang="en-US" sz="950" dirty="0"/>
          </a:p>
        </p:txBody>
      </p:sp>
      <p:sp>
        <p:nvSpPr>
          <p:cNvPr id="36" name="Text 31"/>
          <p:cNvSpPr txBox="1"/>
          <p:nvPr/>
        </p:nvSpPr>
        <p:spPr>
          <a:xfrm>
            <a:off x="5897880" y="4370832"/>
            <a:ext cx="5513832" cy="438912"/>
          </a:xfrm>
          <a:prstGeom prst="rect">
            <a:avLst/>
          </a:prstGeom>
          <a:noFill/>
          <a:ln/>
        </p:spPr>
        <p:txBody>
          <a:bodyPr wrap="square" lIns="0" tIns="0" rIns="0" bIns="0" rtlCol="0" anchor="t"/>
          <a:lstStyle/>
          <a:p>
            <a:pPr indent="0" marL="0">
              <a:buNone/>
            </a:pPr>
            <a:r>
              <a:rPr lang="en-US" sz="1200" dirty="0">
                <a:solidFill>
                  <a:schemeClr val="accent6"/>
                </a:solidFill>
              </a:rPr>
              <a:t>No Reddit, Hacker News or dev.to threads mention Taskive. To an AI model, silence reads as irrelevance.</a:t>
            </a:r>
            <a:endParaRPr lang="en-US" sz="1200" dirty="0"/>
          </a:p>
        </p:txBody>
      </p:sp>
      <p:sp>
        <p:nvSpPr>
          <p:cNvPr id="37" name="AI issue row"/>
          <p:cNvSpPr/>
          <p:nvPr/>
        </p:nvSpPr>
        <p:spPr>
          <a:xfrm>
            <a:off x="4937760" y="5047488"/>
            <a:ext cx="6748272" cy="950976"/>
          </a:xfrm>
          <a:prstGeom prst="roundRect">
            <a:avLst>
              <a:gd name="adj" fmla="val 7692"/>
            </a:avLst>
          </a:prstGeom>
          <a:solidFill>
            <a:srgbClr val="E4F6EF"/>
          </a:solidFill>
          <a:ln w="12700">
            <a:solidFill>
              <a:srgbClr val="CDEBE0"/>
            </a:solidFill>
            <a:prstDash val="solid"/>
          </a:ln>
          <a:effectLst>
            <a:outerShdw sx="100000" sy="100000" kx="0" ky="0" algn="bl" rotWithShape="0" blurRad="76200" dist="25400" dir="5400000">
              <a:srgbClr val="C6BEE8">
                <a:alpha val="35000"/>
              </a:srgbClr>
            </a:outerShdw>
          </a:effectLst>
        </p:spPr>
      </p:sp>
      <p:sp>
        <p:nvSpPr>
          <p:cNvPr id="38" name="Icon circle"/>
          <p:cNvSpPr/>
          <p:nvPr/>
        </p:nvSpPr>
        <p:spPr>
          <a:xfrm>
            <a:off x="5166360" y="5266944"/>
            <a:ext cx="512064" cy="512064"/>
          </a:xfrm>
          <a:prstGeom prst="ellipse">
            <a:avLst/>
          </a:prstGeom>
          <a:solidFill>
            <a:srgbClr val="179C6E"/>
          </a:solidFill>
          <a:ln w="12700">
            <a:solidFill>
              <a:srgbClr val="179C6E"/>
            </a:solidFill>
            <a:prstDash val="solid"/>
          </a:ln>
        </p:spPr>
      </p:sp>
      <p:pic>
        <p:nvPicPr>
          <p:cNvPr id="39" name="Icon" descr="preencoded.png">    </p:cNvPr>
          <p:cNvPicPr>
            <a:picLocks noChangeAspect="1"/>
          </p:cNvPicPr>
          <p:nvPr/>
        </p:nvPicPr>
        <p:blipFill>
          <a:blip r:embed="rId4"/>
          <a:stretch>
            <a:fillRect/>
          </a:stretch>
        </p:blipFill>
        <p:spPr>
          <a:xfrm>
            <a:off x="5299497" y="5400081"/>
            <a:ext cx="245791" cy="245791"/>
          </a:xfrm>
          <a:prstGeom prst="rect">
            <a:avLst/>
          </a:prstGeom>
        </p:spPr>
      </p:pic>
      <p:sp>
        <p:nvSpPr>
          <p:cNvPr id="40" name="Text 34"/>
          <p:cNvSpPr txBox="1"/>
          <p:nvPr/>
        </p:nvSpPr>
        <p:spPr>
          <a:xfrm>
            <a:off x="5897880" y="5175504"/>
            <a:ext cx="4279392" cy="310896"/>
          </a:xfrm>
          <a:prstGeom prst="rect">
            <a:avLst/>
          </a:prstGeom>
          <a:noFill/>
          <a:ln/>
        </p:spPr>
        <p:txBody>
          <a:bodyPr wrap="square" lIns="0" tIns="0" rIns="0" bIns="0" rtlCol="0" anchor="t"/>
          <a:lstStyle/>
          <a:p>
            <a:pPr indent="0" marL="0">
              <a:buNone/>
            </a:pPr>
            <a:r>
              <a:rPr lang="en-US" sz="1500" b="1" dirty="0">
                <a:solidFill>
                  <a:srgbClr val="156048"/>
                </a:solidFill>
              </a:rPr>
              <a:t>Already in your favor</a:t>
            </a:r>
            <a:endParaRPr lang="en-US" sz="1500" dirty="0"/>
          </a:p>
        </p:txBody>
      </p:sp>
      <p:sp>
        <p:nvSpPr>
          <p:cNvPr id="41" name="Severity tag"/>
          <p:cNvSpPr txBox="1"/>
          <p:nvPr/>
        </p:nvSpPr>
        <p:spPr>
          <a:xfrm>
            <a:off x="10314432" y="5184648"/>
            <a:ext cx="1143000" cy="274320"/>
          </a:xfrm>
          <a:prstGeom prst="rect">
            <a:avLst/>
          </a:prstGeom>
          <a:solidFill>
            <a:srgbClr val="E4F6EF"/>
          </a:solidFill>
          <a:ln/>
        </p:spPr>
        <p:txBody>
          <a:bodyPr wrap="square" lIns="0" tIns="0" rIns="0" bIns="0" rtlCol="0" anchor="ctr"/>
          <a:lstStyle/>
          <a:p>
            <a:pPr algn="ctr" indent="0" marL="0">
              <a:buNone/>
            </a:pPr>
            <a:r>
              <a:rPr lang="en-US" sz="950" b="1" spc="150" kern="0" dirty="0">
                <a:solidFill>
                  <a:srgbClr val="179C6E"/>
                </a:solidFill>
              </a:rPr>
              <a:t>WORKING</a:t>
            </a:r>
            <a:endParaRPr lang="en-US" sz="950" dirty="0"/>
          </a:p>
        </p:txBody>
      </p:sp>
      <p:sp>
        <p:nvSpPr>
          <p:cNvPr id="42" name="Text 36"/>
          <p:cNvSpPr txBox="1"/>
          <p:nvPr/>
        </p:nvSpPr>
        <p:spPr>
          <a:xfrm>
            <a:off x="5897880" y="5504688"/>
            <a:ext cx="5513832" cy="438912"/>
          </a:xfrm>
          <a:prstGeom prst="rect">
            <a:avLst/>
          </a:prstGeom>
          <a:noFill/>
          <a:ln/>
        </p:spPr>
        <p:txBody>
          <a:bodyPr wrap="square" lIns="0" tIns="0" rIns="0" bIns="0" rtlCol="0" anchor="t"/>
          <a:lstStyle/>
          <a:p>
            <a:pPr indent="0" marL="0">
              <a:buNone/>
            </a:pPr>
            <a:r>
              <a:rPr lang="en-US" sz="1200" dirty="0">
                <a:solidFill>
                  <a:srgbClr val="156048"/>
                </a:solidFill>
              </a:rPr>
              <a:t>llms.txt is live, schema is in place and the MCP connector is listed on Glama. The door is open; we need traffic through it.</a:t>
            </a:r>
            <a:endParaRPr lang="en-US" sz="12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KEYWORD PLACEMENT AUDIT</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The keywords buyers type are hidden or missing</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Based on the title and description Google shows for taskive.ai in October 2026. Search volumes are added in Month 1.</a:t>
            </a:r>
            <a:endParaRPr lang="en-US" sz="1250" dirty="0"/>
          </a:p>
        </p:txBody>
      </p:sp>
      <p:graphicFrame>
        <p:nvGraphicFramePr>
          <p:cNvPr id="6" name="Keyword audit table"/>
          <p:cNvGraphicFramePr>
            <a:graphicFrameLocks noGrp="1"/>
          </p:cNvGraphicFramePr>
          <p:nvPr>
            <p:extLst>
              <p:ext uri="{D42A27DB-BD31-4B8C-83A1-F6EECF244321}">
                <p14:modId xmlns:p14="http://schemas.microsoft.com/office/powerpoint/2010/main" val="1579011935"/>
              </p:ext>
            </p:extLst>
          </p:nvPr>
        </p:nvGraphicFramePr>
        <p:xfrm>
          <a:off x="502920" y="1645920"/>
          <a:ext cx="11183112" cy="914400"/>
        </p:xfrm>
        <a:graphic>
          <a:graphicData uri="http://schemas.openxmlformats.org/drawingml/2006/table">
            <a:tbl>
              <a:tblPr/>
              <a:tblGrid>
                <a:gridCol w="2880360"/>
                <a:gridCol w="1325880"/>
                <a:gridCol w="1143000"/>
                <a:gridCol w="1508760"/>
                <a:gridCol w="2103120"/>
                <a:gridCol w="2221992"/>
              </a:tblGrid>
              <a:tr h="384048">
                <a:tc>
                  <a:txBody>
                    <a:bodyPr/>
                    <a:lstStyle/>
                    <a:p>
                      <a:pPr indent="0" marL="0">
                        <a:buNone/>
                      </a:pPr>
                      <a:r>
                        <a:rPr lang="en-US" sz="1100" b="1" dirty="0">
                          <a:solidFill>
                            <a:srgbClr val="FFFFFF"/>
                          </a:solidFill>
                        </a:rPr>
                        <a:t>Keyword buyers search</a:t>
                      </a:r>
                      <a:endParaRPr lang="en-US" sz="11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1C1B22"/>
                    </a:solidFill>
                  </a:tcPr>
                </a:tc>
                <a:tc>
                  <a:txBody>
                    <a:bodyPr/>
                    <a:lstStyle/>
                    <a:p>
                      <a:pPr indent="0" marL="0">
                        <a:buNone/>
                      </a:pPr>
                      <a:r>
                        <a:rPr lang="en-US" sz="1100" b="1" dirty="0">
                          <a:solidFill>
                            <a:srgbClr val="FFFFFF"/>
                          </a:solidFill>
                        </a:rPr>
                        <a:t>Buyer stage</a:t>
                      </a:r>
                      <a:endParaRPr lang="en-US" sz="11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1C1B22"/>
                    </a:solidFill>
                  </a:tcPr>
                </a:tc>
                <a:tc>
                  <a:txBody>
                    <a:bodyPr/>
                    <a:lstStyle/>
                    <a:p>
                      <a:pPr indent="0" marL="0">
                        <a:buNone/>
                      </a:pPr>
                      <a:r>
                        <a:rPr lang="en-US" sz="1100" b="1" dirty="0">
                          <a:solidFill>
                            <a:srgbClr val="FFFFFF"/>
                          </a:solidFill>
                        </a:rPr>
                        <a:t>Title tag</a:t>
                      </a:r>
                      <a:endParaRPr lang="en-US" sz="11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1C1B22"/>
                    </a:solidFill>
                  </a:tcPr>
                </a:tc>
                <a:tc>
                  <a:txBody>
                    <a:bodyPr/>
                    <a:lstStyle/>
                    <a:p>
                      <a:pPr indent="0" marL="0">
                        <a:buNone/>
                      </a:pPr>
                      <a:r>
                        <a:rPr lang="en-US" sz="1100" b="1" dirty="0">
                          <a:solidFill>
                            <a:srgbClr val="FFFFFF"/>
                          </a:solidFill>
                        </a:rPr>
                        <a:t>Visible description</a:t>
                      </a:r>
                      <a:endParaRPr lang="en-US" sz="11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1C1B22"/>
                    </a:solidFill>
                  </a:tcPr>
                </a:tc>
                <a:tc>
                  <a:txBody>
                    <a:bodyPr/>
                    <a:lstStyle/>
                    <a:p>
                      <a:pPr indent="0" marL="0">
                        <a:buNone/>
                      </a:pPr>
                      <a:r>
                        <a:rPr lang="en-US" sz="1100" b="1" dirty="0">
                          <a:solidFill>
                            <a:srgbClr val="FFFFFF"/>
                          </a:solidFill>
                        </a:rPr>
                        <a:t>Own landing page</a:t>
                      </a:r>
                      <a:endParaRPr lang="en-US" sz="11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1C1B22"/>
                    </a:solidFill>
                  </a:tcPr>
                </a:tc>
                <a:tc>
                  <a:txBody>
                    <a:bodyPr/>
                    <a:lstStyle/>
                    <a:p>
                      <a:pPr indent="0" marL="0">
                        <a:buNone/>
                      </a:pPr>
                      <a:r>
                        <a:rPr lang="en-US" sz="1100" b="1" dirty="0">
                          <a:solidFill>
                            <a:srgbClr val="FFFFFF"/>
                          </a:solidFill>
                        </a:rPr>
                        <a:t>What we do</a:t>
                      </a:r>
                      <a:endParaRPr lang="en-US" sz="11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1C1B22"/>
                    </a:solidFill>
                  </a:tcPr>
                </a:tc>
              </a:tr>
              <a:tr h="603504">
                <a:tc>
                  <a:txBody>
                    <a:bodyPr/>
                    <a:lstStyle/>
                    <a:p>
                      <a:pPr indent="0" marL="0">
                        <a:buNone/>
                      </a:pPr>
                      <a:r>
                        <a:rPr lang="en-US" sz="1200" b="1" dirty="0">
                          <a:solidFill>
                            <a:srgbClr val="1C1B22"/>
                          </a:solidFill>
                        </a:rPr>
                        <a:t>AI project management tool</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200" dirty="0">
                          <a:solidFill>
                            <a:srgbClr val="6E6B7B"/>
                          </a:solidFill>
                        </a:rPr>
                        <a:t>Ready to buy</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E8C1B"/>
                          </a:solidFill>
                        </a:rPr>
                        <a:t>Partly</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DF1E0"/>
                    </a:solidFill>
                  </a:tcPr>
                </a:tc>
                <a:tc>
                  <a:txBody>
                    <a:bodyPr/>
                    <a:lstStyle/>
                    <a:p>
                      <a:pPr algn="ctr" indent="0" marL="0">
                        <a:buNone/>
                      </a:pPr>
                      <a:r>
                        <a:rPr lang="en-US" sz="1200" b="1" dirty="0">
                          <a:solidFill>
                            <a:srgbClr val="179C6E"/>
                          </a:solidFill>
                        </a:rPr>
                        <a:t>Yes</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E4F6EF"/>
                    </a:solidFill>
                  </a:tcPr>
                </a:tc>
                <a:tc>
                  <a:txBody>
                    <a:bodyPr/>
                    <a:lstStyle/>
                    <a:p>
                      <a:pPr indent="0" marL="0">
                        <a:buNone/>
                      </a:pPr>
                      <a:r>
                        <a:rPr lang="en-US" sz="1200" dirty="0">
                          <a:solidFill>
                            <a:srgbClr val="1C1B22"/>
                          </a:solidFill>
                        </a:rPr>
                        <a:t>Homepage</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200" b="1" dirty="0">
                          <a:solidFill>
                            <a:srgbClr val="6D3FD4"/>
                          </a:solidFill>
                        </a:rPr>
                        <a:t>Lead the title with it</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1C1B22"/>
                          </a:solidFill>
                        </a:rPr>
                        <a:t>Free project management software, free Kanban board</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200" dirty="0">
                          <a:solidFill>
                            <a:srgbClr val="6E6B7B"/>
                          </a:solidFill>
                        </a:rPr>
                        <a:t>Ready to buy</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E8C1B"/>
                          </a:solidFill>
                        </a:rPr>
                        <a:t>Partly</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DF1E0"/>
                    </a:solidFill>
                  </a:tcPr>
                </a:tc>
                <a:tc>
                  <a:txBody>
                    <a:bodyPr/>
                    <a:lstStyle/>
                    <a:p>
                      <a:pPr algn="ctr" indent="0" marL="0">
                        <a:buNone/>
                      </a:pPr>
                      <a:r>
                        <a:rPr lang="en-US" sz="1200" b="1" dirty="0">
                          <a:solidFill>
                            <a:srgbClr val="179C6E"/>
                          </a:solidFill>
                        </a:rPr>
                        <a:t>Yes</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E4F6EF"/>
                    </a:solidFill>
                  </a:tcPr>
                </a:tc>
                <a:tc>
                  <a:txBody>
                    <a:bodyPr/>
                    <a:lstStyle/>
                    <a:p>
                      <a:pPr indent="0" marL="0">
                        <a:buNone/>
                      </a:pPr>
                      <a:r>
                        <a:rPr lang="en-US" sz="1200" dirty="0">
                          <a:solidFill>
                            <a:srgbClr val="1C1B22"/>
                          </a:solidFill>
                        </a:rPr>
                        <a:t>None found</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200" b="1" dirty="0">
                          <a:solidFill>
                            <a:srgbClr val="6D3FD4"/>
                          </a:solidFill>
                        </a:rPr>
                        <a:t>Make Pricing the free-plan page</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1C1B22"/>
                          </a:solidFill>
                        </a:rPr>
                        <a:t>Jira, Trello, Monday.com alternative</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200" dirty="0">
                          <a:solidFill>
                            <a:srgbClr val="6E6B7B"/>
                          </a:solidFill>
                        </a:rPr>
                        <a:t>Switching</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6304A"/>
                          </a:solidFill>
                        </a:rPr>
                        <a:t>Missing</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CEAEE"/>
                    </a:solidFill>
                  </a:tcPr>
                </a:tc>
                <a:tc>
                  <a:txBody>
                    <a:bodyPr/>
                    <a:lstStyle/>
                    <a:p>
                      <a:pPr algn="ctr" indent="0" marL="0">
                        <a:buNone/>
                      </a:pPr>
                      <a:r>
                        <a:rPr lang="en-US" sz="1200" b="1" dirty="0">
                          <a:solidFill>
                            <a:srgbClr val="D6304A"/>
                          </a:solidFill>
                        </a:rPr>
                        <a:t>Cut off</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CEAEE"/>
                    </a:solidFill>
                  </a:tcPr>
                </a:tc>
                <a:tc>
                  <a:txBody>
                    <a:bodyPr/>
                    <a:lstStyle/>
                    <a:p>
                      <a:pPr indent="0" marL="0">
                        <a:buNone/>
                      </a:pPr>
                      <a:r>
                        <a:rPr lang="en-US" sz="1200" dirty="0">
                          <a:solidFill>
                            <a:srgbClr val="1C1B22"/>
                          </a:solidFill>
                        </a:rPr>
                        <a:t>Jira, Linear, Trello, Asana pages</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200" b="1" dirty="0">
                          <a:solidFill>
                            <a:srgbClr val="6D3FD4"/>
                          </a:solidFill>
                        </a:rPr>
                        <a:t>Retitle 4 pages, add Monday.com</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1C1B22"/>
                          </a:solidFill>
                        </a:rPr>
                        <a:t>MCP project management, MCP server</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200" dirty="0">
                          <a:solidFill>
                            <a:srgbClr val="6E6B7B"/>
                          </a:solidFill>
                        </a:rPr>
                        <a:t>Comparing</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6304A"/>
                          </a:solidFill>
                        </a:rPr>
                        <a:t>Missing</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CEAEE"/>
                    </a:solidFill>
                  </a:tcPr>
                </a:tc>
                <a:tc>
                  <a:txBody>
                    <a:bodyPr/>
                    <a:lstStyle/>
                    <a:p>
                      <a:pPr algn="ctr" indent="0" marL="0">
                        <a:buNone/>
                      </a:pPr>
                      <a:r>
                        <a:rPr lang="en-US" sz="1200" b="1" dirty="0">
                          <a:solidFill>
                            <a:srgbClr val="D6304A"/>
                          </a:solidFill>
                        </a:rPr>
                        <a:t>Cut off</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CEAEE"/>
                    </a:solidFill>
                  </a:tcPr>
                </a:tc>
                <a:tc>
                  <a:txBody>
                    <a:bodyPr/>
                    <a:lstStyle/>
                    <a:p>
                      <a:pPr indent="0" marL="0">
                        <a:buNone/>
                      </a:pPr>
                      <a:r>
                        <a:rPr lang="en-US" sz="1200" dirty="0">
                          <a:solidFill>
                            <a:srgbClr val="1C1B22"/>
                          </a:solidFill>
                        </a:rPr>
                        <a:t>None found</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200" b="1" dirty="0">
                          <a:solidFill>
                            <a:srgbClr val="6D3FD4"/>
                          </a:solidFill>
                        </a:rPr>
                        <a:t>Biggest gap: build an MCP page</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1C1B22"/>
                          </a:solidFill>
                        </a:rPr>
                        <a:t>Claude Code, Cursor, Codex project context</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200" dirty="0">
                          <a:solidFill>
                            <a:srgbClr val="6E6B7B"/>
                          </a:solidFill>
                        </a:rPr>
                        <a:t>Comparing</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6304A"/>
                          </a:solidFill>
                        </a:rPr>
                        <a:t>Missing</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CEAEE"/>
                    </a:solidFill>
                  </a:tcPr>
                </a:tc>
                <a:tc>
                  <a:txBody>
                    <a:bodyPr/>
                    <a:lstStyle/>
                    <a:p>
                      <a:pPr algn="ctr" indent="0" marL="0">
                        <a:buNone/>
                      </a:pPr>
                      <a:r>
                        <a:rPr lang="en-US" sz="1200" b="1" dirty="0">
                          <a:solidFill>
                            <a:srgbClr val="D6304A"/>
                          </a:solidFill>
                        </a:rPr>
                        <a:t>Cut off</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CEAEE"/>
                    </a:solidFill>
                  </a:tcPr>
                </a:tc>
                <a:tc>
                  <a:txBody>
                    <a:bodyPr/>
                    <a:lstStyle/>
                    <a:p>
                      <a:pPr indent="0" marL="0">
                        <a:buNone/>
                      </a:pPr>
                      <a:r>
                        <a:rPr lang="en-US" sz="1200" dirty="0">
                          <a:solidFill>
                            <a:srgbClr val="1C1B22"/>
                          </a:solidFill>
                        </a:rPr>
                        <a:t>None found</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200" b="1" dirty="0">
                          <a:solidFill>
                            <a:srgbClr val="6D3FD4"/>
                          </a:solidFill>
                        </a:rPr>
                        <a:t>Build 3 use-case pages</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1C1B22"/>
                          </a:solidFill>
                        </a:rPr>
                        <a:t>AI risk scoring, developer burnout</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200" dirty="0">
                          <a:solidFill>
                            <a:srgbClr val="6E6B7B"/>
                          </a:solidFill>
                        </a:rPr>
                        <a:t>Learning</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6304A"/>
                          </a:solidFill>
                        </a:rPr>
                        <a:t>Missing</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CEAEE"/>
                    </a:solidFill>
                  </a:tcPr>
                </a:tc>
                <a:tc>
                  <a:txBody>
                    <a:bodyPr/>
                    <a:lstStyle/>
                    <a:p>
                      <a:pPr algn="ctr" indent="0" marL="0">
                        <a:buNone/>
                      </a:pPr>
                      <a:r>
                        <a:rPr lang="en-US" sz="1200" b="1" dirty="0">
                          <a:solidFill>
                            <a:srgbClr val="179C6E"/>
                          </a:solidFill>
                        </a:rPr>
                        <a:t>Yes</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E4F6EF"/>
                    </a:solidFill>
                  </a:tcPr>
                </a:tc>
                <a:tc>
                  <a:txBody>
                    <a:bodyPr/>
                    <a:lstStyle/>
                    <a:p>
                      <a:pPr indent="0" marL="0">
                        <a:buNone/>
                      </a:pPr>
                      <a:r>
                        <a:rPr lang="en-US" sz="1200" dirty="0">
                          <a:solidFill>
                            <a:srgbClr val="1C1B22"/>
                          </a:solidFill>
                        </a:rPr>
                        <a:t>None found</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200" b="1" dirty="0">
                          <a:solidFill>
                            <a:srgbClr val="6D3FD4"/>
                          </a:solidFill>
                        </a:rPr>
                        <a:t>Feature pages plus 2 blogs</a:t>
                      </a:r>
                      <a:endParaRPr lang="en-US" sz="1200" dirty="0"/>
                    </a:p>
                  </a:txBody>
                  <a:tcPr marL="109728" marR="109728" marT="36576" marB="36576"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KEYWORD PLACEMENT PLAN</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One clear keyword job for every page</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Each page targets one primary phrase in its title, H1, first paragraph and URL. No two pages compete for the same phrase.</a:t>
            </a:r>
            <a:endParaRPr lang="en-US" sz="1250" dirty="0"/>
          </a:p>
        </p:txBody>
      </p:sp>
      <p:sp>
        <p:nvSpPr>
          <p:cNvPr id="5" name="Snippet preview card"/>
          <p:cNvSpPr/>
          <p:nvPr/>
        </p:nvSpPr>
        <p:spPr>
          <a:xfrm>
            <a:off x="502920" y="1645920"/>
            <a:ext cx="4892040" cy="2743200"/>
          </a:xfrm>
          <a:prstGeom prst="roundRect">
            <a:avLst>
              <a:gd name="adj" fmla="val 2667"/>
            </a:avLst>
          </a:prstGeom>
          <a:solidFill>
            <a:srgbClr val="FFFFFF"/>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6" name="Text 4"/>
          <p:cNvSpPr txBox="1"/>
          <p:nvPr/>
        </p:nvSpPr>
        <p:spPr>
          <a:xfrm>
            <a:off x="777240" y="1874520"/>
            <a:ext cx="4343400" cy="274320"/>
          </a:xfrm>
          <a:prstGeom prst="rect">
            <a:avLst/>
          </a:prstGeom>
          <a:noFill/>
          <a:ln/>
        </p:spPr>
        <p:txBody>
          <a:bodyPr wrap="square" lIns="0" tIns="0" rIns="0" bIns="0" rtlCol="0" anchor="t"/>
          <a:lstStyle/>
          <a:p>
            <a:pPr indent="0" marL="0">
              <a:buNone/>
            </a:pPr>
            <a:r>
              <a:rPr lang="en-US" sz="1050" b="1" spc="150" kern="0" dirty="0">
                <a:solidFill>
                  <a:schemeClr val="accent2"/>
                </a:solidFill>
              </a:rPr>
              <a:t>PROPOSED HOMEPAGE RESULT ON GOOGLE</a:t>
            </a:r>
            <a:endParaRPr lang="en-US" sz="1050" dirty="0"/>
          </a:p>
        </p:txBody>
      </p:sp>
      <p:sp>
        <p:nvSpPr>
          <p:cNvPr id="7" name="Text 5"/>
          <p:cNvSpPr txBox="1"/>
          <p:nvPr/>
        </p:nvSpPr>
        <p:spPr>
          <a:xfrm>
            <a:off x="777240" y="2240280"/>
            <a:ext cx="4343400" cy="256032"/>
          </a:xfrm>
          <a:prstGeom prst="rect">
            <a:avLst/>
          </a:prstGeom>
          <a:noFill/>
          <a:ln/>
        </p:spPr>
        <p:txBody>
          <a:bodyPr wrap="square" lIns="0" tIns="0" rIns="0" bIns="0" rtlCol="0" anchor="t"/>
          <a:lstStyle/>
          <a:p>
            <a:pPr indent="0" marL="0">
              <a:buNone/>
            </a:pPr>
            <a:r>
              <a:rPr lang="en-US" sz="1150" dirty="0">
                <a:solidFill>
                  <a:srgbClr val="1A6B3C"/>
                </a:solidFill>
              </a:rPr>
              <a:t>taskive.ai</a:t>
            </a:r>
            <a:endParaRPr lang="en-US" sz="1150" dirty="0"/>
          </a:p>
        </p:txBody>
      </p:sp>
      <p:sp>
        <p:nvSpPr>
          <p:cNvPr id="8" name="Text 6"/>
          <p:cNvSpPr txBox="1"/>
          <p:nvPr/>
        </p:nvSpPr>
        <p:spPr>
          <a:xfrm>
            <a:off x="777240" y="2496312"/>
            <a:ext cx="4343400" cy="566928"/>
          </a:xfrm>
          <a:prstGeom prst="rect">
            <a:avLst/>
          </a:prstGeom>
          <a:noFill/>
          <a:ln/>
        </p:spPr>
        <p:txBody>
          <a:bodyPr wrap="square" lIns="0" tIns="0" rIns="0" bIns="0" rtlCol="0" anchor="t"/>
          <a:lstStyle/>
          <a:p>
            <a:pPr indent="0" marL="0">
              <a:buNone/>
            </a:pPr>
            <a:r>
              <a:rPr lang="en-US" sz="1600" dirty="0">
                <a:solidFill>
                  <a:srgbClr val="1A0DAB"/>
                </a:solidFill>
                <a:latin typeface="Arial" pitchFamily="34" charset="0"/>
                <a:ea typeface="Arial" pitchFamily="34" charset="-122"/>
                <a:cs typeface="Arial" pitchFamily="34" charset="-120"/>
              </a:rPr>
              <a:t>AI Project Management Tool with MCP for Claude | Taskive</a:t>
            </a:r>
            <a:endParaRPr lang="en-US" sz="1600" dirty="0"/>
          </a:p>
        </p:txBody>
      </p:sp>
      <p:sp>
        <p:nvSpPr>
          <p:cNvPr id="9" name="Text 7"/>
          <p:cNvSpPr txBox="1"/>
          <p:nvPr/>
        </p:nvSpPr>
        <p:spPr>
          <a:xfrm>
            <a:off x="777240" y="3090672"/>
            <a:ext cx="4343400" cy="731520"/>
          </a:xfrm>
          <a:prstGeom prst="rect">
            <a:avLst/>
          </a:prstGeom>
          <a:noFill/>
          <a:ln/>
        </p:spPr>
        <p:txBody>
          <a:bodyPr wrap="square" lIns="0" tIns="0" rIns="0" bIns="0" rtlCol="0" anchor="t"/>
          <a:lstStyle/>
          <a:p>
            <a:pPr indent="0" marL="0">
              <a:buNone/>
            </a:pPr>
            <a:r>
              <a:rPr lang="en-US" sz="1200" dirty="0">
                <a:solidFill>
                  <a:srgbClr val="4D5156"/>
                </a:solidFill>
                <a:latin typeface="Arial" pitchFamily="34" charset="0"/>
                <a:ea typeface="Arial" pitchFamily="34" charset="-122"/>
                <a:cs typeface="Arial" pitchFamily="34" charset="-120"/>
              </a:rPr>
              <a:t>Free AI project management tool for engineering teams. Kanban, AI risk scoring and MCP context for Claude, Cursor and Codex. A smarter Jira alternative.</a:t>
            </a:r>
            <a:endParaRPr lang="en-US" sz="1200" dirty="0"/>
          </a:p>
        </p:txBody>
      </p:sp>
      <p:sp>
        <p:nvSpPr>
          <p:cNvPr id="10" name="Text 8"/>
          <p:cNvSpPr txBox="1"/>
          <p:nvPr/>
        </p:nvSpPr>
        <p:spPr>
          <a:xfrm>
            <a:off x="777240" y="3931920"/>
            <a:ext cx="4343400" cy="274320"/>
          </a:xfrm>
          <a:prstGeom prst="rect">
            <a:avLst/>
          </a:prstGeom>
          <a:noFill/>
          <a:ln/>
        </p:spPr>
        <p:txBody>
          <a:bodyPr wrap="square" lIns="0" tIns="0" rIns="0" bIns="0" rtlCol="0" anchor="t"/>
          <a:lstStyle/>
          <a:p>
            <a:pPr indent="0" marL="0">
              <a:buNone/>
            </a:pPr>
            <a:r>
              <a:rPr lang="en-US" sz="1100" b="1" dirty="0">
                <a:solidFill>
                  <a:srgbClr val="179C6E"/>
                </a:solidFill>
              </a:rPr>
              <a:t>Title 56 of 60 characters</a:t>
            </a:r>
            <a:pPr indent="0" marL="0">
              <a:buNone/>
            </a:pPr>
            <a:r>
              <a:rPr lang="en-US" sz="1100" dirty="0">
                <a:solidFill>
                  <a:srgbClr val="000000"/>
                </a:solidFill>
              </a:rPr>
              <a:t>     </a:t>
            </a:r>
            <a:pPr indent="0" marL="0">
              <a:buNone/>
            </a:pPr>
            <a:r>
              <a:rPr lang="en-US" sz="1100" b="1" dirty="0">
                <a:solidFill>
                  <a:srgbClr val="179C6E"/>
                </a:solidFill>
              </a:rPr>
              <a:t>Description 152 of 155</a:t>
            </a:r>
            <a:endParaRPr lang="en-US" sz="1100" dirty="0"/>
          </a:p>
        </p:txBody>
      </p:sp>
      <p:sp>
        <p:nvSpPr>
          <p:cNvPr id="11" name="Today box"/>
          <p:cNvSpPr/>
          <p:nvPr/>
        </p:nvSpPr>
        <p:spPr>
          <a:xfrm>
            <a:off x="502920" y="4617720"/>
            <a:ext cx="4892040" cy="1371600"/>
          </a:xfrm>
          <a:prstGeom prst="roundRect">
            <a:avLst>
              <a:gd name="adj" fmla="val 5333"/>
            </a:avLst>
          </a:prstGeom>
          <a:solidFill>
            <a:srgbClr val="FCEAEE"/>
          </a:solidFill>
          <a:ln w="12700">
            <a:solidFill>
              <a:srgbClr val="F3C9D1"/>
            </a:solidFill>
            <a:prstDash val="solid"/>
          </a:ln>
        </p:spPr>
      </p:sp>
      <p:sp>
        <p:nvSpPr>
          <p:cNvPr id="12" name="Text 10"/>
          <p:cNvSpPr txBox="1"/>
          <p:nvPr/>
        </p:nvSpPr>
        <p:spPr>
          <a:xfrm>
            <a:off x="777240" y="4800600"/>
            <a:ext cx="1828800" cy="256032"/>
          </a:xfrm>
          <a:prstGeom prst="rect">
            <a:avLst/>
          </a:prstGeom>
          <a:noFill/>
          <a:ln/>
        </p:spPr>
        <p:txBody>
          <a:bodyPr wrap="square" lIns="0" tIns="0" rIns="0" bIns="0" rtlCol="0" anchor="t"/>
          <a:lstStyle/>
          <a:p>
            <a:pPr indent="0" marL="0">
              <a:buNone/>
            </a:pPr>
            <a:r>
              <a:rPr lang="en-US" sz="1050" b="1" spc="150" kern="0" dirty="0">
                <a:solidFill>
                  <a:srgbClr val="D6304A"/>
                </a:solidFill>
              </a:rPr>
              <a:t>TODAY</a:t>
            </a:r>
            <a:endParaRPr lang="en-US" sz="1050" dirty="0"/>
          </a:p>
        </p:txBody>
      </p:sp>
      <p:sp>
        <p:nvSpPr>
          <p:cNvPr id="13" name="Text 11"/>
          <p:cNvSpPr txBox="1"/>
          <p:nvPr/>
        </p:nvSpPr>
        <p:spPr>
          <a:xfrm>
            <a:off x="777240" y="5074920"/>
            <a:ext cx="4343400" cy="777240"/>
          </a:xfrm>
          <a:prstGeom prst="rect">
            <a:avLst/>
          </a:prstGeom>
          <a:noFill/>
          <a:ln/>
        </p:spPr>
        <p:txBody>
          <a:bodyPr wrap="square" lIns="0" tIns="0" rIns="0" bIns="0" rtlCol="0" anchor="t"/>
          <a:lstStyle/>
          <a:p>
            <a:pPr indent="0" marL="0">
              <a:buNone/>
            </a:pPr>
            <a:r>
              <a:rPr lang="en-US" sz="1250" dirty="0">
                <a:solidFill>
                  <a:schemeClr val="tx1"/>
                </a:solidFill>
              </a:rPr>
              <a:t>The title opens with “Free Plan” and the description is cut off after “burnout detection”, so MCP, Claude and Jira never show.</a:t>
            </a:r>
            <a:endParaRPr lang="en-US" sz="1250" dirty="0"/>
          </a:p>
        </p:txBody>
      </p:sp>
      <p:graphicFrame>
        <p:nvGraphicFramePr>
          <p:cNvPr id="7" name="Keyword map table"/>
          <p:cNvGraphicFramePr>
            <a:graphicFrameLocks noGrp="1"/>
          </p:cNvGraphicFramePr>
          <p:nvPr>
            <p:extLst>
              <p:ext uri="{D42A27DB-BD31-4B8C-83A1-F6EECF244321}">
                <p14:modId xmlns:p14="http://schemas.microsoft.com/office/powerpoint/2010/main" val="1579011935"/>
              </p:ext>
            </p:extLst>
          </p:nvPr>
        </p:nvGraphicFramePr>
        <p:xfrm>
          <a:off x="5669280" y="1645920"/>
          <a:ext cx="6016752" cy="914400"/>
        </p:xfrm>
        <a:graphic>
          <a:graphicData uri="http://schemas.openxmlformats.org/drawingml/2006/table">
            <a:tbl>
              <a:tblPr/>
              <a:tblGrid>
                <a:gridCol w="1600200"/>
                <a:gridCol w="2148840"/>
                <a:gridCol w="2267712"/>
              </a:tblGrid>
              <a:tr h="365760">
                <a:tc>
                  <a:txBody>
                    <a:bodyPr/>
                    <a:lstStyle/>
                    <a:p>
                      <a:pPr indent="0" marL="0">
                        <a:buNone/>
                      </a:pPr>
                      <a:r>
                        <a:rPr lang="en-US" sz="1100" b="1" dirty="0">
                          <a:solidFill>
                            <a:srgbClr val="FFFFFF"/>
                          </a:solidFill>
                        </a:rPr>
                        <a:t>Page</a:t>
                      </a:r>
                      <a:endParaRPr lang="en-US" sz="110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1C1B22"/>
                    </a:solidFill>
                  </a:tcPr>
                </a:tc>
                <a:tc>
                  <a:txBody>
                    <a:bodyPr/>
                    <a:lstStyle/>
                    <a:p>
                      <a:pPr indent="0" marL="0">
                        <a:buNone/>
                      </a:pPr>
                      <a:r>
                        <a:rPr lang="en-US" sz="1100" b="1" dirty="0">
                          <a:solidFill>
                            <a:srgbClr val="FFFFFF"/>
                          </a:solidFill>
                        </a:rPr>
                        <a:t>Primary keyword</a:t>
                      </a:r>
                      <a:endParaRPr lang="en-US" sz="110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1C1B22"/>
                    </a:solidFill>
                  </a:tcPr>
                </a:tc>
                <a:tc>
                  <a:txBody>
                    <a:bodyPr/>
                    <a:lstStyle/>
                    <a:p>
                      <a:pPr indent="0" marL="0">
                        <a:buNone/>
                      </a:pPr>
                      <a:r>
                        <a:rPr lang="en-US" sz="1100" b="1" dirty="0">
                          <a:solidFill>
                            <a:srgbClr val="FFFFFF"/>
                          </a:solidFill>
                        </a:rPr>
                        <a:t>Supporting keywords</a:t>
                      </a:r>
                      <a:endParaRPr lang="en-US" sz="110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1C1B22"/>
                    </a:solidFill>
                  </a:tcPr>
                </a:tc>
              </a:tr>
              <a:tr h="566928">
                <a:tc>
                  <a:txBody>
                    <a:bodyPr/>
                    <a:lstStyle/>
                    <a:p>
                      <a:pPr indent="0" marL="0">
                        <a:buNone/>
                      </a:pPr>
                      <a:r>
                        <a:rPr lang="en-US" sz="1150" b="1" dirty="0">
                          <a:solidFill>
                            <a:srgbClr val="1C1B22"/>
                          </a:solidFill>
                        </a:rPr>
                        <a:t>Homepage</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6D3FD4"/>
                          </a:solidFill>
                        </a:rPr>
                        <a:t>AI project management tool</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AI Kanban board, AI project management software</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C1B22"/>
                          </a:solidFill>
                        </a:rPr>
                        <a:t>Pricing</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6D3FD4"/>
                          </a:solidFill>
                        </a:rPr>
                        <a:t>free project management software</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free Kanban board, free plan for teams</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C1B22"/>
                          </a:solidFill>
                        </a:rPr>
                        <a:t>MCP page (new)</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6D3FD4"/>
                          </a:solidFill>
                        </a:rPr>
                        <a:t>MCP project management</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MCP server for project management, AI agent context</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C1B22"/>
                          </a:solidFill>
                        </a:rPr>
                        <a:t>Use-case pages (new)</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6D3FD4"/>
                          </a:solidFill>
                        </a:rPr>
                        <a:t>project management for Claude Code</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Cursor project context, Codex task tracking</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C1B22"/>
                          </a:solidFill>
                        </a:rPr>
                        <a:t>Compare pages</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6D3FD4"/>
                          </a:solidFill>
                        </a:rPr>
                        <a:t>free Jira alternative</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Linear, Trello, Asana, Monday.com alternative</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C1B22"/>
                          </a:solidFill>
                        </a:rPr>
                        <a:t>Feature pages</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6D3FD4"/>
                          </a:solidFill>
                        </a:rPr>
                        <a:t>AI risk scoring</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developer burnout detection, AI sprint planning</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C1B22"/>
                          </a:solidFill>
                        </a:rPr>
                        <a:t>Blog</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6D3FD4"/>
                          </a:solidFill>
                        </a:rPr>
                        <a:t>how-to and “best of” questions</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10 high-intent posts in Month 2</a:t>
                      </a:r>
                      <a:endParaRPr lang="en-US" sz="1150" dirty="0"/>
                    </a:p>
                  </a:txBody>
                  <a:tcPr marL="91440" marR="91440" marT="27432" marB="27432"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AUTHORITY  ·  TOP 10 PRODUCT LISTINGS</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Ten listings buyers and AI assistants check first</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Capterra, GetApp and Software Advice share one Gartner Digital Markets vendor account: three listings for one setup.</a:t>
            </a:r>
            <a:endParaRPr lang="en-US" sz="1250" dirty="0"/>
          </a:p>
        </p:txBody>
      </p:sp>
      <p:graphicFrame>
        <p:nvGraphicFramePr>
          <p:cNvPr id="8" name="Product listings table"/>
          <p:cNvGraphicFramePr>
            <a:graphicFrameLocks noGrp="1"/>
          </p:cNvGraphicFramePr>
          <p:nvPr>
            <p:extLst>
              <p:ext uri="{D42A27DB-BD31-4B8C-83A1-F6EECF244321}">
                <p14:modId xmlns:p14="http://schemas.microsoft.com/office/powerpoint/2010/main" val="1579011935"/>
              </p:ext>
            </p:extLst>
          </p:nvPr>
        </p:nvGraphicFramePr>
        <p:xfrm>
          <a:off x="502920" y="1600200"/>
          <a:ext cx="11183112" cy="914400"/>
        </p:xfrm>
        <a:graphic>
          <a:graphicData uri="http://schemas.openxmlformats.org/drawingml/2006/table">
            <a:tbl>
              <a:tblPr/>
              <a:tblGrid>
                <a:gridCol w="457200"/>
                <a:gridCol w="1965960"/>
                <a:gridCol w="4846320"/>
                <a:gridCol w="3913632"/>
              </a:tblGrid>
              <a:tr h="347472">
                <a:tc>
                  <a:txBody>
                    <a:bodyPr/>
                    <a:lstStyle/>
                    <a:p>
                      <a:pPr indent="0" marL="0">
                        <a:buNone/>
                      </a:pPr>
                      <a:r>
                        <a:rPr lang="en-US" sz="1100" b="1" dirty="0">
                          <a:solidFill>
                            <a:srgbClr val="FFFFFF"/>
                          </a:solidFill>
                        </a:rPr>
                        <a:t>#</a:t>
                      </a:r>
                      <a:endParaRPr lang="en-US" sz="110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1C1B22"/>
                    </a:solidFill>
                  </a:tcPr>
                </a:tc>
                <a:tc>
                  <a:txBody>
                    <a:bodyPr/>
                    <a:lstStyle/>
                    <a:p>
                      <a:pPr indent="0" marL="0">
                        <a:buNone/>
                      </a:pPr>
                      <a:r>
                        <a:rPr lang="en-US" sz="1100" b="1" dirty="0">
                          <a:solidFill>
                            <a:srgbClr val="FFFFFF"/>
                          </a:solidFill>
                        </a:rPr>
                        <a:t>Platform</a:t>
                      </a:r>
                      <a:endParaRPr lang="en-US" sz="110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1C1B22"/>
                    </a:solidFill>
                  </a:tcPr>
                </a:tc>
                <a:tc>
                  <a:txBody>
                    <a:bodyPr/>
                    <a:lstStyle/>
                    <a:p>
                      <a:pPr indent="0" marL="0">
                        <a:buNone/>
                      </a:pPr>
                      <a:r>
                        <a:rPr lang="en-US" sz="1100" b="1" dirty="0">
                          <a:solidFill>
                            <a:srgbClr val="FFFFFF"/>
                          </a:solidFill>
                        </a:rPr>
                        <a:t>Why it matters for Taskive</a:t>
                      </a:r>
                      <a:endParaRPr lang="en-US" sz="110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1C1B22"/>
                    </a:solidFill>
                  </a:tcPr>
                </a:tc>
                <a:tc>
                  <a:txBody>
                    <a:bodyPr/>
                    <a:lstStyle/>
                    <a:p>
                      <a:pPr indent="0" marL="0">
                        <a:buNone/>
                      </a:pPr>
                      <a:r>
                        <a:rPr lang="en-US" sz="1100" b="1" dirty="0">
                          <a:solidFill>
                            <a:srgbClr val="FFFFFF"/>
                          </a:solidFill>
                        </a:rPr>
                        <a:t>Where Taskive gets listed</a:t>
                      </a:r>
                      <a:endParaRPr lang="en-US" sz="110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1C1B22"/>
                    </a:solidFill>
                  </a:tcPr>
                </a:tc>
              </a:tr>
              <a:tr h="402336">
                <a:tc>
                  <a:txBody>
                    <a:bodyPr/>
                    <a:lstStyle/>
                    <a:p>
                      <a:pPr algn="ctr" indent="0" marL="0">
                        <a:buNone/>
                      </a:pPr>
                      <a:r>
                        <a:rPr lang="en-US" sz="1150" b="1" dirty="0">
                          <a:solidFill>
                            <a:srgbClr val="8B5CF6"/>
                          </a:solidFill>
                        </a:rPr>
                        <a:t>1</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1C1B22"/>
                          </a:solidFill>
                        </a:rPr>
                        <a:t>G2</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Largest B2B software review marketplace; the first proof buyers look for</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u="sng" dirty="0">
                          <a:solidFill>
                            <a:srgbClr val="6D3FD4"/>
                          </a:solidFill>
                          <a:hlinkClick r:id="rId1" invalidUrl="" action="" tgtFrame="" tooltip="" history="1" highlightClick="0" endSnd="0">
                            <a:extLst>
                              <a:ext uri="{A12FA001-AC4F-418D-AE19-62706E023703}">
                                <ahyp:hlinkClr xmlns:ahyp="http://schemas.microsoft.com/office/drawing/2018/hyperlinkcolor" val="tx"/>
                              </a:ext>
                            </a:extLst>
                          </a:hlinkClick>
                        </a:rPr>
                        <a:t>g2.com/categories/project-management</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rgbClr val="8B5CF6"/>
                          </a:solidFill>
                        </a:rPr>
                        <a:t>2</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1C1B22"/>
                          </a:solidFill>
                        </a:rPr>
                        <a:t>Capterra</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Category pages rank for “best project management software” searches</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u="sng" dirty="0">
                          <a:solidFill>
                            <a:srgbClr val="6D3FD4"/>
                          </a:solidFill>
                          <a:hlinkClick r:id="rId2" invalidUrl="" action="" tgtFrame="" tooltip="" history="1" highlightClick="0" endSnd="0">
                            <a:extLst>
                              <a:ext uri="{A12FA001-AC4F-418D-AE19-62706E023703}">
                                <ahyp:hlinkClr xmlns:ahyp="http://schemas.microsoft.com/office/drawing/2018/hyperlinkcolor" val="tx"/>
                              </a:ext>
                            </a:extLst>
                          </a:hlinkClick>
                        </a:rPr>
                        <a:t>capterra.com/project-management-software</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rgbClr val="8B5CF6"/>
                          </a:solidFill>
                        </a:rPr>
                        <a:t>3</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1C1B22"/>
                          </a:solidFill>
                        </a:rPr>
                        <a:t>Product Hunt</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Launch-day spike, a strong backlink and reviews from early adopters</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u="sng" dirty="0">
                          <a:solidFill>
                            <a:srgbClr val="6D3FD4"/>
                          </a:solidFill>
                          <a:hlinkClick r:id="rId3" invalidUrl="" action="" tgtFrame="" tooltip="" history="1" highlightClick="0" endSnd="0">
                            <a:extLst>
                              <a:ext uri="{A12FA001-AC4F-418D-AE19-62706E023703}">
                                <ahyp:hlinkClr xmlns:ahyp="http://schemas.microsoft.com/office/drawing/2018/hyperlinkcolor" val="tx"/>
                              </a:ext>
                            </a:extLst>
                          </a:hlinkClick>
                        </a:rPr>
                        <a:t>producthunt.com</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rgbClr val="8B5CF6"/>
                          </a:solidFill>
                        </a:rPr>
                        <a:t>4</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1C1B22"/>
                          </a:solidFill>
                        </a:rPr>
                        <a:t>TrustRadius</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In-depth, verified reviews that B2B buyers trust</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u="sng" dirty="0">
                          <a:solidFill>
                            <a:srgbClr val="6D3FD4"/>
                          </a:solidFill>
                          <a:hlinkClick r:id="rId4" invalidUrl="" action="" tgtFrame="" tooltip="" history="1" highlightClick="0" endSnd="0">
                            <a:extLst>
                              <a:ext uri="{A12FA001-AC4F-418D-AE19-62706E023703}">
                                <ahyp:hlinkClr xmlns:ahyp="http://schemas.microsoft.com/office/drawing/2018/hyperlinkcolor" val="tx"/>
                              </a:ext>
                            </a:extLst>
                          </a:hlinkClick>
                        </a:rPr>
                        <a:t>trustradius.com/project-management</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rgbClr val="8B5CF6"/>
                          </a:solidFill>
                        </a:rPr>
                        <a:t>5</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1C1B22"/>
                          </a:solidFill>
                        </a:rPr>
                        <a:t>Gartner Peer Insights</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Enterprise credibility in the Collaborative Work Management market</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u="sng" dirty="0">
                          <a:solidFill>
                            <a:srgbClr val="6D3FD4"/>
                          </a:solidFill>
                          <a:hlinkClick r:id="rId5" invalidUrl="" action="" tgtFrame="" tooltip="" history="1" highlightClick="0" endSnd="0">
                            <a:extLst>
                              <a:ext uri="{A12FA001-AC4F-418D-AE19-62706E023703}">
                                <ahyp:hlinkClr xmlns:ahyp="http://schemas.microsoft.com/office/drawing/2018/hyperlinkcolor" val="tx"/>
                              </a:ext>
                            </a:extLst>
                          </a:hlinkClick>
                        </a:rPr>
                        <a:t>gartner.com/reviews/market/collaborative-work-management</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rgbClr val="8B5CF6"/>
                          </a:solidFill>
                        </a:rPr>
                        <a:t>6</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1C1B22"/>
                          </a:solidFill>
                        </a:rPr>
                        <a:t>SourceForge</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High-authority software directory with category and comparison pages</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u="sng" dirty="0">
                          <a:solidFill>
                            <a:srgbClr val="6D3FD4"/>
                          </a:solidFill>
                          <a:hlinkClick r:id="rId6" invalidUrl="" action="" tgtFrame="" tooltip="" history="1" highlightClick="0" endSnd="0">
                            <a:extLst>
                              <a:ext uri="{A12FA001-AC4F-418D-AE19-62706E023703}">
                                <ahyp:hlinkClr xmlns:ahyp="http://schemas.microsoft.com/office/drawing/2018/hyperlinkcolor" val="tx"/>
                              </a:ext>
                            </a:extLst>
                          </a:hlinkClick>
                        </a:rPr>
                        <a:t>sourceforge.net/software/project-management</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rgbClr val="8B5CF6"/>
                          </a:solidFill>
                        </a:rPr>
                        <a:t>7</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1C1B22"/>
                          </a:solidFill>
                        </a:rPr>
                        <a:t>GetApp</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Comparison shoppers filtering for free plans</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u="sng" dirty="0">
                          <a:solidFill>
                            <a:srgbClr val="6D3FD4"/>
                          </a:solidFill>
                          <a:hlinkClick r:id="rId7" invalidUrl="" action="" tgtFrame="" tooltip="" history="1" highlightClick="0" endSnd="0">
                            <a:extLst>
                              <a:ext uri="{A12FA001-AC4F-418D-AE19-62706E023703}">
                                <ahyp:hlinkClr xmlns:ahyp="http://schemas.microsoft.com/office/drawing/2018/hyperlinkcolor" val="tx"/>
                              </a:ext>
                            </a:extLst>
                          </a:hlinkClick>
                        </a:rPr>
                        <a:t>getapp.com/project-management-planning-software</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rgbClr val="8B5CF6"/>
                          </a:solidFill>
                        </a:rPr>
                        <a:t>8</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1C1B22"/>
                          </a:solidFill>
                        </a:rPr>
                        <a:t>Software Advice</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Advisor-led buyers in the project management category</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u="sng" dirty="0">
                          <a:solidFill>
                            <a:srgbClr val="6D3FD4"/>
                          </a:solidFill>
                          <a:hlinkClick r:id="rId8" invalidUrl="" action="" tgtFrame="" tooltip="" history="1" highlightClick="0" endSnd="0">
                            <a:extLst>
                              <a:ext uri="{A12FA001-AC4F-418D-AE19-62706E023703}">
                                <ahyp:hlinkClr xmlns:ahyp="http://schemas.microsoft.com/office/drawing/2018/hyperlinkcolor" val="tx"/>
                              </a:ext>
                            </a:extLst>
                          </a:hlinkClick>
                        </a:rPr>
                        <a:t>softwareadvice.com/project-management</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rgbClr val="8B5CF6"/>
                          </a:solidFill>
                        </a:rPr>
                        <a:t>9</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1C1B22"/>
                          </a:solidFill>
                        </a:rPr>
                        <a:t>AlternativeTo</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Catches people searching for a Jira or Trello replacement</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u="sng" dirty="0">
                          <a:solidFill>
                            <a:srgbClr val="6D3FD4"/>
                          </a:solidFill>
                          <a:hlinkClick r:id="rId9" invalidUrl="" action="" tgtFrame="" tooltip="" history="1" highlightClick="0" endSnd="0">
                            <a:extLst>
                              <a:ext uri="{A12FA001-AC4F-418D-AE19-62706E023703}">
                                <ahyp:hlinkClr xmlns:ahyp="http://schemas.microsoft.com/office/drawing/2018/hyperlinkcolor" val="tx"/>
                              </a:ext>
                            </a:extLst>
                          </a:hlinkClick>
                        </a:rPr>
                        <a:t>alternativeto.net/software/jira</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rgbClr val="8B5CF6"/>
                          </a:solidFill>
                        </a:rPr>
                        <a:t>10</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1C1B22"/>
                          </a:solidFill>
                        </a:rPr>
                        <a:t>SaaSHub</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dirty="0">
                          <a:solidFill>
                            <a:srgbClr val="6E6B7B"/>
                          </a:solidFill>
                        </a:rPr>
                        <a:t>“Alternatives to” pages for Jira, Linear and Trello</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c>
                  <a:txBody>
                    <a:bodyPr/>
                    <a:lstStyle/>
                    <a:p>
                      <a:pPr indent="0" marL="0">
                        <a:buNone/>
                      </a:pPr>
                      <a:r>
                        <a:rPr lang="en-US" sz="1150" u="sng" dirty="0">
                          <a:solidFill>
                            <a:srgbClr val="6D3FD4"/>
                          </a:solidFill>
                          <a:hlinkClick r:id="rId10" invalidUrl="" action="" tgtFrame="" tooltip="" history="1" highlightClick="0" endSnd="0">
                            <a:extLst>
                              <a:ext uri="{A12FA001-AC4F-418D-AE19-62706E023703}">
                                <ahyp:hlinkClr xmlns:ahyp="http://schemas.microsoft.com/office/drawing/2018/hyperlinkcolor" val="tx"/>
                              </a:ext>
                            </a:extLst>
                          </a:hlinkClick>
                        </a:rPr>
                        <a:t>saashub.com/jira-alternatives</a:t>
                      </a:r>
                      <a:endParaRPr lang="en-US" sz="1150" dirty="0"/>
                    </a:p>
                  </a:txBody>
                  <a:tcPr marL="91440" marR="91440" marT="18288" marB="18288" anchor="ctr">
                    <a:lnL w="9525" cap="flat" cmpd="sng" algn="ctr">
                      <a:solidFill>
                        <a:srgbClr val="E2DEF7"/>
                      </a:solidFill>
                      <a:prstDash val="solid"/>
                      <a:round/>
                      <a:headEnd type="none" w="med" len="med"/>
                      <a:tailEnd type="none" w="med" len="med"/>
                    </a:lnL>
                    <a:lnR w="9525" cap="flat" cmpd="sng" algn="ctr">
                      <a:solidFill>
                        <a:srgbClr val="E2DEF7"/>
                      </a:solidFill>
                      <a:prstDash val="solid"/>
                      <a:round/>
                      <a:headEnd type="none" w="med" len="med"/>
                      <a:tailEnd type="none" w="med" len="med"/>
                    </a:lnR>
                    <a:lnT w="9525" cap="flat" cmpd="sng" algn="ctr">
                      <a:solidFill>
                        <a:srgbClr val="E2DEF7"/>
                      </a:solidFill>
                      <a:prstDash val="solid"/>
                      <a:round/>
                      <a:headEnd type="none" w="med" len="med"/>
                      <a:tailEnd type="none" w="med" len="med"/>
                    </a:lnT>
                    <a:lnB w="9525" cap="flat" cmpd="sng" algn="ctr">
                      <a:solidFill>
                        <a:srgbClr val="E2DEF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AUTHORITY  ·  AI AND DEVELOPER DIRECTORIES</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Be listed where developers shop for AI tools</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The MCP connector is Taskive’s sharpest differentiator. These directories are where people choose MCP tools.</a:t>
            </a:r>
            <a:endParaRPr lang="en-US" sz="1250" dirty="0"/>
          </a:p>
        </p:txBody>
      </p:sp>
      <p:sp>
        <p:nvSpPr>
          <p:cNvPr id="5" name="Directory column"/>
          <p:cNvSpPr/>
          <p:nvPr/>
        </p:nvSpPr>
        <p:spPr>
          <a:xfrm>
            <a:off x="502920" y="1645920"/>
            <a:ext cx="3544824" cy="4343400"/>
          </a:xfrm>
          <a:prstGeom prst="roundRect">
            <a:avLst>
              <a:gd name="adj" fmla="val 2064"/>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6" name="Icon circle"/>
          <p:cNvSpPr/>
          <p:nvPr/>
        </p:nvSpPr>
        <p:spPr>
          <a:xfrm>
            <a:off x="777240" y="1920240"/>
            <a:ext cx="548640" cy="548640"/>
          </a:xfrm>
          <a:prstGeom prst="ellipse">
            <a:avLst/>
          </a:prstGeom>
          <a:solidFill>
            <a:srgbClr val="8B5CF6"/>
          </a:solidFill>
          <a:ln w="12700">
            <a:solidFill>
              <a:srgbClr val="8B5CF6"/>
            </a:solidFill>
            <a:prstDash val="solid"/>
          </a:ln>
        </p:spPr>
      </p:sp>
      <p:pic>
        <p:nvPicPr>
          <p:cNvPr id="7" name="Icon" descr="preencoded.png">    </p:cNvPr>
          <p:cNvPicPr>
            <a:picLocks noChangeAspect="1"/>
          </p:cNvPicPr>
          <p:nvPr/>
        </p:nvPicPr>
        <p:blipFill>
          <a:blip r:embed="rId1"/>
          <a:stretch>
            <a:fillRect/>
          </a:stretch>
        </p:blipFill>
        <p:spPr>
          <a:xfrm>
            <a:off x="919886" y="2062886"/>
            <a:ext cx="263347" cy="263347"/>
          </a:xfrm>
          <a:prstGeom prst="rect">
            <a:avLst/>
          </a:prstGeom>
        </p:spPr>
      </p:pic>
      <p:sp>
        <p:nvSpPr>
          <p:cNvPr id="8" name="Text 5"/>
          <p:cNvSpPr txBox="1"/>
          <p:nvPr/>
        </p:nvSpPr>
        <p:spPr>
          <a:xfrm>
            <a:off x="1463040" y="1965960"/>
            <a:ext cx="2356104" cy="457200"/>
          </a:xfrm>
          <a:prstGeom prst="rect">
            <a:avLst/>
          </a:prstGeom>
          <a:noFill/>
          <a:ln/>
        </p:spPr>
        <p:txBody>
          <a:bodyPr wrap="square" lIns="0" tIns="0" rIns="0" bIns="0" rtlCol="0" anchor="ctr"/>
          <a:lstStyle/>
          <a:p>
            <a:pPr indent="0" marL="0">
              <a:buNone/>
            </a:pPr>
            <a:r>
              <a:rPr lang="en-US" sz="1600" b="1" dirty="0">
                <a:solidFill>
                  <a:schemeClr val="tx1"/>
                </a:solidFill>
              </a:rPr>
              <a:t>MCP directories</a:t>
            </a:r>
            <a:endParaRPr lang="en-US" sz="1600" dirty="0"/>
          </a:p>
        </p:txBody>
      </p:sp>
      <p:sp>
        <p:nvSpPr>
          <p:cNvPr id="9" name="Text 6"/>
          <p:cNvSpPr txBox="1"/>
          <p:nvPr/>
        </p:nvSpPr>
        <p:spPr>
          <a:xfrm>
            <a:off x="777240" y="2697480"/>
            <a:ext cx="2264664" cy="274320"/>
          </a:xfrm>
          <a:prstGeom prst="rect">
            <a:avLst/>
          </a:prstGeom>
          <a:noFill/>
          <a:ln/>
        </p:spPr>
        <p:txBody>
          <a:bodyPr wrap="square" lIns="0" tIns="0" rIns="0" bIns="0" rtlCol="0" anchor="t"/>
          <a:lstStyle/>
          <a:p>
            <a:pPr indent="0" marL="0">
              <a:buNone/>
            </a:pPr>
            <a:r>
              <a:rPr lang="en-US" sz="1300" b="1" dirty="0">
                <a:solidFill>
                  <a:schemeClr val="tx1"/>
                </a:solidFill>
              </a:rPr>
              <a:t>Official MCP Registry</a:t>
            </a:r>
            <a:endParaRPr lang="en-US" sz="1300" dirty="0"/>
          </a:p>
        </p:txBody>
      </p:sp>
      <p:sp>
        <p:nvSpPr>
          <p:cNvPr id="10" name="Text 7"/>
          <p:cNvSpPr txBox="1"/>
          <p:nvPr/>
        </p:nvSpPr>
        <p:spPr>
          <a:xfrm>
            <a:off x="777240" y="2971800"/>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2" invalidUrl="" action="" tgtFrame="" tooltip="" history="1" highlightClick="0" endSnd="0">
                  <a:extLst>
                    <a:ext uri="{A12FA001-AC4F-418D-AE19-62706E023703}">
                      <ahyp:hlinkClr xmlns:ahyp="http://schemas.microsoft.com/office/drawing/2018/hyperlinkcolor" val="tx"/>
                    </a:ext>
                  </a:extLst>
                </a:hlinkClick>
              </a:rPr>
              <a:t>registry.modelcontextprotocol.io</a:t>
            </a:r>
            <a:endParaRPr lang="en-US" sz="1150" dirty="0"/>
          </a:p>
        </p:txBody>
      </p:sp>
      <p:sp>
        <p:nvSpPr>
          <p:cNvPr id="11" name="Text 8"/>
          <p:cNvSpPr txBox="1"/>
          <p:nvPr/>
        </p:nvSpPr>
        <p:spPr>
          <a:xfrm>
            <a:off x="777240" y="3319272"/>
            <a:ext cx="2264664" cy="274320"/>
          </a:xfrm>
          <a:prstGeom prst="rect">
            <a:avLst/>
          </a:prstGeom>
          <a:noFill/>
          <a:ln/>
        </p:spPr>
        <p:txBody>
          <a:bodyPr wrap="square" lIns="0" tIns="0" rIns="0" bIns="0" rtlCol="0" anchor="t"/>
          <a:lstStyle/>
          <a:p>
            <a:pPr indent="0" marL="0">
              <a:buNone/>
            </a:pPr>
            <a:r>
              <a:rPr lang="en-US" sz="1300" b="1" dirty="0">
                <a:solidFill>
                  <a:schemeClr val="tx1"/>
                </a:solidFill>
              </a:rPr>
              <a:t>Glama</a:t>
            </a:r>
            <a:endParaRPr lang="en-US" sz="1300" dirty="0"/>
          </a:p>
        </p:txBody>
      </p:sp>
      <p:sp>
        <p:nvSpPr>
          <p:cNvPr id="12" name="Live tag"/>
          <p:cNvSpPr txBox="1"/>
          <p:nvPr/>
        </p:nvSpPr>
        <p:spPr>
          <a:xfrm>
            <a:off x="3087624" y="3319272"/>
            <a:ext cx="685800" cy="237744"/>
          </a:xfrm>
          <a:prstGeom prst="rect">
            <a:avLst/>
          </a:prstGeom>
          <a:solidFill>
            <a:srgbClr val="E4F6EF"/>
          </a:solidFill>
          <a:ln/>
        </p:spPr>
        <p:txBody>
          <a:bodyPr wrap="square" lIns="0" tIns="0" rIns="0" bIns="0" rtlCol="0" anchor="ctr"/>
          <a:lstStyle/>
          <a:p>
            <a:pPr algn="ctr" indent="0" marL="0">
              <a:buNone/>
            </a:pPr>
            <a:r>
              <a:rPr lang="en-US" sz="900" b="1" dirty="0">
                <a:solidFill>
                  <a:srgbClr val="179C6E"/>
                </a:solidFill>
              </a:rPr>
              <a:t>LIVE</a:t>
            </a:r>
            <a:endParaRPr lang="en-US" sz="900" dirty="0"/>
          </a:p>
        </p:txBody>
      </p:sp>
      <p:sp>
        <p:nvSpPr>
          <p:cNvPr id="13" name="Text 10"/>
          <p:cNvSpPr txBox="1"/>
          <p:nvPr/>
        </p:nvSpPr>
        <p:spPr>
          <a:xfrm>
            <a:off x="777240" y="3593592"/>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3" invalidUrl="" action="" tgtFrame="" tooltip="" history="1" highlightClick="0" endSnd="0">
                  <a:extLst>
                    <a:ext uri="{A12FA001-AC4F-418D-AE19-62706E023703}">
                      <ahyp:hlinkClr xmlns:ahyp="http://schemas.microsoft.com/office/drawing/2018/hyperlinkcolor" val="tx"/>
                    </a:ext>
                  </a:extLst>
                </a:hlinkClick>
              </a:rPr>
              <a:t>glama.ai/mcp</a:t>
            </a:r>
            <a:endParaRPr lang="en-US" sz="1150" dirty="0"/>
          </a:p>
        </p:txBody>
      </p:sp>
      <p:sp>
        <p:nvSpPr>
          <p:cNvPr id="14" name="Text 11"/>
          <p:cNvSpPr txBox="1"/>
          <p:nvPr/>
        </p:nvSpPr>
        <p:spPr>
          <a:xfrm>
            <a:off x="777240" y="3941064"/>
            <a:ext cx="2264664" cy="274320"/>
          </a:xfrm>
          <a:prstGeom prst="rect">
            <a:avLst/>
          </a:prstGeom>
          <a:noFill/>
          <a:ln/>
        </p:spPr>
        <p:txBody>
          <a:bodyPr wrap="square" lIns="0" tIns="0" rIns="0" bIns="0" rtlCol="0" anchor="t"/>
          <a:lstStyle/>
          <a:p>
            <a:pPr indent="0" marL="0">
              <a:buNone/>
            </a:pPr>
            <a:r>
              <a:rPr lang="en-US" sz="1300" b="1" dirty="0">
                <a:solidFill>
                  <a:schemeClr val="tx1"/>
                </a:solidFill>
              </a:rPr>
              <a:t>Smithery</a:t>
            </a:r>
            <a:endParaRPr lang="en-US" sz="1300" dirty="0"/>
          </a:p>
        </p:txBody>
      </p:sp>
      <p:sp>
        <p:nvSpPr>
          <p:cNvPr id="15" name="Text 12"/>
          <p:cNvSpPr txBox="1"/>
          <p:nvPr/>
        </p:nvSpPr>
        <p:spPr>
          <a:xfrm>
            <a:off x="777240" y="4215384"/>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4" invalidUrl="" action="" tgtFrame="" tooltip="" history="1" highlightClick="0" endSnd="0">
                  <a:extLst>
                    <a:ext uri="{A12FA001-AC4F-418D-AE19-62706E023703}">
                      <ahyp:hlinkClr xmlns:ahyp="http://schemas.microsoft.com/office/drawing/2018/hyperlinkcolor" val="tx"/>
                    </a:ext>
                  </a:extLst>
                </a:hlinkClick>
              </a:rPr>
              <a:t>smithery.ai</a:t>
            </a:r>
            <a:endParaRPr lang="en-US" sz="1150" dirty="0"/>
          </a:p>
        </p:txBody>
      </p:sp>
      <p:sp>
        <p:nvSpPr>
          <p:cNvPr id="16" name="Text 13"/>
          <p:cNvSpPr txBox="1"/>
          <p:nvPr/>
        </p:nvSpPr>
        <p:spPr>
          <a:xfrm>
            <a:off x="777240" y="4562856"/>
            <a:ext cx="2264664" cy="274320"/>
          </a:xfrm>
          <a:prstGeom prst="rect">
            <a:avLst/>
          </a:prstGeom>
          <a:noFill/>
          <a:ln/>
        </p:spPr>
        <p:txBody>
          <a:bodyPr wrap="square" lIns="0" tIns="0" rIns="0" bIns="0" rtlCol="0" anchor="t"/>
          <a:lstStyle/>
          <a:p>
            <a:pPr indent="0" marL="0">
              <a:buNone/>
            </a:pPr>
            <a:r>
              <a:rPr lang="en-US" sz="1300" b="1" dirty="0">
                <a:solidFill>
                  <a:schemeClr val="tx1"/>
                </a:solidFill>
              </a:rPr>
              <a:t>PulseMCP</a:t>
            </a:r>
            <a:endParaRPr lang="en-US" sz="1300" dirty="0"/>
          </a:p>
        </p:txBody>
      </p:sp>
      <p:sp>
        <p:nvSpPr>
          <p:cNvPr id="17" name="Text 14"/>
          <p:cNvSpPr txBox="1"/>
          <p:nvPr/>
        </p:nvSpPr>
        <p:spPr>
          <a:xfrm>
            <a:off x="777240" y="4837176"/>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5" invalidUrl="" action="" tgtFrame="" tooltip="" history="1" highlightClick="0" endSnd="0">
                  <a:extLst>
                    <a:ext uri="{A12FA001-AC4F-418D-AE19-62706E023703}">
                      <ahyp:hlinkClr xmlns:ahyp="http://schemas.microsoft.com/office/drawing/2018/hyperlinkcolor" val="tx"/>
                    </a:ext>
                  </a:extLst>
                </a:hlinkClick>
              </a:rPr>
              <a:t>pulsemcp.com</a:t>
            </a:r>
            <a:endParaRPr lang="en-US" sz="1150" dirty="0"/>
          </a:p>
        </p:txBody>
      </p:sp>
      <p:sp>
        <p:nvSpPr>
          <p:cNvPr id="18" name="Text 15"/>
          <p:cNvSpPr txBox="1"/>
          <p:nvPr/>
        </p:nvSpPr>
        <p:spPr>
          <a:xfrm>
            <a:off x="777240" y="5184648"/>
            <a:ext cx="2264664" cy="274320"/>
          </a:xfrm>
          <a:prstGeom prst="rect">
            <a:avLst/>
          </a:prstGeom>
          <a:noFill/>
          <a:ln/>
        </p:spPr>
        <p:txBody>
          <a:bodyPr wrap="square" lIns="0" tIns="0" rIns="0" bIns="0" rtlCol="0" anchor="t"/>
          <a:lstStyle/>
          <a:p>
            <a:pPr indent="0" marL="0">
              <a:buNone/>
            </a:pPr>
            <a:r>
              <a:rPr lang="en-US" sz="1300" b="1" dirty="0">
                <a:solidFill>
                  <a:schemeClr val="tx1"/>
                </a:solidFill>
              </a:rPr>
              <a:t>MCP.so</a:t>
            </a:r>
            <a:endParaRPr lang="en-US" sz="1300" dirty="0"/>
          </a:p>
        </p:txBody>
      </p:sp>
      <p:sp>
        <p:nvSpPr>
          <p:cNvPr id="19" name="Text 16"/>
          <p:cNvSpPr txBox="1"/>
          <p:nvPr/>
        </p:nvSpPr>
        <p:spPr>
          <a:xfrm>
            <a:off x="777240" y="5458968"/>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6" invalidUrl="" action="" tgtFrame="" tooltip="" history="1" highlightClick="0" endSnd="0">
                  <a:extLst>
                    <a:ext uri="{A12FA001-AC4F-418D-AE19-62706E023703}">
                      <ahyp:hlinkClr xmlns:ahyp="http://schemas.microsoft.com/office/drawing/2018/hyperlinkcolor" val="tx"/>
                    </a:ext>
                  </a:extLst>
                </a:hlinkClick>
              </a:rPr>
              <a:t>mcp.so</a:t>
            </a:r>
            <a:endParaRPr lang="en-US" sz="1150" dirty="0"/>
          </a:p>
        </p:txBody>
      </p:sp>
      <p:sp>
        <p:nvSpPr>
          <p:cNvPr id="20" name="Directory column"/>
          <p:cNvSpPr/>
          <p:nvPr/>
        </p:nvSpPr>
        <p:spPr>
          <a:xfrm>
            <a:off x="4322064" y="1645920"/>
            <a:ext cx="3544824" cy="4343400"/>
          </a:xfrm>
          <a:prstGeom prst="roundRect">
            <a:avLst>
              <a:gd name="adj" fmla="val 2064"/>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1" name="Icon circle"/>
          <p:cNvSpPr/>
          <p:nvPr/>
        </p:nvSpPr>
        <p:spPr>
          <a:xfrm>
            <a:off x="4596384" y="1920240"/>
            <a:ext cx="548640" cy="548640"/>
          </a:xfrm>
          <a:prstGeom prst="ellipse">
            <a:avLst/>
          </a:prstGeom>
          <a:solidFill>
            <a:srgbClr val="8B5CF6"/>
          </a:solidFill>
          <a:ln w="12700">
            <a:solidFill>
              <a:srgbClr val="8B5CF6"/>
            </a:solidFill>
            <a:prstDash val="solid"/>
          </a:ln>
        </p:spPr>
      </p:sp>
      <p:pic>
        <p:nvPicPr>
          <p:cNvPr id="22" name="Icon" descr="preencoded.png">    </p:cNvPr>
          <p:cNvPicPr>
            <a:picLocks noChangeAspect="1"/>
          </p:cNvPicPr>
          <p:nvPr/>
        </p:nvPicPr>
        <p:blipFill>
          <a:blip r:embed="rId7"/>
          <a:stretch>
            <a:fillRect/>
          </a:stretch>
        </p:blipFill>
        <p:spPr>
          <a:xfrm>
            <a:off x="4739030" y="2062886"/>
            <a:ext cx="263347" cy="263347"/>
          </a:xfrm>
          <a:prstGeom prst="rect">
            <a:avLst/>
          </a:prstGeom>
        </p:spPr>
      </p:pic>
      <p:sp>
        <p:nvSpPr>
          <p:cNvPr id="23" name="Text 19"/>
          <p:cNvSpPr txBox="1"/>
          <p:nvPr/>
        </p:nvSpPr>
        <p:spPr>
          <a:xfrm>
            <a:off x="5282184" y="1965960"/>
            <a:ext cx="2356104" cy="457200"/>
          </a:xfrm>
          <a:prstGeom prst="rect">
            <a:avLst/>
          </a:prstGeom>
          <a:noFill/>
          <a:ln/>
        </p:spPr>
        <p:txBody>
          <a:bodyPr wrap="square" lIns="0" tIns="0" rIns="0" bIns="0" rtlCol="0" anchor="ctr"/>
          <a:lstStyle/>
          <a:p>
            <a:pPr indent="0" marL="0">
              <a:buNone/>
            </a:pPr>
            <a:r>
              <a:rPr lang="en-US" sz="1600" b="1" dirty="0">
                <a:solidFill>
                  <a:schemeClr val="tx1"/>
                </a:solidFill>
              </a:rPr>
              <a:t>AI tool directories</a:t>
            </a:r>
            <a:endParaRPr lang="en-US" sz="1600" dirty="0"/>
          </a:p>
        </p:txBody>
      </p:sp>
      <p:sp>
        <p:nvSpPr>
          <p:cNvPr id="24" name="Text 20"/>
          <p:cNvSpPr txBox="1"/>
          <p:nvPr/>
        </p:nvSpPr>
        <p:spPr>
          <a:xfrm>
            <a:off x="4596384" y="2697480"/>
            <a:ext cx="2264664" cy="274320"/>
          </a:xfrm>
          <a:prstGeom prst="rect">
            <a:avLst/>
          </a:prstGeom>
          <a:noFill/>
          <a:ln/>
        </p:spPr>
        <p:txBody>
          <a:bodyPr wrap="square" lIns="0" tIns="0" rIns="0" bIns="0" rtlCol="0" anchor="t"/>
          <a:lstStyle/>
          <a:p>
            <a:pPr indent="0" marL="0">
              <a:buNone/>
            </a:pPr>
            <a:r>
              <a:rPr lang="en-US" sz="1300" b="1" dirty="0">
                <a:solidFill>
                  <a:schemeClr val="tx1"/>
                </a:solidFill>
              </a:rPr>
              <a:t>There’s An AI For That</a:t>
            </a:r>
            <a:endParaRPr lang="en-US" sz="1300" dirty="0"/>
          </a:p>
        </p:txBody>
      </p:sp>
      <p:sp>
        <p:nvSpPr>
          <p:cNvPr id="25" name="Text 21"/>
          <p:cNvSpPr txBox="1"/>
          <p:nvPr/>
        </p:nvSpPr>
        <p:spPr>
          <a:xfrm>
            <a:off x="4596384" y="2971800"/>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8" invalidUrl="" action="" tgtFrame="" tooltip="" history="1" highlightClick="0" endSnd="0">
                  <a:extLst>
                    <a:ext uri="{A12FA001-AC4F-418D-AE19-62706E023703}">
                      <ahyp:hlinkClr xmlns:ahyp="http://schemas.microsoft.com/office/drawing/2018/hyperlinkcolor" val="tx"/>
                    </a:ext>
                  </a:extLst>
                </a:hlinkClick>
              </a:rPr>
              <a:t>theresanaiforthat.com</a:t>
            </a:r>
            <a:endParaRPr lang="en-US" sz="1150" dirty="0"/>
          </a:p>
        </p:txBody>
      </p:sp>
      <p:sp>
        <p:nvSpPr>
          <p:cNvPr id="26" name="Text 22"/>
          <p:cNvSpPr txBox="1"/>
          <p:nvPr/>
        </p:nvSpPr>
        <p:spPr>
          <a:xfrm>
            <a:off x="4596384" y="3319272"/>
            <a:ext cx="2264664" cy="274320"/>
          </a:xfrm>
          <a:prstGeom prst="rect">
            <a:avLst/>
          </a:prstGeom>
          <a:noFill/>
          <a:ln/>
        </p:spPr>
        <p:txBody>
          <a:bodyPr wrap="square" lIns="0" tIns="0" rIns="0" bIns="0" rtlCol="0" anchor="t"/>
          <a:lstStyle/>
          <a:p>
            <a:pPr indent="0" marL="0">
              <a:buNone/>
            </a:pPr>
            <a:r>
              <a:rPr lang="en-US" sz="1300" b="1" dirty="0">
                <a:solidFill>
                  <a:schemeClr val="tx1"/>
                </a:solidFill>
              </a:rPr>
              <a:t>Futurepedia</a:t>
            </a:r>
            <a:endParaRPr lang="en-US" sz="1300" dirty="0"/>
          </a:p>
        </p:txBody>
      </p:sp>
      <p:sp>
        <p:nvSpPr>
          <p:cNvPr id="27" name="Text 23"/>
          <p:cNvSpPr txBox="1"/>
          <p:nvPr/>
        </p:nvSpPr>
        <p:spPr>
          <a:xfrm>
            <a:off x="4596384" y="3593592"/>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9" invalidUrl="" action="" tgtFrame="" tooltip="" history="1" highlightClick="0" endSnd="0">
                  <a:extLst>
                    <a:ext uri="{A12FA001-AC4F-418D-AE19-62706E023703}">
                      <ahyp:hlinkClr xmlns:ahyp="http://schemas.microsoft.com/office/drawing/2018/hyperlinkcolor" val="tx"/>
                    </a:ext>
                  </a:extLst>
                </a:hlinkClick>
              </a:rPr>
              <a:t>futurepedia.io</a:t>
            </a:r>
            <a:endParaRPr lang="en-US" sz="1150" dirty="0"/>
          </a:p>
        </p:txBody>
      </p:sp>
      <p:sp>
        <p:nvSpPr>
          <p:cNvPr id="28" name="Text 24"/>
          <p:cNvSpPr txBox="1"/>
          <p:nvPr/>
        </p:nvSpPr>
        <p:spPr>
          <a:xfrm>
            <a:off x="4596384" y="3941064"/>
            <a:ext cx="2264664" cy="274320"/>
          </a:xfrm>
          <a:prstGeom prst="rect">
            <a:avLst/>
          </a:prstGeom>
          <a:noFill/>
          <a:ln/>
        </p:spPr>
        <p:txBody>
          <a:bodyPr wrap="square" lIns="0" tIns="0" rIns="0" bIns="0" rtlCol="0" anchor="t"/>
          <a:lstStyle/>
          <a:p>
            <a:pPr indent="0" marL="0">
              <a:buNone/>
            </a:pPr>
            <a:r>
              <a:rPr lang="en-US" sz="1300" b="1" dirty="0">
                <a:solidFill>
                  <a:schemeClr val="tx1"/>
                </a:solidFill>
              </a:rPr>
              <a:t>Toolify</a:t>
            </a:r>
            <a:endParaRPr lang="en-US" sz="1300" dirty="0"/>
          </a:p>
        </p:txBody>
      </p:sp>
      <p:sp>
        <p:nvSpPr>
          <p:cNvPr id="29" name="Text 25"/>
          <p:cNvSpPr txBox="1"/>
          <p:nvPr/>
        </p:nvSpPr>
        <p:spPr>
          <a:xfrm>
            <a:off x="4596384" y="4215384"/>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10" invalidUrl="" action="" tgtFrame="" tooltip="" history="1" highlightClick="0" endSnd="0">
                  <a:extLst>
                    <a:ext uri="{A12FA001-AC4F-418D-AE19-62706E023703}">
                      <ahyp:hlinkClr xmlns:ahyp="http://schemas.microsoft.com/office/drawing/2018/hyperlinkcolor" val="tx"/>
                    </a:ext>
                  </a:extLst>
                </a:hlinkClick>
              </a:rPr>
              <a:t>toolify.ai</a:t>
            </a:r>
            <a:endParaRPr lang="en-US" sz="1150" dirty="0"/>
          </a:p>
        </p:txBody>
      </p:sp>
      <p:sp>
        <p:nvSpPr>
          <p:cNvPr id="30" name="Text 26"/>
          <p:cNvSpPr txBox="1"/>
          <p:nvPr/>
        </p:nvSpPr>
        <p:spPr>
          <a:xfrm>
            <a:off x="4596384" y="4562856"/>
            <a:ext cx="2264664" cy="274320"/>
          </a:xfrm>
          <a:prstGeom prst="rect">
            <a:avLst/>
          </a:prstGeom>
          <a:noFill/>
          <a:ln/>
        </p:spPr>
        <p:txBody>
          <a:bodyPr wrap="square" lIns="0" tIns="0" rIns="0" bIns="0" rtlCol="0" anchor="t"/>
          <a:lstStyle/>
          <a:p>
            <a:pPr indent="0" marL="0">
              <a:buNone/>
            </a:pPr>
            <a:r>
              <a:rPr lang="en-US" sz="1300" b="1" dirty="0">
                <a:solidFill>
                  <a:schemeClr val="tx1"/>
                </a:solidFill>
              </a:rPr>
              <a:t>Future Tools</a:t>
            </a:r>
            <a:endParaRPr lang="en-US" sz="1300" dirty="0"/>
          </a:p>
        </p:txBody>
      </p:sp>
      <p:sp>
        <p:nvSpPr>
          <p:cNvPr id="31" name="Text 27"/>
          <p:cNvSpPr txBox="1"/>
          <p:nvPr/>
        </p:nvSpPr>
        <p:spPr>
          <a:xfrm>
            <a:off x="4596384" y="4837176"/>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11" invalidUrl="" action="" tgtFrame="" tooltip="" history="1" highlightClick="0" endSnd="0">
                  <a:extLst>
                    <a:ext uri="{A12FA001-AC4F-418D-AE19-62706E023703}">
                      <ahyp:hlinkClr xmlns:ahyp="http://schemas.microsoft.com/office/drawing/2018/hyperlinkcolor" val="tx"/>
                    </a:ext>
                  </a:extLst>
                </a:hlinkClick>
              </a:rPr>
              <a:t>futuretools.io</a:t>
            </a:r>
            <a:endParaRPr lang="en-US" sz="1150" dirty="0"/>
          </a:p>
        </p:txBody>
      </p:sp>
      <p:sp>
        <p:nvSpPr>
          <p:cNvPr id="32" name="Text 28"/>
          <p:cNvSpPr txBox="1"/>
          <p:nvPr/>
        </p:nvSpPr>
        <p:spPr>
          <a:xfrm>
            <a:off x="4596384" y="5184648"/>
            <a:ext cx="2264664" cy="274320"/>
          </a:xfrm>
          <a:prstGeom prst="rect">
            <a:avLst/>
          </a:prstGeom>
          <a:noFill/>
          <a:ln/>
        </p:spPr>
        <p:txBody>
          <a:bodyPr wrap="square" lIns="0" tIns="0" rIns="0" bIns="0" rtlCol="0" anchor="t"/>
          <a:lstStyle/>
          <a:p>
            <a:pPr indent="0" marL="0">
              <a:buNone/>
            </a:pPr>
            <a:r>
              <a:rPr lang="en-US" sz="1300" b="1" dirty="0">
                <a:solidFill>
                  <a:schemeClr val="tx1"/>
                </a:solidFill>
              </a:rPr>
              <a:t>TopAI.tools</a:t>
            </a:r>
            <a:endParaRPr lang="en-US" sz="1300" dirty="0"/>
          </a:p>
        </p:txBody>
      </p:sp>
      <p:sp>
        <p:nvSpPr>
          <p:cNvPr id="33" name="Text 29"/>
          <p:cNvSpPr txBox="1"/>
          <p:nvPr/>
        </p:nvSpPr>
        <p:spPr>
          <a:xfrm>
            <a:off x="4596384" y="5458968"/>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12" invalidUrl="" action="" tgtFrame="" tooltip="" history="1" highlightClick="0" endSnd="0">
                  <a:extLst>
                    <a:ext uri="{A12FA001-AC4F-418D-AE19-62706E023703}">
                      <ahyp:hlinkClr xmlns:ahyp="http://schemas.microsoft.com/office/drawing/2018/hyperlinkcolor" val="tx"/>
                    </a:ext>
                  </a:extLst>
                </a:hlinkClick>
              </a:rPr>
              <a:t>topai.tools</a:t>
            </a:r>
            <a:endParaRPr lang="en-US" sz="1150" dirty="0"/>
          </a:p>
        </p:txBody>
      </p:sp>
      <p:sp>
        <p:nvSpPr>
          <p:cNvPr id="34" name="Directory column"/>
          <p:cNvSpPr/>
          <p:nvPr/>
        </p:nvSpPr>
        <p:spPr>
          <a:xfrm>
            <a:off x="8141208" y="1645920"/>
            <a:ext cx="3544824" cy="4343400"/>
          </a:xfrm>
          <a:prstGeom prst="roundRect">
            <a:avLst>
              <a:gd name="adj" fmla="val 2064"/>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35" name="Icon circle"/>
          <p:cNvSpPr/>
          <p:nvPr/>
        </p:nvSpPr>
        <p:spPr>
          <a:xfrm>
            <a:off x="8415528" y="1920240"/>
            <a:ext cx="548640" cy="548640"/>
          </a:xfrm>
          <a:prstGeom prst="ellipse">
            <a:avLst/>
          </a:prstGeom>
          <a:solidFill>
            <a:srgbClr val="8B5CF6"/>
          </a:solidFill>
          <a:ln w="12700">
            <a:solidFill>
              <a:srgbClr val="8B5CF6"/>
            </a:solidFill>
            <a:prstDash val="solid"/>
          </a:ln>
        </p:spPr>
      </p:sp>
      <p:pic>
        <p:nvPicPr>
          <p:cNvPr id="36" name="Icon" descr="preencoded.png">    </p:cNvPr>
          <p:cNvPicPr>
            <a:picLocks noChangeAspect="1"/>
          </p:cNvPicPr>
          <p:nvPr/>
        </p:nvPicPr>
        <p:blipFill>
          <a:blip r:embed="rId13"/>
          <a:stretch>
            <a:fillRect/>
          </a:stretch>
        </p:blipFill>
        <p:spPr>
          <a:xfrm>
            <a:off x="8558174" y="2062886"/>
            <a:ext cx="263347" cy="263347"/>
          </a:xfrm>
          <a:prstGeom prst="rect">
            <a:avLst/>
          </a:prstGeom>
        </p:spPr>
      </p:pic>
      <p:sp>
        <p:nvSpPr>
          <p:cNvPr id="37" name="Text 32"/>
          <p:cNvSpPr txBox="1"/>
          <p:nvPr/>
        </p:nvSpPr>
        <p:spPr>
          <a:xfrm>
            <a:off x="9101328" y="1965960"/>
            <a:ext cx="2356104" cy="457200"/>
          </a:xfrm>
          <a:prstGeom prst="rect">
            <a:avLst/>
          </a:prstGeom>
          <a:noFill/>
          <a:ln/>
        </p:spPr>
        <p:txBody>
          <a:bodyPr wrap="square" lIns="0" tIns="0" rIns="0" bIns="0" rtlCol="0" anchor="ctr"/>
          <a:lstStyle/>
          <a:p>
            <a:pPr indent="0" marL="0">
              <a:buNone/>
            </a:pPr>
            <a:r>
              <a:rPr lang="en-US" sz="1600" b="1" dirty="0">
                <a:solidFill>
                  <a:schemeClr val="tx1"/>
                </a:solidFill>
              </a:rPr>
              <a:t>Developer launch platforms</a:t>
            </a:r>
            <a:endParaRPr lang="en-US" sz="1600" dirty="0"/>
          </a:p>
        </p:txBody>
      </p:sp>
      <p:sp>
        <p:nvSpPr>
          <p:cNvPr id="38" name="Text 33"/>
          <p:cNvSpPr txBox="1"/>
          <p:nvPr/>
        </p:nvSpPr>
        <p:spPr>
          <a:xfrm>
            <a:off x="8415528" y="2697480"/>
            <a:ext cx="2264664" cy="274320"/>
          </a:xfrm>
          <a:prstGeom prst="rect">
            <a:avLst/>
          </a:prstGeom>
          <a:noFill/>
          <a:ln/>
        </p:spPr>
        <p:txBody>
          <a:bodyPr wrap="square" lIns="0" tIns="0" rIns="0" bIns="0" rtlCol="0" anchor="t"/>
          <a:lstStyle/>
          <a:p>
            <a:pPr indent="0" marL="0">
              <a:buNone/>
            </a:pPr>
            <a:r>
              <a:rPr lang="en-US" sz="1300" b="1" dirty="0">
                <a:solidFill>
                  <a:schemeClr val="tx1"/>
                </a:solidFill>
              </a:rPr>
              <a:t>Hacker News (Show HN)</a:t>
            </a:r>
            <a:endParaRPr lang="en-US" sz="1300" dirty="0"/>
          </a:p>
        </p:txBody>
      </p:sp>
      <p:sp>
        <p:nvSpPr>
          <p:cNvPr id="39" name="Text 34"/>
          <p:cNvSpPr txBox="1"/>
          <p:nvPr/>
        </p:nvSpPr>
        <p:spPr>
          <a:xfrm>
            <a:off x="8415528" y="2971800"/>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14" invalidUrl="" action="" tgtFrame="" tooltip="" history="1" highlightClick="0" endSnd="0">
                  <a:extLst>
                    <a:ext uri="{A12FA001-AC4F-418D-AE19-62706E023703}">
                      <ahyp:hlinkClr xmlns:ahyp="http://schemas.microsoft.com/office/drawing/2018/hyperlinkcolor" val="tx"/>
                    </a:ext>
                  </a:extLst>
                </a:hlinkClick>
              </a:rPr>
              <a:t>news.ycombinator.com/show</a:t>
            </a:r>
            <a:endParaRPr lang="en-US" sz="1150" dirty="0"/>
          </a:p>
        </p:txBody>
      </p:sp>
      <p:sp>
        <p:nvSpPr>
          <p:cNvPr id="40" name="Text 35"/>
          <p:cNvSpPr txBox="1"/>
          <p:nvPr/>
        </p:nvSpPr>
        <p:spPr>
          <a:xfrm>
            <a:off x="8415528" y="3319272"/>
            <a:ext cx="2264664" cy="274320"/>
          </a:xfrm>
          <a:prstGeom prst="rect">
            <a:avLst/>
          </a:prstGeom>
          <a:noFill/>
          <a:ln/>
        </p:spPr>
        <p:txBody>
          <a:bodyPr wrap="square" lIns="0" tIns="0" rIns="0" bIns="0" rtlCol="0" anchor="t"/>
          <a:lstStyle/>
          <a:p>
            <a:pPr indent="0" marL="0">
              <a:buNone/>
            </a:pPr>
            <a:r>
              <a:rPr lang="en-US" sz="1300" b="1" dirty="0">
                <a:solidFill>
                  <a:schemeClr val="tx1"/>
                </a:solidFill>
              </a:rPr>
              <a:t>DevHunt</a:t>
            </a:r>
            <a:endParaRPr lang="en-US" sz="1300" dirty="0"/>
          </a:p>
        </p:txBody>
      </p:sp>
      <p:sp>
        <p:nvSpPr>
          <p:cNvPr id="41" name="Text 36"/>
          <p:cNvSpPr txBox="1"/>
          <p:nvPr/>
        </p:nvSpPr>
        <p:spPr>
          <a:xfrm>
            <a:off x="8415528" y="3593592"/>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15" invalidUrl="" action="" tgtFrame="" tooltip="" history="1" highlightClick="0" endSnd="0">
                  <a:extLst>
                    <a:ext uri="{A12FA001-AC4F-418D-AE19-62706E023703}">
                      <ahyp:hlinkClr xmlns:ahyp="http://schemas.microsoft.com/office/drawing/2018/hyperlinkcolor" val="tx"/>
                    </a:ext>
                  </a:extLst>
                </a:hlinkClick>
              </a:rPr>
              <a:t>devhunt.org</a:t>
            </a:r>
            <a:endParaRPr lang="en-US" sz="1150" dirty="0"/>
          </a:p>
        </p:txBody>
      </p:sp>
      <p:sp>
        <p:nvSpPr>
          <p:cNvPr id="42" name="Text 37"/>
          <p:cNvSpPr txBox="1"/>
          <p:nvPr/>
        </p:nvSpPr>
        <p:spPr>
          <a:xfrm>
            <a:off x="8415528" y="3941064"/>
            <a:ext cx="2264664" cy="274320"/>
          </a:xfrm>
          <a:prstGeom prst="rect">
            <a:avLst/>
          </a:prstGeom>
          <a:noFill/>
          <a:ln/>
        </p:spPr>
        <p:txBody>
          <a:bodyPr wrap="square" lIns="0" tIns="0" rIns="0" bIns="0" rtlCol="0" anchor="t"/>
          <a:lstStyle/>
          <a:p>
            <a:pPr indent="0" marL="0">
              <a:buNone/>
            </a:pPr>
            <a:r>
              <a:rPr lang="en-US" sz="1300" b="1" dirty="0">
                <a:solidFill>
                  <a:schemeClr val="tx1"/>
                </a:solidFill>
              </a:rPr>
              <a:t>BetaList</a:t>
            </a:r>
            <a:endParaRPr lang="en-US" sz="1300" dirty="0"/>
          </a:p>
        </p:txBody>
      </p:sp>
      <p:sp>
        <p:nvSpPr>
          <p:cNvPr id="43" name="Text 38"/>
          <p:cNvSpPr txBox="1"/>
          <p:nvPr/>
        </p:nvSpPr>
        <p:spPr>
          <a:xfrm>
            <a:off x="8415528" y="4215384"/>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16" invalidUrl="" action="" tgtFrame="" tooltip="" history="1" highlightClick="0" endSnd="0">
                  <a:extLst>
                    <a:ext uri="{A12FA001-AC4F-418D-AE19-62706E023703}">
                      <ahyp:hlinkClr xmlns:ahyp="http://schemas.microsoft.com/office/drawing/2018/hyperlinkcolor" val="tx"/>
                    </a:ext>
                  </a:extLst>
                </a:hlinkClick>
              </a:rPr>
              <a:t>betalist.com</a:t>
            </a:r>
            <a:endParaRPr lang="en-US" sz="1150" dirty="0"/>
          </a:p>
        </p:txBody>
      </p:sp>
      <p:sp>
        <p:nvSpPr>
          <p:cNvPr id="44" name="Text 39"/>
          <p:cNvSpPr txBox="1"/>
          <p:nvPr/>
        </p:nvSpPr>
        <p:spPr>
          <a:xfrm>
            <a:off x="8415528" y="4562856"/>
            <a:ext cx="2264664" cy="274320"/>
          </a:xfrm>
          <a:prstGeom prst="rect">
            <a:avLst/>
          </a:prstGeom>
          <a:noFill/>
          <a:ln/>
        </p:spPr>
        <p:txBody>
          <a:bodyPr wrap="square" lIns="0" tIns="0" rIns="0" bIns="0" rtlCol="0" anchor="t"/>
          <a:lstStyle/>
          <a:p>
            <a:pPr indent="0" marL="0">
              <a:buNone/>
            </a:pPr>
            <a:r>
              <a:rPr lang="en-US" sz="1300" b="1" dirty="0">
                <a:solidFill>
                  <a:schemeClr val="tx1"/>
                </a:solidFill>
              </a:rPr>
              <a:t>Indie Hackers</a:t>
            </a:r>
            <a:endParaRPr lang="en-US" sz="1300" dirty="0"/>
          </a:p>
        </p:txBody>
      </p:sp>
      <p:sp>
        <p:nvSpPr>
          <p:cNvPr id="45" name="Text 40"/>
          <p:cNvSpPr txBox="1"/>
          <p:nvPr/>
        </p:nvSpPr>
        <p:spPr>
          <a:xfrm>
            <a:off x="8415528" y="4837176"/>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17" invalidUrl="" action="" tgtFrame="" tooltip="" history="1" highlightClick="0" endSnd="0">
                  <a:extLst>
                    <a:ext uri="{A12FA001-AC4F-418D-AE19-62706E023703}">
                      <ahyp:hlinkClr xmlns:ahyp="http://schemas.microsoft.com/office/drawing/2018/hyperlinkcolor" val="tx"/>
                    </a:ext>
                  </a:extLst>
                </a:hlinkClick>
              </a:rPr>
              <a:t>indiehackers.com</a:t>
            </a:r>
            <a:endParaRPr lang="en-US" sz="1150" dirty="0"/>
          </a:p>
        </p:txBody>
      </p:sp>
      <p:sp>
        <p:nvSpPr>
          <p:cNvPr id="46" name="Text 41"/>
          <p:cNvSpPr txBox="1"/>
          <p:nvPr/>
        </p:nvSpPr>
        <p:spPr>
          <a:xfrm>
            <a:off x="8415528" y="5184648"/>
            <a:ext cx="2264664" cy="274320"/>
          </a:xfrm>
          <a:prstGeom prst="rect">
            <a:avLst/>
          </a:prstGeom>
          <a:noFill/>
          <a:ln/>
        </p:spPr>
        <p:txBody>
          <a:bodyPr wrap="square" lIns="0" tIns="0" rIns="0" bIns="0" rtlCol="0" anchor="t"/>
          <a:lstStyle/>
          <a:p>
            <a:pPr indent="0" marL="0">
              <a:buNone/>
            </a:pPr>
            <a:r>
              <a:rPr lang="en-US" sz="1300" b="1" dirty="0">
                <a:solidFill>
                  <a:schemeClr val="tx1"/>
                </a:solidFill>
              </a:rPr>
              <a:t>Peerlist Launchpad</a:t>
            </a:r>
            <a:endParaRPr lang="en-US" sz="1300" dirty="0"/>
          </a:p>
        </p:txBody>
      </p:sp>
      <p:sp>
        <p:nvSpPr>
          <p:cNvPr id="47" name="Text 42"/>
          <p:cNvSpPr txBox="1"/>
          <p:nvPr/>
        </p:nvSpPr>
        <p:spPr>
          <a:xfrm>
            <a:off x="8415528" y="5458968"/>
            <a:ext cx="2996184" cy="256032"/>
          </a:xfrm>
          <a:prstGeom prst="rect">
            <a:avLst/>
          </a:prstGeom>
          <a:noFill/>
          <a:ln/>
        </p:spPr>
        <p:txBody>
          <a:bodyPr wrap="square" lIns="0" tIns="0" rIns="0" bIns="0" rtlCol="0" anchor="t"/>
          <a:lstStyle/>
          <a:p>
            <a:pPr indent="0" marL="0">
              <a:buNone/>
            </a:pPr>
            <a:r>
              <a:rPr lang="en-US" sz="1150" u="sng" dirty="0">
                <a:solidFill>
                  <a:srgbClr val="6D3FD4"/>
                </a:solidFill>
                <a:hlinkClick r:id="rId18" invalidUrl="" action="" tgtFrame="" tooltip="" history="1" highlightClick="0" endSnd="0">
                  <a:extLst>
                    <a:ext uri="{A12FA001-AC4F-418D-AE19-62706E023703}">
                      <ahyp:hlinkClr xmlns:ahyp="http://schemas.microsoft.com/office/drawing/2018/hyperlinkcolor" val="tx"/>
                    </a:ext>
                  </a:extLst>
                </a:hlinkClick>
              </a:rPr>
              <a:t>peerlist.io</a:t>
            </a:r>
            <a:endParaRPr lang="en-US" sz="115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AUTHORITY  ·  BRAND MENTIONS ACROSS DIGITAL PLATFORMS</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Get Taskive talked about where AI assistants listen</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Mentions must be earned: founder answers, real stories, no spam. That is also what platforms and AI models reward.</a:t>
            </a:r>
            <a:endParaRPr lang="en-US" sz="1250" dirty="0"/>
          </a:p>
        </p:txBody>
      </p:sp>
      <p:sp>
        <p:nvSpPr>
          <p:cNvPr id="5" name="Mentions card"/>
          <p:cNvSpPr/>
          <p:nvPr/>
        </p:nvSpPr>
        <p:spPr>
          <a:xfrm>
            <a:off x="502920" y="1600200"/>
            <a:ext cx="5454396" cy="2103120"/>
          </a:xfrm>
          <a:prstGeom prst="roundRect">
            <a:avLst>
              <a:gd name="adj" fmla="val 3478"/>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6" name="Icon circle"/>
          <p:cNvSpPr/>
          <p:nvPr/>
        </p:nvSpPr>
        <p:spPr>
          <a:xfrm>
            <a:off x="731520" y="1801368"/>
            <a:ext cx="457200" cy="457200"/>
          </a:xfrm>
          <a:prstGeom prst="ellipse">
            <a:avLst/>
          </a:prstGeom>
          <a:solidFill>
            <a:srgbClr val="8B5CF6"/>
          </a:solidFill>
          <a:ln w="12700">
            <a:solidFill>
              <a:srgbClr val="8B5CF6"/>
            </a:solidFill>
            <a:prstDash val="solid"/>
          </a:ln>
        </p:spPr>
      </p:sp>
      <p:pic>
        <p:nvPicPr>
          <p:cNvPr id="7" name="Icon" descr="preencoded.png">    </p:cNvPr>
          <p:cNvPicPr>
            <a:picLocks noChangeAspect="1"/>
          </p:cNvPicPr>
          <p:nvPr/>
        </p:nvPicPr>
        <p:blipFill>
          <a:blip r:embed="rId1"/>
          <a:stretch>
            <a:fillRect/>
          </a:stretch>
        </p:blipFill>
        <p:spPr>
          <a:xfrm>
            <a:off x="850392" y="1920240"/>
            <a:ext cx="219456" cy="219456"/>
          </a:xfrm>
          <a:prstGeom prst="rect">
            <a:avLst/>
          </a:prstGeom>
        </p:spPr>
      </p:pic>
      <p:sp>
        <p:nvSpPr>
          <p:cNvPr id="8" name="Text 5"/>
          <p:cNvSpPr txBox="1"/>
          <p:nvPr/>
        </p:nvSpPr>
        <p:spPr>
          <a:xfrm>
            <a:off x="1325880" y="1828800"/>
            <a:ext cx="4448556" cy="384048"/>
          </a:xfrm>
          <a:prstGeom prst="rect">
            <a:avLst/>
          </a:prstGeom>
          <a:noFill/>
          <a:ln/>
        </p:spPr>
        <p:txBody>
          <a:bodyPr wrap="square" lIns="0" tIns="0" rIns="0" bIns="0" rtlCol="0" anchor="ctr"/>
          <a:lstStyle/>
          <a:p>
            <a:pPr indent="0" marL="0">
              <a:buNone/>
            </a:pPr>
            <a:r>
              <a:rPr lang="en-US" sz="1500" b="1" dirty="0">
                <a:solidFill>
                  <a:schemeClr val="tx1"/>
                </a:solidFill>
              </a:rPr>
              <a:t>Communities</a:t>
            </a:r>
            <a:pPr indent="0" marL="0">
              <a:buNone/>
            </a:pPr>
            <a:r>
              <a:rPr lang="en-US" sz="1150" dirty="0">
                <a:solidFill>
                  <a:schemeClr val="accent6"/>
                </a:solidFill>
              </a:rPr>
              <a:t>   Founder answers real questions</a:t>
            </a:r>
            <a:endParaRPr lang="en-US" sz="1500" dirty="0"/>
          </a:p>
        </p:txBody>
      </p:sp>
      <p:sp>
        <p:nvSpPr>
          <p:cNvPr id="9" name="Text 6"/>
          <p:cNvSpPr txBox="1"/>
          <p:nvPr/>
        </p:nvSpPr>
        <p:spPr>
          <a:xfrm>
            <a:off x="777240" y="2350008"/>
            <a:ext cx="4997196" cy="1261872"/>
          </a:xfrm>
          <a:prstGeom prst="rect">
            <a:avLst/>
          </a:prstGeom>
          <a:noFill/>
          <a:ln/>
        </p:spPr>
        <p:txBody>
          <a:bodyPr wrap="square" lIns="0" tIns="0" rIns="0" bIns="0" rtlCol="0" anchor="t"/>
          <a:lstStyle/>
          <a:p>
            <a:pPr indent="0" marL="0">
              <a:spcAft>
                <a:spcPts val="250"/>
              </a:spcAft>
              <a:buNone/>
            </a:pPr>
            <a:r>
              <a:rPr lang="en-US" sz="1150" u="sng" dirty="0">
                <a:solidFill>
                  <a:srgbClr val="6D3FD4"/>
                </a:solidFill>
                <a:hlinkClick r:id="rId2" invalidUrl="" action="" tgtFrame="" tooltip="" history="1" highlightClick="0" endSnd="0">
                  <a:extLst>
                    <a:ext uri="{A12FA001-AC4F-418D-AE19-62706E023703}">
                      <ahyp:hlinkClr xmlns:ahyp="http://schemas.microsoft.com/office/drawing/2018/hyperlinkcolor" val="tx"/>
                    </a:ext>
                  </a:extLst>
                </a:hlinkClick>
              </a:rPr>
              <a:t>reddit.com/r/ClaudeAI</a:t>
            </a:r>
            <a:endParaRPr lang="en-US" sz="1150" dirty="0"/>
          </a:p>
          <a:p>
            <a:pPr indent="0" marL="0">
              <a:spcAft>
                <a:spcPts val="250"/>
              </a:spcAft>
              <a:buNone/>
            </a:pPr>
            <a:r>
              <a:rPr lang="en-US" sz="1150" u="sng" dirty="0">
                <a:solidFill>
                  <a:srgbClr val="6D3FD4"/>
                </a:solidFill>
                <a:hlinkClick r:id="rId3" invalidUrl="" action="" tgtFrame="" tooltip="" history="1" highlightClick="0" endSnd="0">
                  <a:extLst>
                    <a:ext uri="{A12FA001-AC4F-418D-AE19-62706E023703}">
                      <ahyp:hlinkClr xmlns:ahyp="http://schemas.microsoft.com/office/drawing/2018/hyperlinkcolor" val="tx"/>
                    </a:ext>
                  </a:extLst>
                </a:hlinkClick>
              </a:rPr>
              <a:t>reddit.com/r/cursor</a:t>
            </a:r>
            <a:endParaRPr lang="en-US" sz="1150" dirty="0"/>
          </a:p>
          <a:p>
            <a:pPr indent="0" marL="0">
              <a:spcAft>
                <a:spcPts val="250"/>
              </a:spcAft>
              <a:buNone/>
            </a:pPr>
            <a:r>
              <a:rPr lang="en-US" sz="1150" u="sng" dirty="0">
                <a:solidFill>
                  <a:srgbClr val="6D3FD4"/>
                </a:solidFill>
                <a:hlinkClick r:id="rId4" invalidUrl="" action="" tgtFrame="" tooltip="" history="1" highlightClick="0" endSnd="0">
                  <a:extLst>
                    <a:ext uri="{A12FA001-AC4F-418D-AE19-62706E023703}">
                      <ahyp:hlinkClr xmlns:ahyp="http://schemas.microsoft.com/office/drawing/2018/hyperlinkcolor" val="tx"/>
                    </a:ext>
                  </a:extLst>
                </a:hlinkClick>
              </a:rPr>
              <a:t>reddit.com/r/ChatGPTCoding</a:t>
            </a:r>
            <a:endParaRPr lang="en-US" sz="1150" dirty="0"/>
          </a:p>
          <a:p>
            <a:pPr indent="0" marL="0">
              <a:spcAft>
                <a:spcPts val="250"/>
              </a:spcAft>
              <a:buNone/>
            </a:pPr>
            <a:r>
              <a:rPr lang="en-US" sz="1150" u="sng" dirty="0">
                <a:solidFill>
                  <a:srgbClr val="6D3FD4"/>
                </a:solidFill>
                <a:hlinkClick r:id="rId5" invalidUrl="" action="" tgtFrame="" tooltip="" history="1" highlightClick="0" endSnd="0">
                  <a:extLst>
                    <a:ext uri="{A12FA001-AC4F-418D-AE19-62706E023703}">
                      <ahyp:hlinkClr xmlns:ahyp="http://schemas.microsoft.com/office/drawing/2018/hyperlinkcolor" val="tx"/>
                    </a:ext>
                  </a:extLst>
                </a:hlinkClick>
              </a:rPr>
              <a:t>reddit.com/r/projectmanagement</a:t>
            </a:r>
            <a:endParaRPr lang="en-US" sz="1150" dirty="0"/>
          </a:p>
          <a:p>
            <a:pPr indent="0" marL="0">
              <a:spcAft>
                <a:spcPts val="250"/>
              </a:spcAft>
              <a:buNone/>
            </a:pPr>
            <a:r>
              <a:rPr lang="en-US" sz="1150" u="sng" dirty="0">
                <a:solidFill>
                  <a:srgbClr val="6D3FD4"/>
                </a:solidFill>
                <a:hlinkClick r:id="rId6" invalidUrl="" action="" tgtFrame="" tooltip="" history="1" highlightClick="0" endSnd="0">
                  <a:extLst>
                    <a:ext uri="{A12FA001-AC4F-418D-AE19-62706E023703}">
                      <ahyp:hlinkClr xmlns:ahyp="http://schemas.microsoft.com/office/drawing/2018/hyperlinkcolor" val="tx"/>
                    </a:ext>
                  </a:extLst>
                </a:hlinkClick>
              </a:rPr>
              <a:t>news.ycombinator.com</a:t>
            </a:r>
            <a:endParaRPr lang="en-US" sz="1150" dirty="0"/>
          </a:p>
        </p:txBody>
      </p:sp>
      <p:sp>
        <p:nvSpPr>
          <p:cNvPr id="10" name="Mentions card"/>
          <p:cNvSpPr/>
          <p:nvPr/>
        </p:nvSpPr>
        <p:spPr>
          <a:xfrm>
            <a:off x="6231636" y="1600200"/>
            <a:ext cx="5454396" cy="2103120"/>
          </a:xfrm>
          <a:prstGeom prst="roundRect">
            <a:avLst>
              <a:gd name="adj" fmla="val 3478"/>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1" name="Icon circle"/>
          <p:cNvSpPr/>
          <p:nvPr/>
        </p:nvSpPr>
        <p:spPr>
          <a:xfrm>
            <a:off x="6460236" y="1801368"/>
            <a:ext cx="457200" cy="457200"/>
          </a:xfrm>
          <a:prstGeom prst="ellipse">
            <a:avLst/>
          </a:prstGeom>
          <a:solidFill>
            <a:srgbClr val="8B5CF6"/>
          </a:solidFill>
          <a:ln w="12700">
            <a:solidFill>
              <a:srgbClr val="8B5CF6"/>
            </a:solidFill>
            <a:prstDash val="solid"/>
          </a:ln>
        </p:spPr>
      </p:sp>
      <p:pic>
        <p:nvPicPr>
          <p:cNvPr id="12" name="Icon" descr="preencoded.png">    </p:cNvPr>
          <p:cNvPicPr>
            <a:picLocks noChangeAspect="1"/>
          </p:cNvPicPr>
          <p:nvPr/>
        </p:nvPicPr>
        <p:blipFill>
          <a:blip r:embed="rId7"/>
          <a:stretch>
            <a:fillRect/>
          </a:stretch>
        </p:blipFill>
        <p:spPr>
          <a:xfrm>
            <a:off x="6579108" y="1920240"/>
            <a:ext cx="219456" cy="219456"/>
          </a:xfrm>
          <a:prstGeom prst="rect">
            <a:avLst/>
          </a:prstGeom>
        </p:spPr>
      </p:pic>
      <p:sp>
        <p:nvSpPr>
          <p:cNvPr id="13" name="Text 9"/>
          <p:cNvSpPr txBox="1"/>
          <p:nvPr/>
        </p:nvSpPr>
        <p:spPr>
          <a:xfrm>
            <a:off x="7054596" y="1828800"/>
            <a:ext cx="4448556" cy="384048"/>
          </a:xfrm>
          <a:prstGeom prst="rect">
            <a:avLst/>
          </a:prstGeom>
          <a:noFill/>
          <a:ln/>
        </p:spPr>
        <p:txBody>
          <a:bodyPr wrap="square" lIns="0" tIns="0" rIns="0" bIns="0" rtlCol="0" anchor="ctr"/>
          <a:lstStyle/>
          <a:p>
            <a:pPr indent="0" marL="0">
              <a:buNone/>
            </a:pPr>
            <a:r>
              <a:rPr lang="en-US" sz="1500" b="1" dirty="0">
                <a:solidFill>
                  <a:schemeClr val="tx1"/>
                </a:solidFill>
              </a:rPr>
              <a:t>Developer channels</a:t>
            </a:r>
            <a:pPr indent="0" marL="0">
              <a:buNone/>
            </a:pPr>
            <a:r>
              <a:rPr lang="en-US" sz="1150" dirty="0">
                <a:solidFill>
                  <a:schemeClr val="accent6"/>
                </a:solidFill>
              </a:rPr>
              <a:t>   Public MCP repo, guides, curated lists</a:t>
            </a:r>
            <a:endParaRPr lang="en-US" sz="1500" dirty="0"/>
          </a:p>
        </p:txBody>
      </p:sp>
      <p:sp>
        <p:nvSpPr>
          <p:cNvPr id="14" name="Text 10"/>
          <p:cNvSpPr txBox="1"/>
          <p:nvPr/>
        </p:nvSpPr>
        <p:spPr>
          <a:xfrm>
            <a:off x="6505956" y="2350008"/>
            <a:ext cx="4997196" cy="1261872"/>
          </a:xfrm>
          <a:prstGeom prst="rect">
            <a:avLst/>
          </a:prstGeom>
          <a:noFill/>
          <a:ln/>
        </p:spPr>
        <p:txBody>
          <a:bodyPr wrap="square" lIns="0" tIns="0" rIns="0" bIns="0" rtlCol="0" anchor="t"/>
          <a:lstStyle/>
          <a:p>
            <a:pPr indent="0" marL="0">
              <a:spcAft>
                <a:spcPts val="250"/>
              </a:spcAft>
              <a:buNone/>
            </a:pPr>
            <a:r>
              <a:rPr lang="en-US" sz="1150" u="sng" dirty="0">
                <a:solidFill>
                  <a:srgbClr val="6D3FD4"/>
                </a:solidFill>
                <a:hlinkClick r:id="rId8" invalidUrl="" action="" tgtFrame="" tooltip="" history="1" highlightClick="0" endSnd="0">
                  <a:extLst>
                    <a:ext uri="{A12FA001-AC4F-418D-AE19-62706E023703}">
                      <ahyp:hlinkClr xmlns:ahyp="http://schemas.microsoft.com/office/drawing/2018/hyperlinkcolor" val="tx"/>
                    </a:ext>
                  </a:extLst>
                </a:hlinkClick>
              </a:rPr>
              <a:t>github.com</a:t>
            </a:r>
            <a:endParaRPr lang="en-US" sz="1150" dirty="0"/>
          </a:p>
          <a:p>
            <a:pPr indent="0" marL="0">
              <a:spcAft>
                <a:spcPts val="250"/>
              </a:spcAft>
              <a:buNone/>
            </a:pPr>
            <a:r>
              <a:rPr lang="en-US" sz="1150" u="sng" dirty="0">
                <a:solidFill>
                  <a:srgbClr val="6D3FD4"/>
                </a:solidFill>
                <a:hlinkClick r:id="rId9" invalidUrl="" action="" tgtFrame="" tooltip="" history="1" highlightClick="0" endSnd="0">
                  <a:extLst>
                    <a:ext uri="{A12FA001-AC4F-418D-AE19-62706E023703}">
                      <ahyp:hlinkClr xmlns:ahyp="http://schemas.microsoft.com/office/drawing/2018/hyperlinkcolor" val="tx"/>
                    </a:ext>
                  </a:extLst>
                </a:hlinkClick>
              </a:rPr>
              <a:t>github.com/punkpeye/awesome-mcp-servers</a:t>
            </a:r>
            <a:endParaRPr lang="en-US" sz="1150" dirty="0"/>
          </a:p>
          <a:p>
            <a:pPr indent="0" marL="0">
              <a:spcAft>
                <a:spcPts val="250"/>
              </a:spcAft>
              <a:buNone/>
            </a:pPr>
            <a:r>
              <a:rPr lang="en-US" sz="1150" u="sng" dirty="0">
                <a:solidFill>
                  <a:srgbClr val="6D3FD4"/>
                </a:solidFill>
                <a:hlinkClick r:id="rId10" invalidUrl="" action="" tgtFrame="" tooltip="" history="1" highlightClick="0" endSnd="0">
                  <a:extLst>
                    <a:ext uri="{A12FA001-AC4F-418D-AE19-62706E023703}">
                      <ahyp:hlinkClr xmlns:ahyp="http://schemas.microsoft.com/office/drawing/2018/hyperlinkcolor" val="tx"/>
                    </a:ext>
                  </a:extLst>
                </a:hlinkClick>
              </a:rPr>
              <a:t>github.com/TensorBlock/awesome-mcp-servers</a:t>
            </a:r>
            <a:endParaRPr lang="en-US" sz="1150" dirty="0"/>
          </a:p>
          <a:p>
            <a:pPr indent="0" marL="0">
              <a:spcAft>
                <a:spcPts val="250"/>
              </a:spcAft>
              <a:buNone/>
            </a:pPr>
            <a:r>
              <a:rPr lang="en-US" sz="1150" u="sng" dirty="0">
                <a:solidFill>
                  <a:srgbClr val="6D3FD4"/>
                </a:solidFill>
                <a:hlinkClick r:id="rId11" invalidUrl="" action="" tgtFrame="" tooltip="" history="1" highlightClick="0" endSnd="0">
                  <a:extLst>
                    <a:ext uri="{A12FA001-AC4F-418D-AE19-62706E023703}">
                      <ahyp:hlinkClr xmlns:ahyp="http://schemas.microsoft.com/office/drawing/2018/hyperlinkcolor" val="tx"/>
                    </a:ext>
                  </a:extLst>
                </a:hlinkClick>
              </a:rPr>
              <a:t>dev.to</a:t>
            </a:r>
            <a:endParaRPr lang="en-US" sz="1150" dirty="0"/>
          </a:p>
          <a:p>
            <a:pPr indent="0" marL="0">
              <a:spcAft>
                <a:spcPts val="250"/>
              </a:spcAft>
              <a:buNone/>
            </a:pPr>
            <a:r>
              <a:rPr lang="en-US" sz="1150" u="sng" dirty="0">
                <a:solidFill>
                  <a:srgbClr val="6D3FD4"/>
                </a:solidFill>
                <a:hlinkClick r:id="rId12" invalidUrl="" action="" tgtFrame="" tooltip="" history="1" highlightClick="0" endSnd="0">
                  <a:extLst>
                    <a:ext uri="{A12FA001-AC4F-418D-AE19-62706E023703}">
                      <ahyp:hlinkClr xmlns:ahyp="http://schemas.microsoft.com/office/drawing/2018/hyperlinkcolor" val="tx"/>
                    </a:ext>
                  </a:extLst>
                </a:hlinkClick>
              </a:rPr>
              <a:t>hashnode.com</a:t>
            </a:r>
            <a:endParaRPr lang="en-US" sz="1150" dirty="0"/>
          </a:p>
        </p:txBody>
      </p:sp>
      <p:sp>
        <p:nvSpPr>
          <p:cNvPr id="15" name="Mentions card"/>
          <p:cNvSpPr/>
          <p:nvPr/>
        </p:nvSpPr>
        <p:spPr>
          <a:xfrm>
            <a:off x="502920" y="3931920"/>
            <a:ext cx="5454396" cy="2103120"/>
          </a:xfrm>
          <a:prstGeom prst="roundRect">
            <a:avLst>
              <a:gd name="adj" fmla="val 3478"/>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6" name="Icon circle"/>
          <p:cNvSpPr/>
          <p:nvPr/>
        </p:nvSpPr>
        <p:spPr>
          <a:xfrm>
            <a:off x="731520" y="4133088"/>
            <a:ext cx="457200" cy="457200"/>
          </a:xfrm>
          <a:prstGeom prst="ellipse">
            <a:avLst/>
          </a:prstGeom>
          <a:solidFill>
            <a:srgbClr val="8B5CF6"/>
          </a:solidFill>
          <a:ln w="12700">
            <a:solidFill>
              <a:srgbClr val="8B5CF6"/>
            </a:solidFill>
            <a:prstDash val="solid"/>
          </a:ln>
        </p:spPr>
      </p:sp>
      <p:pic>
        <p:nvPicPr>
          <p:cNvPr id="17" name="Icon" descr="preencoded.png">    </p:cNvPr>
          <p:cNvPicPr>
            <a:picLocks noChangeAspect="1"/>
          </p:cNvPicPr>
          <p:nvPr/>
        </p:nvPicPr>
        <p:blipFill>
          <a:blip r:embed="rId13"/>
          <a:stretch>
            <a:fillRect/>
          </a:stretch>
        </p:blipFill>
        <p:spPr>
          <a:xfrm>
            <a:off x="850392" y="4251960"/>
            <a:ext cx="219456" cy="219456"/>
          </a:xfrm>
          <a:prstGeom prst="rect">
            <a:avLst/>
          </a:prstGeom>
        </p:spPr>
      </p:pic>
      <p:sp>
        <p:nvSpPr>
          <p:cNvPr id="18" name="Text 13"/>
          <p:cNvSpPr txBox="1"/>
          <p:nvPr/>
        </p:nvSpPr>
        <p:spPr>
          <a:xfrm>
            <a:off x="1325880" y="4160520"/>
            <a:ext cx="4448556" cy="384048"/>
          </a:xfrm>
          <a:prstGeom prst="rect">
            <a:avLst/>
          </a:prstGeom>
          <a:noFill/>
          <a:ln/>
        </p:spPr>
        <p:txBody>
          <a:bodyPr wrap="square" lIns="0" tIns="0" rIns="0" bIns="0" rtlCol="0" anchor="ctr"/>
          <a:lstStyle/>
          <a:p>
            <a:pPr indent="0" marL="0">
              <a:buNone/>
            </a:pPr>
            <a:r>
              <a:rPr lang="en-US" sz="1500" b="1" dirty="0">
                <a:solidFill>
                  <a:schemeClr val="tx1"/>
                </a:solidFill>
              </a:rPr>
              <a:t>“Best of” articles AI cites</a:t>
            </a:r>
            <a:pPr indent="0" marL="0">
              <a:buNone/>
            </a:pPr>
            <a:r>
              <a:rPr lang="en-US" sz="1150" dirty="0">
                <a:solidFill>
                  <a:schemeClr val="accent6"/>
                </a:solidFill>
              </a:rPr>
              <a:t>   Outreach to be included</a:t>
            </a:r>
            <a:endParaRPr lang="en-US" sz="1500" dirty="0"/>
          </a:p>
        </p:txBody>
      </p:sp>
      <p:sp>
        <p:nvSpPr>
          <p:cNvPr id="19" name="Text 14"/>
          <p:cNvSpPr txBox="1"/>
          <p:nvPr/>
        </p:nvSpPr>
        <p:spPr>
          <a:xfrm>
            <a:off x="777240" y="4681728"/>
            <a:ext cx="4997196" cy="1261872"/>
          </a:xfrm>
          <a:prstGeom prst="rect">
            <a:avLst/>
          </a:prstGeom>
          <a:noFill/>
          <a:ln/>
        </p:spPr>
        <p:txBody>
          <a:bodyPr wrap="square" lIns="0" tIns="0" rIns="0" bIns="0" rtlCol="0" anchor="t"/>
          <a:lstStyle/>
          <a:p>
            <a:pPr indent="0" marL="0">
              <a:spcAft>
                <a:spcPts val="250"/>
              </a:spcAft>
              <a:buNone/>
            </a:pPr>
            <a:r>
              <a:rPr lang="en-US" sz="1150" u="sng" dirty="0">
                <a:solidFill>
                  <a:srgbClr val="6D3FD4"/>
                </a:solidFill>
                <a:hlinkClick r:id="rId14" invalidUrl="" action="" tgtFrame="" tooltip="" history="1" highlightClick="0" endSnd="0">
                  <a:extLst>
                    <a:ext uri="{A12FA001-AC4F-418D-AE19-62706E023703}">
                      <ahyp:hlinkClr xmlns:ahyp="http://schemas.microsoft.com/office/drawing/2018/hyperlinkcolor" val="tx"/>
                    </a:ext>
                  </a:extLst>
                </a:hlinkClick>
              </a:rPr>
              <a:t>thedigitalprojectmanager.com/tools/best-ai-project-management-tools</a:t>
            </a:r>
            <a:endParaRPr lang="en-US" sz="1150" dirty="0"/>
          </a:p>
          <a:p>
            <a:pPr indent="0" marL="0">
              <a:spcAft>
                <a:spcPts val="250"/>
              </a:spcAft>
              <a:buNone/>
            </a:pPr>
            <a:r>
              <a:rPr lang="en-US" sz="1150" u="sng" dirty="0">
                <a:solidFill>
                  <a:srgbClr val="6D3FD4"/>
                </a:solidFill>
                <a:hlinkClick r:id="rId15" invalidUrl="" action="" tgtFrame="" tooltip="" history="1" highlightClick="0" endSnd="0">
                  <a:extLst>
                    <a:ext uri="{A12FA001-AC4F-418D-AE19-62706E023703}">
                      <ahyp:hlinkClr xmlns:ahyp="http://schemas.microsoft.com/office/drawing/2018/hyperlinkcolor" val="tx"/>
                    </a:ext>
                  </a:extLst>
                </a:hlinkClick>
              </a:rPr>
              <a:t>productive.io/blog/ai-project-management-tools</a:t>
            </a:r>
            <a:endParaRPr lang="en-US" sz="1150" dirty="0"/>
          </a:p>
          <a:p>
            <a:pPr indent="0" marL="0">
              <a:spcAft>
                <a:spcPts val="250"/>
              </a:spcAft>
              <a:buNone/>
            </a:pPr>
            <a:r>
              <a:rPr lang="en-US" sz="1150" u="sng" dirty="0">
                <a:solidFill>
                  <a:srgbClr val="6D3FD4"/>
                </a:solidFill>
                <a:hlinkClick r:id="rId16" invalidUrl="" action="" tgtFrame="" tooltip="" history="1" highlightClick="0" endSnd="0">
                  <a:extLst>
                    <a:ext uri="{A12FA001-AC4F-418D-AE19-62706E023703}">
                      <ahyp:hlinkClr xmlns:ahyp="http://schemas.microsoft.com/office/drawing/2018/hyperlinkcolor" val="tx"/>
                    </a:ext>
                  </a:extLst>
                </a:hlinkClick>
              </a:rPr>
              <a:t>project-management.com/best-ai-project-management-tools</a:t>
            </a:r>
            <a:endParaRPr lang="en-US" sz="1150" dirty="0"/>
          </a:p>
          <a:p>
            <a:pPr indent="0" marL="0">
              <a:spcAft>
                <a:spcPts val="250"/>
              </a:spcAft>
              <a:buNone/>
            </a:pPr>
            <a:r>
              <a:rPr lang="en-US" sz="1150" u="sng" dirty="0">
                <a:solidFill>
                  <a:srgbClr val="6D3FD4"/>
                </a:solidFill>
                <a:hlinkClick r:id="rId17" invalidUrl="" action="" tgtFrame="" tooltip="" history="1" highlightClick="0" endSnd="0">
                  <a:extLst>
                    <a:ext uri="{A12FA001-AC4F-418D-AE19-62706E023703}">
                      <ahyp:hlinkClr xmlns:ahyp="http://schemas.microsoft.com/office/drawing/2018/hyperlinkcolor" val="tx"/>
                    </a:ext>
                  </a:extLst>
                </a:hlinkClick>
              </a:rPr>
              <a:t>accelo.com/blog/10-best-ai-project-management-software</a:t>
            </a:r>
            <a:endParaRPr lang="en-US" sz="1150" dirty="0"/>
          </a:p>
          <a:p>
            <a:pPr indent="0" marL="0">
              <a:spcAft>
                <a:spcPts val="250"/>
              </a:spcAft>
              <a:buNone/>
            </a:pPr>
            <a:r>
              <a:rPr lang="en-US" sz="1150" u="sng" dirty="0">
                <a:solidFill>
                  <a:srgbClr val="6D3FD4"/>
                </a:solidFill>
                <a:hlinkClick r:id="rId18" invalidUrl="" action="" tgtFrame="" tooltip="" history="1" highlightClick="0" endSnd="0">
                  <a:extLst>
                    <a:ext uri="{A12FA001-AC4F-418D-AE19-62706E023703}">
                      <ahyp:hlinkClr xmlns:ahyp="http://schemas.microsoft.com/office/drawing/2018/hyperlinkcolor" val="tx"/>
                    </a:ext>
                  </a:extLst>
                </a:hlinkClick>
              </a:rPr>
              <a:t>agiflow.io/blog/mcp-project-management-tools</a:t>
            </a:r>
            <a:endParaRPr lang="en-US" sz="1150" dirty="0"/>
          </a:p>
        </p:txBody>
      </p:sp>
      <p:sp>
        <p:nvSpPr>
          <p:cNvPr id="20" name="Mentions card"/>
          <p:cNvSpPr/>
          <p:nvPr/>
        </p:nvSpPr>
        <p:spPr>
          <a:xfrm>
            <a:off x="6231636" y="3931920"/>
            <a:ext cx="5454396" cy="2103120"/>
          </a:xfrm>
          <a:prstGeom prst="roundRect">
            <a:avLst>
              <a:gd name="adj" fmla="val 3478"/>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1" name="Icon circle"/>
          <p:cNvSpPr/>
          <p:nvPr/>
        </p:nvSpPr>
        <p:spPr>
          <a:xfrm>
            <a:off x="6460236" y="4133088"/>
            <a:ext cx="457200" cy="457200"/>
          </a:xfrm>
          <a:prstGeom prst="ellipse">
            <a:avLst/>
          </a:prstGeom>
          <a:solidFill>
            <a:srgbClr val="8B5CF6"/>
          </a:solidFill>
          <a:ln w="12700">
            <a:solidFill>
              <a:srgbClr val="8B5CF6"/>
            </a:solidFill>
            <a:prstDash val="solid"/>
          </a:ln>
        </p:spPr>
      </p:sp>
      <p:pic>
        <p:nvPicPr>
          <p:cNvPr id="22" name="Icon" descr="preencoded.png">    </p:cNvPr>
          <p:cNvPicPr>
            <a:picLocks noChangeAspect="1"/>
          </p:cNvPicPr>
          <p:nvPr/>
        </p:nvPicPr>
        <p:blipFill>
          <a:blip r:embed="rId19"/>
          <a:stretch>
            <a:fillRect/>
          </a:stretch>
        </p:blipFill>
        <p:spPr>
          <a:xfrm>
            <a:off x="6579108" y="4251960"/>
            <a:ext cx="219456" cy="219456"/>
          </a:xfrm>
          <a:prstGeom prst="rect">
            <a:avLst/>
          </a:prstGeom>
        </p:spPr>
      </p:pic>
      <p:sp>
        <p:nvSpPr>
          <p:cNvPr id="23" name="Text 17"/>
          <p:cNvSpPr txBox="1"/>
          <p:nvPr/>
        </p:nvSpPr>
        <p:spPr>
          <a:xfrm>
            <a:off x="7054596" y="4160520"/>
            <a:ext cx="4448556" cy="384048"/>
          </a:xfrm>
          <a:prstGeom prst="rect">
            <a:avLst/>
          </a:prstGeom>
          <a:noFill/>
          <a:ln/>
        </p:spPr>
        <p:txBody>
          <a:bodyPr wrap="square" lIns="0" tIns="0" rIns="0" bIns="0" rtlCol="0" anchor="ctr"/>
          <a:lstStyle/>
          <a:p>
            <a:pPr indent="0" marL="0">
              <a:buNone/>
            </a:pPr>
            <a:r>
              <a:rPr lang="en-US" sz="1500" b="1" dirty="0">
                <a:solidFill>
                  <a:schemeClr val="tx1"/>
                </a:solidFill>
              </a:rPr>
              <a:t>Business and entity profiles</a:t>
            </a:r>
            <a:pPr indent="0" marL="0">
              <a:buNone/>
            </a:pPr>
            <a:r>
              <a:rPr lang="en-US" sz="1150" dirty="0">
                <a:solidFill>
                  <a:schemeClr val="accent6"/>
                </a:solidFill>
              </a:rPr>
              <a:t>   Tell Google who Taskive is</a:t>
            </a:r>
            <a:endParaRPr lang="en-US" sz="1500" dirty="0"/>
          </a:p>
        </p:txBody>
      </p:sp>
      <p:sp>
        <p:nvSpPr>
          <p:cNvPr id="24" name="Text 18"/>
          <p:cNvSpPr txBox="1"/>
          <p:nvPr/>
        </p:nvSpPr>
        <p:spPr>
          <a:xfrm>
            <a:off x="6505956" y="4681728"/>
            <a:ext cx="4997196" cy="1261872"/>
          </a:xfrm>
          <a:prstGeom prst="rect">
            <a:avLst/>
          </a:prstGeom>
          <a:noFill/>
          <a:ln/>
        </p:spPr>
        <p:txBody>
          <a:bodyPr wrap="square" lIns="0" tIns="0" rIns="0" bIns="0" rtlCol="0" anchor="t"/>
          <a:lstStyle/>
          <a:p>
            <a:pPr indent="0" marL="0">
              <a:spcAft>
                <a:spcPts val="250"/>
              </a:spcAft>
              <a:buNone/>
            </a:pPr>
            <a:r>
              <a:rPr lang="en-US" sz="1150" u="sng" dirty="0">
                <a:solidFill>
                  <a:srgbClr val="6D3FD4"/>
                </a:solidFill>
                <a:hlinkClick r:id="rId20" invalidUrl="" action="" tgtFrame="" tooltip="" history="1" highlightClick="0" endSnd="0">
                  <a:extLst>
                    <a:ext uri="{A12FA001-AC4F-418D-AE19-62706E023703}">
                      <ahyp:hlinkClr xmlns:ahyp="http://schemas.microsoft.com/office/drawing/2018/hyperlinkcolor" val="tx"/>
                    </a:ext>
                  </a:extLst>
                </a:hlinkClick>
              </a:rPr>
              <a:t>linkedin.com</a:t>
            </a:r>
            <a:endParaRPr lang="en-US" sz="1150" dirty="0"/>
          </a:p>
          <a:p>
            <a:pPr indent="0" marL="0">
              <a:spcAft>
                <a:spcPts val="250"/>
              </a:spcAft>
              <a:buNone/>
            </a:pPr>
            <a:r>
              <a:rPr lang="en-US" sz="1150" u="sng" dirty="0">
                <a:solidFill>
                  <a:srgbClr val="6D3FD4"/>
                </a:solidFill>
                <a:hlinkClick r:id="rId21" invalidUrl="" action="" tgtFrame="" tooltip="" history="1" highlightClick="0" endSnd="0">
                  <a:extLst>
                    <a:ext uri="{A12FA001-AC4F-418D-AE19-62706E023703}">
                      <ahyp:hlinkClr xmlns:ahyp="http://schemas.microsoft.com/office/drawing/2018/hyperlinkcolor" val="tx"/>
                    </a:ext>
                  </a:extLst>
                </a:hlinkClick>
              </a:rPr>
              <a:t>crunchbase.com</a:t>
            </a:r>
            <a:endParaRPr lang="en-US" sz="1150" dirty="0"/>
          </a:p>
          <a:p>
            <a:pPr indent="0" marL="0">
              <a:spcAft>
                <a:spcPts val="250"/>
              </a:spcAft>
              <a:buNone/>
            </a:pPr>
            <a:r>
              <a:rPr lang="en-US" sz="1150" u="sng" dirty="0">
                <a:solidFill>
                  <a:srgbClr val="6D3FD4"/>
                </a:solidFill>
                <a:hlinkClick r:id="rId22" invalidUrl="" action="" tgtFrame="" tooltip="" history="1" highlightClick="0" endSnd="0">
                  <a:extLst>
                    <a:ext uri="{A12FA001-AC4F-418D-AE19-62706E023703}">
                      <ahyp:hlinkClr xmlns:ahyp="http://schemas.microsoft.com/office/drawing/2018/hyperlinkcolor" val="tx"/>
                    </a:ext>
                  </a:extLst>
                </a:hlinkClick>
              </a:rPr>
              <a:t>wellfound.com</a:t>
            </a:r>
            <a:endParaRPr lang="en-US" sz="1150" dirty="0"/>
          </a:p>
          <a:p>
            <a:pPr indent="0" marL="0">
              <a:spcAft>
                <a:spcPts val="250"/>
              </a:spcAft>
              <a:buNone/>
            </a:pPr>
            <a:r>
              <a:rPr lang="en-US" sz="1150" u="sng" dirty="0">
                <a:solidFill>
                  <a:srgbClr val="6D3FD4"/>
                </a:solidFill>
                <a:hlinkClick r:id="rId23" invalidUrl="" action="" tgtFrame="" tooltip="" history="1" highlightClick="0" endSnd="0">
                  <a:extLst>
                    <a:ext uri="{A12FA001-AC4F-418D-AE19-62706E023703}">
                      <ahyp:hlinkClr xmlns:ahyp="http://schemas.microsoft.com/office/drawing/2018/hyperlinkcolor" val="tx"/>
                    </a:ext>
                  </a:extLst>
                </a:hlinkClick>
              </a:rPr>
              <a:t>wikidata.org</a:t>
            </a:r>
            <a:endParaRPr lang="en-US" sz="1150" dirty="0"/>
          </a:p>
          <a:p>
            <a:pPr indent="0" marL="0">
              <a:spcAft>
                <a:spcPts val="250"/>
              </a:spcAft>
              <a:buNone/>
            </a:pPr>
            <a:r>
              <a:rPr lang="en-US" sz="1150" u="sng" dirty="0">
                <a:solidFill>
                  <a:srgbClr val="6D3FD4"/>
                </a:solidFill>
                <a:hlinkClick r:id="rId24" invalidUrl="" action="" tgtFrame="" tooltip="" history="1" highlightClick="0" endSnd="0">
                  <a:extLst>
                    <a:ext uri="{A12FA001-AC4F-418D-AE19-62706E023703}">
                      <ahyp:hlinkClr xmlns:ahyp="http://schemas.microsoft.com/office/drawing/2018/hyperlinkcolor" val="tx"/>
                    </a:ext>
                  </a:extLst>
                </a:hlinkClick>
              </a:rPr>
              <a:t>youtube.com</a:t>
            </a:r>
            <a:endParaRPr lang="en-US" sz="115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AUTHORITY  ·  OTHER HIGH-IMPACT ACTIVITIES</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Six moves that turn listings into trust</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Every activity produces a mention, a link or a review: the three signals Google and AI both trust.</a:t>
            </a:r>
            <a:endParaRPr lang="en-US" sz="1250" dirty="0"/>
          </a:p>
        </p:txBody>
      </p:sp>
      <p:sp>
        <p:nvSpPr>
          <p:cNvPr id="5" name="Activity card"/>
          <p:cNvSpPr/>
          <p:nvPr/>
        </p:nvSpPr>
        <p:spPr>
          <a:xfrm>
            <a:off x="502920" y="1645920"/>
            <a:ext cx="3544824" cy="2057400"/>
          </a:xfrm>
          <a:prstGeom prst="roundRect">
            <a:avLst>
              <a:gd name="adj" fmla="val 3556"/>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6" name="Icon circle"/>
          <p:cNvSpPr/>
          <p:nvPr/>
        </p:nvSpPr>
        <p:spPr>
          <a:xfrm>
            <a:off x="758952" y="1901952"/>
            <a:ext cx="566928" cy="566928"/>
          </a:xfrm>
          <a:prstGeom prst="ellipse">
            <a:avLst/>
          </a:prstGeom>
          <a:solidFill>
            <a:srgbClr val="8B5CF6"/>
          </a:solidFill>
          <a:ln w="12700">
            <a:solidFill>
              <a:srgbClr val="8B5CF6"/>
            </a:solidFill>
            <a:prstDash val="solid"/>
          </a:ln>
        </p:spPr>
      </p:sp>
      <p:pic>
        <p:nvPicPr>
          <p:cNvPr id="7" name="Icon" descr="preencoded.png">    </p:cNvPr>
          <p:cNvPicPr>
            <a:picLocks noChangeAspect="1"/>
          </p:cNvPicPr>
          <p:nvPr/>
        </p:nvPicPr>
        <p:blipFill>
          <a:blip r:embed="rId1"/>
          <a:stretch>
            <a:fillRect/>
          </a:stretch>
        </p:blipFill>
        <p:spPr>
          <a:xfrm>
            <a:off x="906353" y="2049353"/>
            <a:ext cx="272125" cy="272125"/>
          </a:xfrm>
          <a:prstGeom prst="rect">
            <a:avLst/>
          </a:prstGeom>
        </p:spPr>
      </p:pic>
      <p:sp>
        <p:nvSpPr>
          <p:cNvPr id="8" name="Text 5"/>
          <p:cNvSpPr txBox="1"/>
          <p:nvPr/>
        </p:nvSpPr>
        <p:spPr>
          <a:xfrm>
            <a:off x="758952" y="2578608"/>
            <a:ext cx="3032760" cy="329184"/>
          </a:xfrm>
          <a:prstGeom prst="rect">
            <a:avLst/>
          </a:prstGeom>
          <a:noFill/>
          <a:ln/>
        </p:spPr>
        <p:txBody>
          <a:bodyPr wrap="square" lIns="0" tIns="0" rIns="0" bIns="0" rtlCol="0" anchor="t"/>
          <a:lstStyle/>
          <a:p>
            <a:pPr indent="0" marL="0">
              <a:buNone/>
            </a:pPr>
            <a:r>
              <a:rPr lang="en-US" sz="1500" b="1" dirty="0">
                <a:solidFill>
                  <a:schemeClr val="tx1"/>
                </a:solidFill>
              </a:rPr>
              <a:t>Fix the brand mix-up</a:t>
            </a:r>
            <a:endParaRPr lang="en-US" sz="1500" dirty="0"/>
          </a:p>
        </p:txBody>
      </p:sp>
      <p:sp>
        <p:nvSpPr>
          <p:cNvPr id="9" name="Text 6"/>
          <p:cNvSpPr txBox="1"/>
          <p:nvPr/>
        </p:nvSpPr>
        <p:spPr>
          <a:xfrm>
            <a:off x="758952" y="2926080"/>
            <a:ext cx="3032760" cy="685800"/>
          </a:xfrm>
          <a:prstGeom prst="rect">
            <a:avLst/>
          </a:prstGeom>
          <a:noFill/>
          <a:ln/>
        </p:spPr>
        <p:txBody>
          <a:bodyPr wrap="square" lIns="0" tIns="0" rIns="0" bIns="0" rtlCol="0" anchor="t"/>
          <a:lstStyle/>
          <a:p>
            <a:pPr indent="0" marL="0">
              <a:buNone/>
            </a:pPr>
            <a:r>
              <a:rPr lang="en-US" sz="1200" dirty="0">
                <a:solidFill>
                  <a:schemeClr val="accent6"/>
                </a:solidFill>
              </a:rPr>
              <a:t>Organization schema with sameAs links to every profile, plus a Wikidata entry, so Google and AI know Taskive is not Taskade.</a:t>
            </a:r>
            <a:endParaRPr lang="en-US" sz="1200" dirty="0"/>
          </a:p>
        </p:txBody>
      </p:sp>
      <p:sp>
        <p:nvSpPr>
          <p:cNvPr id="10" name="Activity card"/>
          <p:cNvSpPr/>
          <p:nvPr/>
        </p:nvSpPr>
        <p:spPr>
          <a:xfrm>
            <a:off x="4322064" y="1645920"/>
            <a:ext cx="3544824" cy="2057400"/>
          </a:xfrm>
          <a:prstGeom prst="roundRect">
            <a:avLst>
              <a:gd name="adj" fmla="val 3556"/>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1" name="Icon circle"/>
          <p:cNvSpPr/>
          <p:nvPr/>
        </p:nvSpPr>
        <p:spPr>
          <a:xfrm>
            <a:off x="4578096" y="1901952"/>
            <a:ext cx="566928" cy="566928"/>
          </a:xfrm>
          <a:prstGeom prst="ellipse">
            <a:avLst/>
          </a:prstGeom>
          <a:solidFill>
            <a:srgbClr val="8B5CF6"/>
          </a:solidFill>
          <a:ln w="12700">
            <a:solidFill>
              <a:srgbClr val="8B5CF6"/>
            </a:solidFill>
            <a:prstDash val="solid"/>
          </a:ln>
        </p:spPr>
      </p:sp>
      <p:pic>
        <p:nvPicPr>
          <p:cNvPr id="12" name="Icon" descr="preencoded.png">    </p:cNvPr>
          <p:cNvPicPr>
            <a:picLocks noChangeAspect="1"/>
          </p:cNvPicPr>
          <p:nvPr/>
        </p:nvPicPr>
        <p:blipFill>
          <a:blip r:embed="rId2"/>
          <a:stretch>
            <a:fillRect/>
          </a:stretch>
        </p:blipFill>
        <p:spPr>
          <a:xfrm>
            <a:off x="4725497" y="2049353"/>
            <a:ext cx="272125" cy="272125"/>
          </a:xfrm>
          <a:prstGeom prst="rect">
            <a:avLst/>
          </a:prstGeom>
        </p:spPr>
      </p:pic>
      <p:sp>
        <p:nvSpPr>
          <p:cNvPr id="13" name="Text 9"/>
          <p:cNvSpPr txBox="1"/>
          <p:nvPr/>
        </p:nvSpPr>
        <p:spPr>
          <a:xfrm>
            <a:off x="4578096" y="2578608"/>
            <a:ext cx="3032760" cy="329184"/>
          </a:xfrm>
          <a:prstGeom prst="rect">
            <a:avLst/>
          </a:prstGeom>
          <a:noFill/>
          <a:ln/>
        </p:spPr>
        <p:txBody>
          <a:bodyPr wrap="square" lIns="0" tIns="0" rIns="0" bIns="0" rtlCol="0" anchor="t"/>
          <a:lstStyle/>
          <a:p>
            <a:pPr indent="0" marL="0">
              <a:buNone/>
            </a:pPr>
            <a:r>
              <a:rPr lang="en-US" sz="1500" b="1" dirty="0">
                <a:solidFill>
                  <a:schemeClr val="tx1"/>
                </a:solidFill>
              </a:rPr>
              <a:t>One launch fortnight</a:t>
            </a:r>
            <a:endParaRPr lang="en-US" sz="1500" dirty="0"/>
          </a:p>
        </p:txBody>
      </p:sp>
      <p:sp>
        <p:nvSpPr>
          <p:cNvPr id="14" name="Text 10"/>
          <p:cNvSpPr txBox="1"/>
          <p:nvPr/>
        </p:nvSpPr>
        <p:spPr>
          <a:xfrm>
            <a:off x="4578096" y="2926080"/>
            <a:ext cx="3032760" cy="685800"/>
          </a:xfrm>
          <a:prstGeom prst="rect">
            <a:avLst/>
          </a:prstGeom>
          <a:noFill/>
          <a:ln/>
        </p:spPr>
        <p:txBody>
          <a:bodyPr wrap="square" lIns="0" tIns="0" rIns="0" bIns="0" rtlCol="0" anchor="t"/>
          <a:lstStyle/>
          <a:p>
            <a:pPr indent="0" marL="0">
              <a:buNone/>
            </a:pPr>
            <a:r>
              <a:rPr lang="en-US" sz="1200" dirty="0">
                <a:solidFill>
                  <a:schemeClr val="accent6"/>
                </a:solidFill>
              </a:rPr>
              <a:t>Product Hunt, Show HN and DevHunt in the same two weeks, timed after the first reviews land.</a:t>
            </a:r>
            <a:endParaRPr lang="en-US" sz="1200" dirty="0"/>
          </a:p>
        </p:txBody>
      </p:sp>
      <p:sp>
        <p:nvSpPr>
          <p:cNvPr id="15" name="Activity card"/>
          <p:cNvSpPr/>
          <p:nvPr/>
        </p:nvSpPr>
        <p:spPr>
          <a:xfrm>
            <a:off x="8141208" y="1645920"/>
            <a:ext cx="3544824" cy="2057400"/>
          </a:xfrm>
          <a:prstGeom prst="roundRect">
            <a:avLst>
              <a:gd name="adj" fmla="val 3556"/>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6" name="Icon circle"/>
          <p:cNvSpPr/>
          <p:nvPr/>
        </p:nvSpPr>
        <p:spPr>
          <a:xfrm>
            <a:off x="8397240" y="1901952"/>
            <a:ext cx="566928" cy="566928"/>
          </a:xfrm>
          <a:prstGeom prst="ellipse">
            <a:avLst/>
          </a:prstGeom>
          <a:solidFill>
            <a:srgbClr val="8B5CF6"/>
          </a:solidFill>
          <a:ln w="12700">
            <a:solidFill>
              <a:srgbClr val="8B5CF6"/>
            </a:solidFill>
            <a:prstDash val="solid"/>
          </a:ln>
        </p:spPr>
      </p:sp>
      <p:pic>
        <p:nvPicPr>
          <p:cNvPr id="17" name="Icon" descr="preencoded.png">    </p:cNvPr>
          <p:cNvPicPr>
            <a:picLocks noChangeAspect="1"/>
          </p:cNvPicPr>
          <p:nvPr/>
        </p:nvPicPr>
        <p:blipFill>
          <a:blip r:embed="rId3"/>
          <a:stretch>
            <a:fillRect/>
          </a:stretch>
        </p:blipFill>
        <p:spPr>
          <a:xfrm>
            <a:off x="8544641" y="2049353"/>
            <a:ext cx="272125" cy="272125"/>
          </a:xfrm>
          <a:prstGeom prst="rect">
            <a:avLst/>
          </a:prstGeom>
        </p:spPr>
      </p:pic>
      <p:sp>
        <p:nvSpPr>
          <p:cNvPr id="18" name="Text 13"/>
          <p:cNvSpPr txBox="1"/>
          <p:nvPr/>
        </p:nvSpPr>
        <p:spPr>
          <a:xfrm>
            <a:off x="8397240" y="2578608"/>
            <a:ext cx="3032760" cy="329184"/>
          </a:xfrm>
          <a:prstGeom prst="rect">
            <a:avLst/>
          </a:prstGeom>
          <a:noFill/>
          <a:ln/>
        </p:spPr>
        <p:txBody>
          <a:bodyPr wrap="square" lIns="0" tIns="0" rIns="0" bIns="0" rtlCol="0" anchor="t"/>
          <a:lstStyle/>
          <a:p>
            <a:pPr indent="0" marL="0">
              <a:buNone/>
            </a:pPr>
            <a:r>
              <a:rPr lang="en-US" sz="1500" b="1" dirty="0">
                <a:solidFill>
                  <a:schemeClr val="tx1"/>
                </a:solidFill>
              </a:rPr>
              <a:t>Founder-led LinkedIn</a:t>
            </a:r>
            <a:endParaRPr lang="en-US" sz="1500" dirty="0"/>
          </a:p>
        </p:txBody>
      </p:sp>
      <p:sp>
        <p:nvSpPr>
          <p:cNvPr id="19" name="Text 14"/>
          <p:cNvSpPr txBox="1"/>
          <p:nvPr/>
        </p:nvSpPr>
        <p:spPr>
          <a:xfrm>
            <a:off x="8397240" y="2926080"/>
            <a:ext cx="3032760" cy="685800"/>
          </a:xfrm>
          <a:prstGeom prst="rect">
            <a:avLst/>
          </a:prstGeom>
          <a:noFill/>
          <a:ln/>
        </p:spPr>
        <p:txBody>
          <a:bodyPr wrap="square" lIns="0" tIns="0" rIns="0" bIns="0" rtlCol="0" anchor="t"/>
          <a:lstStyle/>
          <a:p>
            <a:pPr indent="0" marL="0">
              <a:buNone/>
            </a:pPr>
            <a:r>
              <a:rPr lang="en-US" sz="1200" dirty="0">
                <a:solidFill>
                  <a:schemeClr val="accent6"/>
                </a:solidFill>
              </a:rPr>
              <a:t>Three posts a week on AI-native engineering workflows. People trust a founder before a logo.</a:t>
            </a:r>
            <a:endParaRPr lang="en-US" sz="1200" dirty="0"/>
          </a:p>
        </p:txBody>
      </p:sp>
      <p:sp>
        <p:nvSpPr>
          <p:cNvPr id="20" name="Activity card"/>
          <p:cNvSpPr/>
          <p:nvPr/>
        </p:nvSpPr>
        <p:spPr>
          <a:xfrm>
            <a:off x="502920" y="3931920"/>
            <a:ext cx="3544824" cy="2057400"/>
          </a:xfrm>
          <a:prstGeom prst="roundRect">
            <a:avLst>
              <a:gd name="adj" fmla="val 3556"/>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1" name="Icon circle"/>
          <p:cNvSpPr/>
          <p:nvPr/>
        </p:nvSpPr>
        <p:spPr>
          <a:xfrm>
            <a:off x="758952" y="4187952"/>
            <a:ext cx="566928" cy="566928"/>
          </a:xfrm>
          <a:prstGeom prst="ellipse">
            <a:avLst/>
          </a:prstGeom>
          <a:solidFill>
            <a:srgbClr val="8B5CF6"/>
          </a:solidFill>
          <a:ln w="12700">
            <a:solidFill>
              <a:srgbClr val="8B5CF6"/>
            </a:solidFill>
            <a:prstDash val="solid"/>
          </a:ln>
        </p:spPr>
      </p:sp>
      <p:pic>
        <p:nvPicPr>
          <p:cNvPr id="22" name="Icon" descr="preencoded.png">    </p:cNvPr>
          <p:cNvPicPr>
            <a:picLocks noChangeAspect="1"/>
          </p:cNvPicPr>
          <p:nvPr/>
        </p:nvPicPr>
        <p:blipFill>
          <a:blip r:embed="rId4"/>
          <a:stretch>
            <a:fillRect/>
          </a:stretch>
        </p:blipFill>
        <p:spPr>
          <a:xfrm>
            <a:off x="906353" y="4335353"/>
            <a:ext cx="272125" cy="272125"/>
          </a:xfrm>
          <a:prstGeom prst="rect">
            <a:avLst/>
          </a:prstGeom>
        </p:spPr>
      </p:pic>
      <p:sp>
        <p:nvSpPr>
          <p:cNvPr id="23" name="Text 17"/>
          <p:cNvSpPr txBox="1"/>
          <p:nvPr/>
        </p:nvSpPr>
        <p:spPr>
          <a:xfrm>
            <a:off x="758952" y="4864608"/>
            <a:ext cx="3032760" cy="329184"/>
          </a:xfrm>
          <a:prstGeom prst="rect">
            <a:avLst/>
          </a:prstGeom>
          <a:noFill/>
          <a:ln/>
        </p:spPr>
        <p:txBody>
          <a:bodyPr wrap="square" lIns="0" tIns="0" rIns="0" bIns="0" rtlCol="0" anchor="t"/>
          <a:lstStyle/>
          <a:p>
            <a:pPr indent="0" marL="0">
              <a:buNone/>
            </a:pPr>
            <a:r>
              <a:rPr lang="en-US" sz="1500" b="1" dirty="0">
                <a:solidFill>
                  <a:schemeClr val="tx1"/>
                </a:solidFill>
              </a:rPr>
              <a:t>Setup videos on YouTube</a:t>
            </a:r>
            <a:endParaRPr lang="en-US" sz="1500" dirty="0"/>
          </a:p>
        </p:txBody>
      </p:sp>
      <p:sp>
        <p:nvSpPr>
          <p:cNvPr id="24" name="Text 18"/>
          <p:cNvSpPr txBox="1"/>
          <p:nvPr/>
        </p:nvSpPr>
        <p:spPr>
          <a:xfrm>
            <a:off x="758952" y="5212080"/>
            <a:ext cx="3032760" cy="685800"/>
          </a:xfrm>
          <a:prstGeom prst="rect">
            <a:avLst/>
          </a:prstGeom>
          <a:noFill/>
          <a:ln/>
        </p:spPr>
        <p:txBody>
          <a:bodyPr wrap="square" lIns="0" tIns="0" rIns="0" bIns="0" rtlCol="0" anchor="t"/>
          <a:lstStyle/>
          <a:p>
            <a:pPr indent="0" marL="0">
              <a:buNone/>
            </a:pPr>
            <a:r>
              <a:rPr lang="en-US" sz="1200" dirty="0">
                <a:solidFill>
                  <a:schemeClr val="accent6"/>
                </a:solidFill>
              </a:rPr>
              <a:t>Short “Connect Taskive to Claude Code” demos. Videos rank on Google and AI assistants cite them.</a:t>
            </a:r>
            <a:endParaRPr lang="en-US" sz="1200" dirty="0"/>
          </a:p>
        </p:txBody>
      </p:sp>
      <p:sp>
        <p:nvSpPr>
          <p:cNvPr id="25" name="Activity card"/>
          <p:cNvSpPr/>
          <p:nvPr/>
        </p:nvSpPr>
        <p:spPr>
          <a:xfrm>
            <a:off x="4322064" y="3931920"/>
            <a:ext cx="3544824" cy="2057400"/>
          </a:xfrm>
          <a:prstGeom prst="roundRect">
            <a:avLst>
              <a:gd name="adj" fmla="val 3556"/>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6" name="Icon circle"/>
          <p:cNvSpPr/>
          <p:nvPr/>
        </p:nvSpPr>
        <p:spPr>
          <a:xfrm>
            <a:off x="4578096" y="4187952"/>
            <a:ext cx="566928" cy="566928"/>
          </a:xfrm>
          <a:prstGeom prst="ellipse">
            <a:avLst/>
          </a:prstGeom>
          <a:solidFill>
            <a:srgbClr val="8B5CF6"/>
          </a:solidFill>
          <a:ln w="12700">
            <a:solidFill>
              <a:srgbClr val="8B5CF6"/>
            </a:solidFill>
            <a:prstDash val="solid"/>
          </a:ln>
        </p:spPr>
      </p:sp>
      <p:pic>
        <p:nvPicPr>
          <p:cNvPr id="27" name="Icon" descr="preencoded.png">    </p:cNvPr>
          <p:cNvPicPr>
            <a:picLocks noChangeAspect="1"/>
          </p:cNvPicPr>
          <p:nvPr/>
        </p:nvPicPr>
        <p:blipFill>
          <a:blip r:embed="rId5"/>
          <a:stretch>
            <a:fillRect/>
          </a:stretch>
        </p:blipFill>
        <p:spPr>
          <a:xfrm>
            <a:off x="4725497" y="4335353"/>
            <a:ext cx="272125" cy="272125"/>
          </a:xfrm>
          <a:prstGeom prst="rect">
            <a:avLst/>
          </a:prstGeom>
        </p:spPr>
      </p:pic>
      <p:sp>
        <p:nvSpPr>
          <p:cNvPr id="28" name="Text 21"/>
          <p:cNvSpPr txBox="1"/>
          <p:nvPr/>
        </p:nvSpPr>
        <p:spPr>
          <a:xfrm>
            <a:off x="4578096" y="4864608"/>
            <a:ext cx="3032760" cy="329184"/>
          </a:xfrm>
          <a:prstGeom prst="rect">
            <a:avLst/>
          </a:prstGeom>
          <a:noFill/>
          <a:ln/>
        </p:spPr>
        <p:txBody>
          <a:bodyPr wrap="square" lIns="0" tIns="0" rIns="0" bIns="0" rtlCol="0" anchor="t"/>
          <a:lstStyle/>
          <a:p>
            <a:pPr indent="0" marL="0">
              <a:buNone/>
            </a:pPr>
            <a:r>
              <a:rPr lang="en-US" sz="1500" b="1" dirty="0">
                <a:solidFill>
                  <a:schemeClr val="tx1"/>
                </a:solidFill>
              </a:rPr>
              <a:t>GitHub and integrations</a:t>
            </a:r>
            <a:endParaRPr lang="en-US" sz="1500" dirty="0"/>
          </a:p>
        </p:txBody>
      </p:sp>
      <p:sp>
        <p:nvSpPr>
          <p:cNvPr id="29" name="Text 22"/>
          <p:cNvSpPr txBox="1"/>
          <p:nvPr/>
        </p:nvSpPr>
        <p:spPr>
          <a:xfrm>
            <a:off x="4578096" y="5212080"/>
            <a:ext cx="3032760" cy="685800"/>
          </a:xfrm>
          <a:prstGeom prst="rect">
            <a:avLst/>
          </a:prstGeom>
          <a:noFill/>
          <a:ln/>
        </p:spPr>
        <p:txBody>
          <a:bodyPr wrap="square" lIns="0" tIns="0" rIns="0" bIns="0" rtlCol="0" anchor="t"/>
          <a:lstStyle/>
          <a:p>
            <a:pPr indent="0" marL="0">
              <a:buNone/>
            </a:pPr>
            <a:r>
              <a:rPr lang="en-US" sz="1200" dirty="0">
                <a:solidFill>
                  <a:schemeClr val="accent6"/>
                </a:solidFill>
              </a:rPr>
              <a:t>Public MCP repo with a strong README, GitHub Marketplace for the GitHub integration, awesome-mcp lists.</a:t>
            </a:r>
            <a:endParaRPr lang="en-US" sz="1200" dirty="0"/>
          </a:p>
        </p:txBody>
      </p:sp>
      <p:sp>
        <p:nvSpPr>
          <p:cNvPr id="30" name="Activity card"/>
          <p:cNvSpPr/>
          <p:nvPr/>
        </p:nvSpPr>
        <p:spPr>
          <a:xfrm>
            <a:off x="8141208" y="3931920"/>
            <a:ext cx="3544824" cy="2057400"/>
          </a:xfrm>
          <a:prstGeom prst="roundRect">
            <a:avLst>
              <a:gd name="adj" fmla="val 3556"/>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31" name="Icon circle"/>
          <p:cNvSpPr/>
          <p:nvPr/>
        </p:nvSpPr>
        <p:spPr>
          <a:xfrm>
            <a:off x="8397240" y="4187952"/>
            <a:ext cx="566928" cy="566928"/>
          </a:xfrm>
          <a:prstGeom prst="ellipse">
            <a:avLst/>
          </a:prstGeom>
          <a:solidFill>
            <a:srgbClr val="8B5CF6"/>
          </a:solidFill>
          <a:ln w="12700">
            <a:solidFill>
              <a:srgbClr val="8B5CF6"/>
            </a:solidFill>
            <a:prstDash val="solid"/>
          </a:ln>
        </p:spPr>
      </p:sp>
      <p:pic>
        <p:nvPicPr>
          <p:cNvPr id="32" name="Icon" descr="preencoded.png">    </p:cNvPr>
          <p:cNvPicPr>
            <a:picLocks noChangeAspect="1"/>
          </p:cNvPicPr>
          <p:nvPr/>
        </p:nvPicPr>
        <p:blipFill>
          <a:blip r:embed="rId6"/>
          <a:stretch>
            <a:fillRect/>
          </a:stretch>
        </p:blipFill>
        <p:spPr>
          <a:xfrm>
            <a:off x="8544641" y="4335353"/>
            <a:ext cx="272125" cy="272125"/>
          </a:xfrm>
          <a:prstGeom prst="rect">
            <a:avLst/>
          </a:prstGeom>
        </p:spPr>
      </p:pic>
      <p:sp>
        <p:nvSpPr>
          <p:cNvPr id="33" name="Text 25"/>
          <p:cNvSpPr txBox="1"/>
          <p:nvPr/>
        </p:nvSpPr>
        <p:spPr>
          <a:xfrm>
            <a:off x="8397240" y="4864608"/>
            <a:ext cx="3032760" cy="329184"/>
          </a:xfrm>
          <a:prstGeom prst="rect">
            <a:avLst/>
          </a:prstGeom>
          <a:noFill/>
          <a:ln/>
        </p:spPr>
        <p:txBody>
          <a:bodyPr wrap="square" lIns="0" tIns="0" rIns="0" bIns="0" rtlCol="0" anchor="t"/>
          <a:lstStyle/>
          <a:p>
            <a:pPr indent="0" marL="0">
              <a:buNone/>
            </a:pPr>
            <a:r>
              <a:rPr lang="en-US" sz="1500" b="1" dirty="0">
                <a:solidFill>
                  <a:schemeClr val="tx1"/>
                </a:solidFill>
              </a:rPr>
              <a:t>Track AI visibility monthly</a:t>
            </a:r>
            <a:endParaRPr lang="en-US" sz="1500" dirty="0"/>
          </a:p>
        </p:txBody>
      </p:sp>
      <p:sp>
        <p:nvSpPr>
          <p:cNvPr id="34" name="Text 26"/>
          <p:cNvSpPr txBox="1"/>
          <p:nvPr/>
        </p:nvSpPr>
        <p:spPr>
          <a:xfrm>
            <a:off x="8397240" y="5212080"/>
            <a:ext cx="3032760" cy="685800"/>
          </a:xfrm>
          <a:prstGeom prst="rect">
            <a:avLst/>
          </a:prstGeom>
          <a:noFill/>
          <a:ln/>
        </p:spPr>
        <p:txBody>
          <a:bodyPr wrap="square" lIns="0" tIns="0" rIns="0" bIns="0" rtlCol="0" anchor="t"/>
          <a:lstStyle/>
          <a:p>
            <a:pPr indent="0" marL="0">
              <a:buNone/>
            </a:pPr>
            <a:r>
              <a:rPr lang="en-US" sz="1200" dirty="0">
                <a:solidFill>
                  <a:schemeClr val="accent6"/>
                </a:solidFill>
              </a:rPr>
              <a:t>Run 20 real buyer prompts in ChatGPT, Perplexity, Gemini and Claude every month and log each mention.</a:t>
            </a:r>
            <a:endParaRPr lang="en-US" sz="12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EXECUTION ROADMAP</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Foundation first, then proof, then compounding</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Real, sequenced work. Each month builds on the signals the previous month put in place.</a:t>
            </a:r>
            <a:endParaRPr lang="en-US" sz="1250" dirty="0"/>
          </a:p>
        </p:txBody>
      </p:sp>
      <p:sp>
        <p:nvSpPr>
          <p:cNvPr id="5" name="Phase card"/>
          <p:cNvSpPr/>
          <p:nvPr/>
        </p:nvSpPr>
        <p:spPr>
          <a:xfrm>
            <a:off x="502920" y="1645920"/>
            <a:ext cx="2590038" cy="4343400"/>
          </a:xfrm>
          <a:prstGeom prst="roundRect">
            <a:avLst>
              <a:gd name="adj" fmla="val 2824"/>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6" name="Phase number"/>
          <p:cNvSpPr/>
          <p:nvPr/>
        </p:nvSpPr>
        <p:spPr>
          <a:xfrm>
            <a:off x="758952" y="1901952"/>
            <a:ext cx="640080" cy="640080"/>
          </a:xfrm>
          <a:prstGeom prst="ellipse">
            <a:avLst/>
          </a:prstGeom>
          <a:solidFill>
            <a:srgbClr val="8B5CF6"/>
          </a:solidFill>
          <a:ln w="12700">
            <a:solidFill>
              <a:srgbClr val="8B5CF6"/>
            </a:solidFill>
            <a:prstDash val="solid"/>
          </a:ln>
        </p:spPr>
      </p:sp>
      <p:sp>
        <p:nvSpPr>
          <p:cNvPr id="7" name="Text 5"/>
          <p:cNvSpPr txBox="1"/>
          <p:nvPr/>
        </p:nvSpPr>
        <p:spPr>
          <a:xfrm>
            <a:off x="758952" y="190195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01</a:t>
            </a:r>
            <a:endParaRPr lang="en-US" sz="1800" dirty="0"/>
          </a:p>
        </p:txBody>
      </p:sp>
      <p:sp>
        <p:nvSpPr>
          <p:cNvPr id="8" name="Text 6"/>
          <p:cNvSpPr txBox="1"/>
          <p:nvPr/>
        </p:nvSpPr>
        <p:spPr>
          <a:xfrm>
            <a:off x="1508760" y="1975104"/>
            <a:ext cx="1401318" cy="228600"/>
          </a:xfrm>
          <a:prstGeom prst="rect">
            <a:avLst/>
          </a:prstGeom>
          <a:noFill/>
          <a:ln/>
        </p:spPr>
        <p:txBody>
          <a:bodyPr wrap="square" lIns="0" tIns="0" rIns="0" bIns="0" rtlCol="0" anchor="t"/>
          <a:lstStyle/>
          <a:p>
            <a:pPr indent="0" marL="0">
              <a:buNone/>
            </a:pPr>
            <a:r>
              <a:rPr lang="en-US" sz="1000" b="1" spc="120" kern="0" dirty="0">
                <a:solidFill>
                  <a:schemeClr val="accent2"/>
                </a:solidFill>
              </a:rPr>
              <a:t>MONTH 1</a:t>
            </a:r>
            <a:endParaRPr lang="en-US" sz="1000" dirty="0"/>
          </a:p>
        </p:txBody>
      </p:sp>
      <p:sp>
        <p:nvSpPr>
          <p:cNvPr id="9" name="Text 7"/>
          <p:cNvSpPr txBox="1"/>
          <p:nvPr/>
        </p:nvSpPr>
        <p:spPr>
          <a:xfrm>
            <a:off x="1508760" y="2194560"/>
            <a:ext cx="1401318" cy="329184"/>
          </a:xfrm>
          <a:prstGeom prst="rect">
            <a:avLst/>
          </a:prstGeom>
          <a:noFill/>
          <a:ln/>
        </p:spPr>
        <p:txBody>
          <a:bodyPr wrap="square" lIns="0" tIns="0" rIns="0" bIns="0" rtlCol="0" anchor="t"/>
          <a:lstStyle/>
          <a:p>
            <a:pPr indent="0" marL="0">
              <a:buNone/>
            </a:pPr>
            <a:r>
              <a:rPr lang="en-US" sz="1500" b="1" dirty="0">
                <a:solidFill>
                  <a:schemeClr val="tx1"/>
                </a:solidFill>
              </a:rPr>
              <a:t>Foundation</a:t>
            </a:r>
            <a:endParaRPr lang="en-US" sz="1500" dirty="0"/>
          </a:p>
        </p:txBody>
      </p:sp>
      <p:sp>
        <p:nvSpPr>
          <p:cNvPr id="10" name="Text 8"/>
          <p:cNvSpPr txBox="1"/>
          <p:nvPr/>
        </p:nvSpPr>
        <p:spPr>
          <a:xfrm>
            <a:off x="758952" y="2788920"/>
            <a:ext cx="2132838" cy="19202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On-page and technical SEO</a:t>
            </a:r>
            <a:endParaRPr lang="en-US" sz="1250" dirty="0"/>
          </a:p>
          <a:p>
            <a:pPr marL="177800" indent="-177800">
              <a:spcAft>
                <a:spcPts val="700"/>
              </a:spcAft>
              <a:buSzPct val="100000"/>
              <a:buChar char="•"/>
            </a:pPr>
            <a:r>
              <a:rPr lang="en-US" sz="1250" dirty="0">
                <a:solidFill>
                  <a:schemeClr val="tx1"/>
                </a:solidFill>
              </a:rPr>
              <a:t>Keyword optimization</a:t>
            </a:r>
            <a:endParaRPr lang="en-US" sz="1250" dirty="0"/>
          </a:p>
          <a:p>
            <a:pPr marL="177800" indent="-177800">
              <a:spcAft>
                <a:spcPts val="700"/>
              </a:spcAft>
              <a:buSzPct val="100000"/>
              <a:buChar char="•"/>
            </a:pPr>
            <a:r>
              <a:rPr lang="en-US" sz="1250" dirty="0">
                <a:solidFill>
                  <a:schemeClr val="tx1"/>
                </a:solidFill>
              </a:rPr>
              <a:t>GA4, Search Console, Clarity, GTM</a:t>
            </a:r>
            <a:endParaRPr lang="en-US" sz="1250" dirty="0"/>
          </a:p>
          <a:p>
            <a:pPr marL="177800" indent="-177800">
              <a:spcAft>
                <a:spcPts val="700"/>
              </a:spcAft>
              <a:buSzPct val="100000"/>
              <a:buChar char="•"/>
            </a:pPr>
            <a:r>
              <a:rPr lang="en-US" sz="1250" dirty="0">
                <a:solidFill>
                  <a:schemeClr val="tx1"/>
                </a:solidFill>
              </a:rPr>
              <a:t>Social media optimization and promotions</a:t>
            </a:r>
            <a:endParaRPr lang="en-US" sz="1250" dirty="0"/>
          </a:p>
          <a:p>
            <a:pPr marL="177800" indent="-177800">
              <a:spcAft>
                <a:spcPts val="700"/>
              </a:spcAft>
              <a:buSzPct val="100000"/>
              <a:buChar char="•"/>
            </a:pPr>
            <a:r>
              <a:rPr lang="en-US" sz="1250" dirty="0">
                <a:solidFill>
                  <a:schemeClr val="tx1"/>
                </a:solidFill>
              </a:rPr>
              <a:t>Baseline report on day 30</a:t>
            </a:r>
            <a:endParaRPr lang="en-US" sz="1250" dirty="0"/>
          </a:p>
        </p:txBody>
      </p:sp>
      <p:sp>
        <p:nvSpPr>
          <p:cNvPr id="11" name="Outcome box"/>
          <p:cNvSpPr/>
          <p:nvPr/>
        </p:nvSpPr>
        <p:spPr>
          <a:xfrm>
            <a:off x="685800" y="4892040"/>
            <a:ext cx="2224278" cy="914400"/>
          </a:xfrm>
          <a:prstGeom prst="roundRect">
            <a:avLst>
              <a:gd name="adj" fmla="val 8000"/>
            </a:avLst>
          </a:prstGeom>
          <a:solidFill>
            <a:srgbClr val="E4F6EF"/>
          </a:solidFill>
          <a:ln w="12700">
            <a:solidFill>
              <a:srgbClr val="CDEBE0"/>
            </a:solidFill>
            <a:prstDash val="solid"/>
          </a:ln>
        </p:spPr>
      </p:sp>
      <p:sp>
        <p:nvSpPr>
          <p:cNvPr id="12" name="Text 10"/>
          <p:cNvSpPr txBox="1"/>
          <p:nvPr/>
        </p:nvSpPr>
        <p:spPr>
          <a:xfrm>
            <a:off x="850392" y="5001768"/>
            <a:ext cx="1895094" cy="219456"/>
          </a:xfrm>
          <a:prstGeom prst="rect">
            <a:avLst/>
          </a:prstGeom>
          <a:noFill/>
          <a:ln/>
        </p:spPr>
        <p:txBody>
          <a:bodyPr wrap="square" lIns="0" tIns="0" rIns="0" bIns="0" rtlCol="0" anchor="t"/>
          <a:lstStyle/>
          <a:p>
            <a:pPr indent="0" marL="0">
              <a:buNone/>
            </a:pPr>
            <a:r>
              <a:rPr lang="en-US" sz="950" b="1" spc="120" kern="0" dirty="0">
                <a:solidFill>
                  <a:srgbClr val="179C6E"/>
                </a:solidFill>
              </a:rPr>
              <a:t>OUTCOME</a:t>
            </a:r>
            <a:endParaRPr lang="en-US" sz="950" dirty="0"/>
          </a:p>
        </p:txBody>
      </p:sp>
      <p:sp>
        <p:nvSpPr>
          <p:cNvPr id="13" name="Text 11"/>
          <p:cNvSpPr txBox="1"/>
          <p:nvPr/>
        </p:nvSpPr>
        <p:spPr>
          <a:xfrm>
            <a:off x="850392" y="5239512"/>
            <a:ext cx="1895094" cy="502920"/>
          </a:xfrm>
          <a:prstGeom prst="rect">
            <a:avLst/>
          </a:prstGeom>
          <a:noFill/>
          <a:ln/>
        </p:spPr>
        <p:txBody>
          <a:bodyPr wrap="square" lIns="0" tIns="0" rIns="0" bIns="0" rtlCol="0" anchor="t"/>
          <a:lstStyle/>
          <a:p>
            <a:pPr indent="0" marL="0">
              <a:buNone/>
            </a:pPr>
            <a:r>
              <a:rPr lang="en-US" sz="1200" dirty="0">
                <a:solidFill>
                  <a:srgbClr val="156048"/>
                </a:solidFill>
              </a:rPr>
              <a:t>A clean, tracked, findable site</a:t>
            </a:r>
            <a:endParaRPr lang="en-US" sz="1200" dirty="0"/>
          </a:p>
        </p:txBody>
      </p:sp>
      <p:sp>
        <p:nvSpPr>
          <p:cNvPr id="14" name="Phase card"/>
          <p:cNvSpPr/>
          <p:nvPr/>
        </p:nvSpPr>
        <p:spPr>
          <a:xfrm>
            <a:off x="3367278" y="1645920"/>
            <a:ext cx="2590038" cy="4343400"/>
          </a:xfrm>
          <a:prstGeom prst="roundRect">
            <a:avLst>
              <a:gd name="adj" fmla="val 2824"/>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5" name="Phase number"/>
          <p:cNvSpPr/>
          <p:nvPr/>
        </p:nvSpPr>
        <p:spPr>
          <a:xfrm>
            <a:off x="3623310" y="1901952"/>
            <a:ext cx="640080" cy="640080"/>
          </a:xfrm>
          <a:prstGeom prst="ellipse">
            <a:avLst/>
          </a:prstGeom>
          <a:solidFill>
            <a:srgbClr val="8B5CF6"/>
          </a:solidFill>
          <a:ln w="12700">
            <a:solidFill>
              <a:srgbClr val="8B5CF6"/>
            </a:solidFill>
            <a:prstDash val="solid"/>
          </a:ln>
        </p:spPr>
      </p:sp>
      <p:sp>
        <p:nvSpPr>
          <p:cNvPr id="16" name="Text 14"/>
          <p:cNvSpPr txBox="1"/>
          <p:nvPr/>
        </p:nvSpPr>
        <p:spPr>
          <a:xfrm>
            <a:off x="3623310" y="190195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02</a:t>
            </a:r>
            <a:endParaRPr lang="en-US" sz="1800" dirty="0"/>
          </a:p>
        </p:txBody>
      </p:sp>
      <p:sp>
        <p:nvSpPr>
          <p:cNvPr id="17" name="Text 15"/>
          <p:cNvSpPr txBox="1"/>
          <p:nvPr/>
        </p:nvSpPr>
        <p:spPr>
          <a:xfrm>
            <a:off x="4373118" y="1975104"/>
            <a:ext cx="1401318" cy="228600"/>
          </a:xfrm>
          <a:prstGeom prst="rect">
            <a:avLst/>
          </a:prstGeom>
          <a:noFill/>
          <a:ln/>
        </p:spPr>
        <p:txBody>
          <a:bodyPr wrap="square" lIns="0" tIns="0" rIns="0" bIns="0" rtlCol="0" anchor="t"/>
          <a:lstStyle/>
          <a:p>
            <a:pPr indent="0" marL="0">
              <a:buNone/>
            </a:pPr>
            <a:r>
              <a:rPr lang="en-US" sz="1000" b="1" spc="120" kern="0" dirty="0">
                <a:solidFill>
                  <a:schemeClr val="accent2"/>
                </a:solidFill>
              </a:rPr>
              <a:t>MONTH 2</a:t>
            </a:r>
            <a:endParaRPr lang="en-US" sz="1000" dirty="0"/>
          </a:p>
        </p:txBody>
      </p:sp>
      <p:sp>
        <p:nvSpPr>
          <p:cNvPr id="18" name="Text 16"/>
          <p:cNvSpPr txBox="1"/>
          <p:nvPr/>
        </p:nvSpPr>
        <p:spPr>
          <a:xfrm>
            <a:off x="4373118" y="2194560"/>
            <a:ext cx="1401318" cy="329184"/>
          </a:xfrm>
          <a:prstGeom prst="rect">
            <a:avLst/>
          </a:prstGeom>
          <a:noFill/>
          <a:ln/>
        </p:spPr>
        <p:txBody>
          <a:bodyPr wrap="square" lIns="0" tIns="0" rIns="0" bIns="0" rtlCol="0" anchor="t"/>
          <a:lstStyle/>
          <a:p>
            <a:pPr indent="0" marL="0">
              <a:buNone/>
            </a:pPr>
            <a:r>
              <a:rPr lang="en-US" sz="1500" b="1" dirty="0">
                <a:solidFill>
                  <a:schemeClr val="tx1"/>
                </a:solidFill>
              </a:rPr>
              <a:t>Content and branding</a:t>
            </a:r>
            <a:endParaRPr lang="en-US" sz="1500" dirty="0"/>
          </a:p>
        </p:txBody>
      </p:sp>
      <p:sp>
        <p:nvSpPr>
          <p:cNvPr id="19" name="Text 17"/>
          <p:cNvSpPr txBox="1"/>
          <p:nvPr/>
        </p:nvSpPr>
        <p:spPr>
          <a:xfrm>
            <a:off x="3623310" y="2788920"/>
            <a:ext cx="2132838" cy="19202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10 high-intent blogs</a:t>
            </a:r>
            <a:endParaRPr lang="en-US" sz="1250" dirty="0"/>
          </a:p>
          <a:p>
            <a:pPr marL="177800" indent="-177800">
              <a:spcAft>
                <a:spcPts val="700"/>
              </a:spcAft>
              <a:buSzPct val="100000"/>
              <a:buChar char="•"/>
            </a:pPr>
            <a:r>
              <a:rPr lang="en-US" sz="1250" dirty="0">
                <a:solidFill>
                  <a:schemeClr val="tx1"/>
                </a:solidFill>
              </a:rPr>
              <a:t>10+ product listings</a:t>
            </a:r>
            <a:endParaRPr lang="en-US" sz="1250" dirty="0"/>
          </a:p>
          <a:p>
            <a:pPr marL="177800" indent="-177800">
              <a:spcAft>
                <a:spcPts val="700"/>
              </a:spcAft>
              <a:buSzPct val="100000"/>
              <a:buChar char="•"/>
            </a:pPr>
            <a:r>
              <a:rPr lang="en-US" sz="1250" dirty="0">
                <a:solidFill>
                  <a:schemeClr val="tx1"/>
                </a:solidFill>
              </a:rPr>
              <a:t>Event tracking in GA4</a:t>
            </a:r>
            <a:endParaRPr lang="en-US" sz="1250" dirty="0"/>
          </a:p>
          <a:p>
            <a:pPr marL="177800" indent="-177800">
              <a:spcAft>
                <a:spcPts val="700"/>
              </a:spcAft>
              <a:buSzPct val="100000"/>
              <a:buChar char="•"/>
            </a:pPr>
            <a:r>
              <a:rPr lang="en-US" sz="1250" dirty="0">
                <a:solidFill>
                  <a:schemeClr val="tx1"/>
                </a:solidFill>
              </a:rPr>
              <a:t>Website fixes if still needed</a:t>
            </a:r>
            <a:endParaRPr lang="en-US" sz="1250" dirty="0"/>
          </a:p>
          <a:p>
            <a:pPr marL="177800" indent="-177800">
              <a:spcAft>
                <a:spcPts val="700"/>
              </a:spcAft>
              <a:buSzPct val="100000"/>
              <a:buChar char="•"/>
            </a:pPr>
            <a:r>
              <a:rPr lang="en-US" sz="1250" dirty="0">
                <a:solidFill>
                  <a:schemeClr val="tx1"/>
                </a:solidFill>
              </a:rPr>
              <a:t>Product Hunt launch prepared</a:t>
            </a:r>
            <a:endParaRPr lang="en-US" sz="1250" dirty="0"/>
          </a:p>
        </p:txBody>
      </p:sp>
      <p:sp>
        <p:nvSpPr>
          <p:cNvPr id="20" name="Outcome box"/>
          <p:cNvSpPr/>
          <p:nvPr/>
        </p:nvSpPr>
        <p:spPr>
          <a:xfrm>
            <a:off x="3550158" y="4892040"/>
            <a:ext cx="2224278" cy="914400"/>
          </a:xfrm>
          <a:prstGeom prst="roundRect">
            <a:avLst>
              <a:gd name="adj" fmla="val 8000"/>
            </a:avLst>
          </a:prstGeom>
          <a:solidFill>
            <a:srgbClr val="E4F6EF"/>
          </a:solidFill>
          <a:ln w="12700">
            <a:solidFill>
              <a:srgbClr val="CDEBE0"/>
            </a:solidFill>
            <a:prstDash val="solid"/>
          </a:ln>
        </p:spPr>
      </p:sp>
      <p:sp>
        <p:nvSpPr>
          <p:cNvPr id="21" name="Text 19"/>
          <p:cNvSpPr txBox="1"/>
          <p:nvPr/>
        </p:nvSpPr>
        <p:spPr>
          <a:xfrm>
            <a:off x="3714750" y="5001768"/>
            <a:ext cx="1895094" cy="219456"/>
          </a:xfrm>
          <a:prstGeom prst="rect">
            <a:avLst/>
          </a:prstGeom>
          <a:noFill/>
          <a:ln/>
        </p:spPr>
        <p:txBody>
          <a:bodyPr wrap="square" lIns="0" tIns="0" rIns="0" bIns="0" rtlCol="0" anchor="t"/>
          <a:lstStyle/>
          <a:p>
            <a:pPr indent="0" marL="0">
              <a:buNone/>
            </a:pPr>
            <a:r>
              <a:rPr lang="en-US" sz="950" b="1" spc="120" kern="0" dirty="0">
                <a:solidFill>
                  <a:srgbClr val="179C6E"/>
                </a:solidFill>
              </a:rPr>
              <a:t>OUTCOME</a:t>
            </a:r>
            <a:endParaRPr lang="en-US" sz="950" dirty="0"/>
          </a:p>
        </p:txBody>
      </p:sp>
      <p:sp>
        <p:nvSpPr>
          <p:cNvPr id="22" name="Text 20"/>
          <p:cNvSpPr txBox="1"/>
          <p:nvPr/>
        </p:nvSpPr>
        <p:spPr>
          <a:xfrm>
            <a:off x="3714750" y="5239512"/>
            <a:ext cx="1895094" cy="502920"/>
          </a:xfrm>
          <a:prstGeom prst="rect">
            <a:avLst/>
          </a:prstGeom>
          <a:noFill/>
          <a:ln/>
        </p:spPr>
        <p:txBody>
          <a:bodyPr wrap="square" lIns="0" tIns="0" rIns="0" bIns="0" rtlCol="0" anchor="t"/>
          <a:lstStyle/>
          <a:p>
            <a:pPr indent="0" marL="0">
              <a:buNone/>
            </a:pPr>
            <a:r>
              <a:rPr lang="en-US" sz="1200" dirty="0">
                <a:solidFill>
                  <a:srgbClr val="156048"/>
                </a:solidFill>
              </a:rPr>
              <a:t>Pages worth ranking, profiles worth trusting</a:t>
            </a:r>
            <a:endParaRPr lang="en-US" sz="1200" dirty="0"/>
          </a:p>
        </p:txBody>
      </p:sp>
      <p:sp>
        <p:nvSpPr>
          <p:cNvPr id="23" name="Phase card"/>
          <p:cNvSpPr/>
          <p:nvPr/>
        </p:nvSpPr>
        <p:spPr>
          <a:xfrm>
            <a:off x="6231636" y="1645920"/>
            <a:ext cx="2590038" cy="4343400"/>
          </a:xfrm>
          <a:prstGeom prst="roundRect">
            <a:avLst>
              <a:gd name="adj" fmla="val 2824"/>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4" name="Phase number"/>
          <p:cNvSpPr/>
          <p:nvPr/>
        </p:nvSpPr>
        <p:spPr>
          <a:xfrm>
            <a:off x="6487668" y="1901952"/>
            <a:ext cx="640080" cy="640080"/>
          </a:xfrm>
          <a:prstGeom prst="ellipse">
            <a:avLst/>
          </a:prstGeom>
          <a:solidFill>
            <a:srgbClr val="8B5CF6"/>
          </a:solidFill>
          <a:ln w="12700">
            <a:solidFill>
              <a:srgbClr val="8B5CF6"/>
            </a:solidFill>
            <a:prstDash val="solid"/>
          </a:ln>
        </p:spPr>
      </p:sp>
      <p:sp>
        <p:nvSpPr>
          <p:cNvPr id="25" name="Text 23"/>
          <p:cNvSpPr txBox="1"/>
          <p:nvPr/>
        </p:nvSpPr>
        <p:spPr>
          <a:xfrm>
            <a:off x="6487668" y="190195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03</a:t>
            </a:r>
            <a:endParaRPr lang="en-US" sz="1800" dirty="0"/>
          </a:p>
        </p:txBody>
      </p:sp>
      <p:sp>
        <p:nvSpPr>
          <p:cNvPr id="26" name="Text 24"/>
          <p:cNvSpPr txBox="1"/>
          <p:nvPr/>
        </p:nvSpPr>
        <p:spPr>
          <a:xfrm>
            <a:off x="7237476" y="1975104"/>
            <a:ext cx="1401318" cy="228600"/>
          </a:xfrm>
          <a:prstGeom prst="rect">
            <a:avLst/>
          </a:prstGeom>
          <a:noFill/>
          <a:ln/>
        </p:spPr>
        <p:txBody>
          <a:bodyPr wrap="square" lIns="0" tIns="0" rIns="0" bIns="0" rtlCol="0" anchor="t"/>
          <a:lstStyle/>
          <a:p>
            <a:pPr indent="0" marL="0">
              <a:buNone/>
            </a:pPr>
            <a:r>
              <a:rPr lang="en-US" sz="1000" b="1" spc="120" kern="0" dirty="0">
                <a:solidFill>
                  <a:schemeClr val="accent2"/>
                </a:solidFill>
              </a:rPr>
              <a:t>MONTH 3</a:t>
            </a:r>
            <a:endParaRPr lang="en-US" sz="1000" dirty="0"/>
          </a:p>
        </p:txBody>
      </p:sp>
      <p:sp>
        <p:nvSpPr>
          <p:cNvPr id="27" name="Text 25"/>
          <p:cNvSpPr txBox="1"/>
          <p:nvPr/>
        </p:nvSpPr>
        <p:spPr>
          <a:xfrm>
            <a:off x="7237476" y="2194560"/>
            <a:ext cx="1401318" cy="329184"/>
          </a:xfrm>
          <a:prstGeom prst="rect">
            <a:avLst/>
          </a:prstGeom>
          <a:noFill/>
          <a:ln/>
        </p:spPr>
        <p:txBody>
          <a:bodyPr wrap="square" lIns="0" tIns="0" rIns="0" bIns="0" rtlCol="0" anchor="t"/>
          <a:lstStyle/>
          <a:p>
            <a:pPr indent="0" marL="0">
              <a:buNone/>
            </a:pPr>
            <a:r>
              <a:rPr lang="en-US" sz="1500" b="1" dirty="0">
                <a:solidFill>
                  <a:schemeClr val="tx1"/>
                </a:solidFill>
              </a:rPr>
              <a:t>Proof and reviews</a:t>
            </a:r>
            <a:endParaRPr lang="en-US" sz="1500" dirty="0"/>
          </a:p>
        </p:txBody>
      </p:sp>
      <p:sp>
        <p:nvSpPr>
          <p:cNvPr id="28" name="Text 26"/>
          <p:cNvSpPr txBox="1"/>
          <p:nvPr/>
        </p:nvSpPr>
        <p:spPr>
          <a:xfrm>
            <a:off x="6487668" y="2788920"/>
            <a:ext cx="2132838" cy="19202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Reviews from client and marketer side</a:t>
            </a:r>
            <a:endParaRPr lang="en-US" sz="1250" dirty="0"/>
          </a:p>
          <a:p>
            <a:pPr marL="177800" indent="-177800">
              <a:spcAft>
                <a:spcPts val="700"/>
              </a:spcAft>
              <a:buSzPct val="100000"/>
              <a:buChar char="•"/>
            </a:pPr>
            <a:r>
              <a:rPr lang="en-US" sz="1250" dirty="0">
                <a:solidFill>
                  <a:schemeClr val="tx1"/>
                </a:solidFill>
              </a:rPr>
              <a:t>More product listings</a:t>
            </a:r>
            <a:endParaRPr lang="en-US" sz="1250" dirty="0"/>
          </a:p>
          <a:p>
            <a:pPr marL="177800" indent="-177800">
              <a:spcAft>
                <a:spcPts val="700"/>
              </a:spcAft>
              <a:buSzPct val="100000"/>
              <a:buChar char="•"/>
            </a:pPr>
            <a:r>
              <a:rPr lang="en-US" sz="1250" dirty="0">
                <a:solidFill>
                  <a:schemeClr val="tx1"/>
                </a:solidFill>
              </a:rPr>
              <a:t>Website optimization if needed</a:t>
            </a:r>
            <a:endParaRPr lang="en-US" sz="1250" dirty="0"/>
          </a:p>
          <a:p>
            <a:pPr marL="177800" indent="-177800">
              <a:spcAft>
                <a:spcPts val="700"/>
              </a:spcAft>
              <a:buSzPct val="100000"/>
              <a:buChar char="•"/>
            </a:pPr>
            <a:r>
              <a:rPr lang="en-US" sz="1250" dirty="0">
                <a:solidFill>
                  <a:schemeClr val="tx1"/>
                </a:solidFill>
              </a:rPr>
              <a:t>Track user behavior</a:t>
            </a:r>
            <a:endParaRPr lang="en-US" sz="1250" dirty="0"/>
          </a:p>
          <a:p>
            <a:pPr marL="177800" indent="-177800">
              <a:spcAft>
                <a:spcPts val="700"/>
              </a:spcAft>
              <a:buSzPct val="100000"/>
              <a:buChar char="•"/>
            </a:pPr>
            <a:r>
              <a:rPr lang="en-US" sz="1250" dirty="0">
                <a:solidFill>
                  <a:schemeClr val="tx1"/>
                </a:solidFill>
              </a:rPr>
              <a:t>Product Hunt and Show HN launch</a:t>
            </a:r>
            <a:endParaRPr lang="en-US" sz="1250" dirty="0"/>
          </a:p>
        </p:txBody>
      </p:sp>
      <p:sp>
        <p:nvSpPr>
          <p:cNvPr id="29" name="Outcome box"/>
          <p:cNvSpPr/>
          <p:nvPr/>
        </p:nvSpPr>
        <p:spPr>
          <a:xfrm>
            <a:off x="6414516" y="4892040"/>
            <a:ext cx="2224278" cy="914400"/>
          </a:xfrm>
          <a:prstGeom prst="roundRect">
            <a:avLst>
              <a:gd name="adj" fmla="val 8000"/>
            </a:avLst>
          </a:prstGeom>
          <a:solidFill>
            <a:srgbClr val="E4F6EF"/>
          </a:solidFill>
          <a:ln w="12700">
            <a:solidFill>
              <a:srgbClr val="CDEBE0"/>
            </a:solidFill>
            <a:prstDash val="solid"/>
          </a:ln>
        </p:spPr>
      </p:sp>
      <p:sp>
        <p:nvSpPr>
          <p:cNvPr id="30" name="Text 28"/>
          <p:cNvSpPr txBox="1"/>
          <p:nvPr/>
        </p:nvSpPr>
        <p:spPr>
          <a:xfrm>
            <a:off x="6579108" y="5001768"/>
            <a:ext cx="1895094" cy="219456"/>
          </a:xfrm>
          <a:prstGeom prst="rect">
            <a:avLst/>
          </a:prstGeom>
          <a:noFill/>
          <a:ln/>
        </p:spPr>
        <p:txBody>
          <a:bodyPr wrap="square" lIns="0" tIns="0" rIns="0" bIns="0" rtlCol="0" anchor="t"/>
          <a:lstStyle/>
          <a:p>
            <a:pPr indent="0" marL="0">
              <a:buNone/>
            </a:pPr>
            <a:r>
              <a:rPr lang="en-US" sz="950" b="1" spc="120" kern="0" dirty="0">
                <a:solidFill>
                  <a:srgbClr val="179C6E"/>
                </a:solidFill>
              </a:rPr>
              <a:t>OUTCOME</a:t>
            </a:r>
            <a:endParaRPr lang="en-US" sz="950" dirty="0"/>
          </a:p>
        </p:txBody>
      </p:sp>
      <p:sp>
        <p:nvSpPr>
          <p:cNvPr id="31" name="Text 29"/>
          <p:cNvSpPr txBox="1"/>
          <p:nvPr/>
        </p:nvSpPr>
        <p:spPr>
          <a:xfrm>
            <a:off x="6579108" y="5239512"/>
            <a:ext cx="1895094" cy="502920"/>
          </a:xfrm>
          <a:prstGeom prst="rect">
            <a:avLst/>
          </a:prstGeom>
          <a:noFill/>
          <a:ln/>
        </p:spPr>
        <p:txBody>
          <a:bodyPr wrap="square" lIns="0" tIns="0" rIns="0" bIns="0" rtlCol="0" anchor="t"/>
          <a:lstStyle/>
          <a:p>
            <a:pPr indent="0" marL="0">
              <a:buNone/>
            </a:pPr>
            <a:r>
              <a:rPr lang="en-US" sz="1200" dirty="0">
                <a:solidFill>
                  <a:srgbClr val="156048"/>
                </a:solidFill>
              </a:rPr>
              <a:t>Verified reviews AI can quote</a:t>
            </a:r>
            <a:endParaRPr lang="en-US" sz="1200" dirty="0"/>
          </a:p>
        </p:txBody>
      </p:sp>
      <p:sp>
        <p:nvSpPr>
          <p:cNvPr id="32" name="Phase card"/>
          <p:cNvSpPr/>
          <p:nvPr/>
        </p:nvSpPr>
        <p:spPr>
          <a:xfrm>
            <a:off x="9095994" y="1645920"/>
            <a:ext cx="2590038" cy="4343400"/>
          </a:xfrm>
          <a:prstGeom prst="roundRect">
            <a:avLst>
              <a:gd name="adj" fmla="val 2824"/>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33" name="Phase number"/>
          <p:cNvSpPr/>
          <p:nvPr/>
        </p:nvSpPr>
        <p:spPr>
          <a:xfrm>
            <a:off x="9352026" y="1901952"/>
            <a:ext cx="640080" cy="640080"/>
          </a:xfrm>
          <a:prstGeom prst="ellipse">
            <a:avLst/>
          </a:prstGeom>
          <a:solidFill>
            <a:srgbClr val="6D3FD4"/>
          </a:solidFill>
          <a:ln w="12700">
            <a:solidFill>
              <a:srgbClr val="8B5CF6"/>
            </a:solidFill>
            <a:prstDash val="solid"/>
          </a:ln>
        </p:spPr>
      </p:sp>
      <p:sp>
        <p:nvSpPr>
          <p:cNvPr id="34" name="Text 32"/>
          <p:cNvSpPr txBox="1"/>
          <p:nvPr/>
        </p:nvSpPr>
        <p:spPr>
          <a:xfrm>
            <a:off x="9352026" y="190195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04</a:t>
            </a:r>
            <a:endParaRPr lang="en-US" sz="1800" dirty="0"/>
          </a:p>
        </p:txBody>
      </p:sp>
      <p:sp>
        <p:nvSpPr>
          <p:cNvPr id="35" name="Text 33"/>
          <p:cNvSpPr txBox="1"/>
          <p:nvPr/>
        </p:nvSpPr>
        <p:spPr>
          <a:xfrm>
            <a:off x="10101834" y="1975104"/>
            <a:ext cx="1401318" cy="228600"/>
          </a:xfrm>
          <a:prstGeom prst="rect">
            <a:avLst/>
          </a:prstGeom>
          <a:noFill/>
          <a:ln/>
        </p:spPr>
        <p:txBody>
          <a:bodyPr wrap="square" lIns="0" tIns="0" rIns="0" bIns="0" rtlCol="0" anchor="t"/>
          <a:lstStyle/>
          <a:p>
            <a:pPr indent="0" marL="0">
              <a:buNone/>
            </a:pPr>
            <a:r>
              <a:rPr lang="en-US" sz="1000" b="1" spc="120" kern="0" dirty="0">
                <a:solidFill>
                  <a:schemeClr val="accent2"/>
                </a:solidFill>
              </a:rPr>
              <a:t>MONTH 4 ONWARDS</a:t>
            </a:r>
            <a:endParaRPr lang="en-US" sz="1000" dirty="0"/>
          </a:p>
        </p:txBody>
      </p:sp>
      <p:sp>
        <p:nvSpPr>
          <p:cNvPr id="36" name="Text 34"/>
          <p:cNvSpPr txBox="1"/>
          <p:nvPr/>
        </p:nvSpPr>
        <p:spPr>
          <a:xfrm>
            <a:off x="10101834" y="2194560"/>
            <a:ext cx="1401318" cy="329184"/>
          </a:xfrm>
          <a:prstGeom prst="rect">
            <a:avLst/>
          </a:prstGeom>
          <a:noFill/>
          <a:ln/>
        </p:spPr>
        <p:txBody>
          <a:bodyPr wrap="square" lIns="0" tIns="0" rIns="0" bIns="0" rtlCol="0" anchor="t"/>
          <a:lstStyle/>
          <a:p>
            <a:pPr indent="0" marL="0">
              <a:buNone/>
            </a:pPr>
            <a:r>
              <a:rPr lang="en-US" sz="1500" b="1" dirty="0">
                <a:solidFill>
                  <a:schemeClr val="tx1"/>
                </a:solidFill>
              </a:rPr>
              <a:t>Authority and presence</a:t>
            </a:r>
            <a:endParaRPr lang="en-US" sz="1500" dirty="0"/>
          </a:p>
        </p:txBody>
      </p:sp>
      <p:sp>
        <p:nvSpPr>
          <p:cNvPr id="37" name="Text 35"/>
          <p:cNvSpPr txBox="1"/>
          <p:nvPr/>
        </p:nvSpPr>
        <p:spPr>
          <a:xfrm>
            <a:off x="9352026" y="2788920"/>
            <a:ext cx="2132838" cy="19202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Backlinks every month</a:t>
            </a:r>
            <a:endParaRPr lang="en-US" sz="1250" dirty="0"/>
          </a:p>
          <a:p>
            <a:pPr marL="177800" indent="-177800">
              <a:spcAft>
                <a:spcPts val="700"/>
              </a:spcAft>
              <a:buSzPct val="100000"/>
              <a:buChar char="•"/>
            </a:pPr>
            <a:r>
              <a:rPr lang="en-US" sz="1250" dirty="0">
                <a:solidFill>
                  <a:schemeClr val="tx1"/>
                </a:solidFill>
              </a:rPr>
              <a:t>Steady social media presence</a:t>
            </a:r>
            <a:endParaRPr lang="en-US" sz="1250" dirty="0"/>
          </a:p>
          <a:p>
            <a:pPr marL="177800" indent="-177800">
              <a:spcAft>
                <a:spcPts val="700"/>
              </a:spcAft>
              <a:buSzPct val="100000"/>
              <a:buChar char="•"/>
            </a:pPr>
            <a:r>
              <a:rPr lang="en-US" sz="1250" dirty="0">
                <a:solidFill>
                  <a:schemeClr val="tx1"/>
                </a:solidFill>
              </a:rPr>
              <a:t>Ongoing content and AI tracking</a:t>
            </a:r>
            <a:endParaRPr lang="en-US" sz="1250" dirty="0"/>
          </a:p>
          <a:p>
            <a:pPr marL="177800" indent="-177800">
              <a:spcAft>
                <a:spcPts val="700"/>
              </a:spcAft>
              <a:buSzPct val="100000"/>
              <a:buChar char="•"/>
            </a:pPr>
            <a:r>
              <a:rPr lang="en-US" sz="1250" dirty="0">
                <a:solidFill>
                  <a:schemeClr val="tx1"/>
                </a:solidFill>
              </a:rPr>
              <a:t>Monthly reporting</a:t>
            </a:r>
            <a:endParaRPr lang="en-US" sz="1250" dirty="0"/>
          </a:p>
          <a:p>
            <a:pPr marL="177800" indent="-177800">
              <a:spcAft>
                <a:spcPts val="700"/>
              </a:spcAft>
              <a:buSzPct val="100000"/>
              <a:buChar char="•"/>
            </a:pPr>
            <a:r>
              <a:rPr lang="en-US" sz="1250" dirty="0">
                <a:solidFill>
                  <a:schemeClr val="tx1"/>
                </a:solidFill>
              </a:rPr>
              <a:t>Quarterly strategy review</a:t>
            </a:r>
            <a:endParaRPr lang="en-US" sz="1250" dirty="0"/>
          </a:p>
        </p:txBody>
      </p:sp>
      <p:sp>
        <p:nvSpPr>
          <p:cNvPr id="38" name="Outcome box"/>
          <p:cNvSpPr/>
          <p:nvPr/>
        </p:nvSpPr>
        <p:spPr>
          <a:xfrm>
            <a:off x="9278874" y="4892040"/>
            <a:ext cx="2224278" cy="914400"/>
          </a:xfrm>
          <a:prstGeom prst="roundRect">
            <a:avLst>
              <a:gd name="adj" fmla="val 8000"/>
            </a:avLst>
          </a:prstGeom>
          <a:solidFill>
            <a:srgbClr val="E4F6EF"/>
          </a:solidFill>
          <a:ln w="12700">
            <a:solidFill>
              <a:srgbClr val="CDEBE0"/>
            </a:solidFill>
            <a:prstDash val="solid"/>
          </a:ln>
        </p:spPr>
      </p:sp>
      <p:sp>
        <p:nvSpPr>
          <p:cNvPr id="39" name="Text 37"/>
          <p:cNvSpPr txBox="1"/>
          <p:nvPr/>
        </p:nvSpPr>
        <p:spPr>
          <a:xfrm>
            <a:off x="9443466" y="5001768"/>
            <a:ext cx="1895094" cy="219456"/>
          </a:xfrm>
          <a:prstGeom prst="rect">
            <a:avLst/>
          </a:prstGeom>
          <a:noFill/>
          <a:ln/>
        </p:spPr>
        <p:txBody>
          <a:bodyPr wrap="square" lIns="0" tIns="0" rIns="0" bIns="0" rtlCol="0" anchor="t"/>
          <a:lstStyle/>
          <a:p>
            <a:pPr indent="0" marL="0">
              <a:buNone/>
            </a:pPr>
            <a:r>
              <a:rPr lang="en-US" sz="950" b="1" spc="120" kern="0" dirty="0">
                <a:solidFill>
                  <a:srgbClr val="179C6E"/>
                </a:solidFill>
              </a:rPr>
              <a:t>OUTCOME</a:t>
            </a:r>
            <a:endParaRPr lang="en-US" sz="950" dirty="0"/>
          </a:p>
        </p:txBody>
      </p:sp>
      <p:sp>
        <p:nvSpPr>
          <p:cNvPr id="40" name="Text 38"/>
          <p:cNvSpPr txBox="1"/>
          <p:nvPr/>
        </p:nvSpPr>
        <p:spPr>
          <a:xfrm>
            <a:off x="9443466" y="5239512"/>
            <a:ext cx="1895094" cy="502920"/>
          </a:xfrm>
          <a:prstGeom prst="rect">
            <a:avLst/>
          </a:prstGeom>
          <a:noFill/>
          <a:ln/>
        </p:spPr>
        <p:txBody>
          <a:bodyPr wrap="square" lIns="0" tIns="0" rIns="0" bIns="0" rtlCol="0" anchor="t"/>
          <a:lstStyle/>
          <a:p>
            <a:pPr indent="0" marL="0">
              <a:buNone/>
            </a:pPr>
            <a:r>
              <a:rPr lang="en-US" sz="1200" dirty="0">
                <a:solidFill>
                  <a:srgbClr val="156048"/>
                </a:solidFill>
              </a:rPr>
              <a:t>Compounding rankings and mentions</a:t>
            </a:r>
            <a:endParaRPr lang="en-US" sz="12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MONTH 1  ·  FOUNDATION</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Make every signal clean before we amplify it</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Exit check: every page indexed, tracking verified, every profile consistent. Baseline report shared on day 30.</a:t>
            </a:r>
            <a:endParaRPr lang="en-US" sz="1250" dirty="0"/>
          </a:p>
        </p:txBody>
      </p:sp>
      <p:sp>
        <p:nvSpPr>
          <p:cNvPr id="5" name="Workstream card"/>
          <p:cNvSpPr/>
          <p:nvPr/>
        </p:nvSpPr>
        <p:spPr>
          <a:xfrm>
            <a:off x="502920" y="1600200"/>
            <a:ext cx="5454396" cy="2103120"/>
          </a:xfrm>
          <a:prstGeom prst="roundRect">
            <a:avLst>
              <a:gd name="adj" fmla="val 3478"/>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6" name="Icon circle"/>
          <p:cNvSpPr/>
          <p:nvPr/>
        </p:nvSpPr>
        <p:spPr>
          <a:xfrm>
            <a:off x="758952" y="1828800"/>
            <a:ext cx="502920" cy="502920"/>
          </a:xfrm>
          <a:prstGeom prst="ellipse">
            <a:avLst/>
          </a:prstGeom>
          <a:solidFill>
            <a:srgbClr val="8B5CF6"/>
          </a:solidFill>
          <a:ln w="12700">
            <a:solidFill>
              <a:srgbClr val="8B5CF6"/>
            </a:solidFill>
            <a:prstDash val="solid"/>
          </a:ln>
        </p:spPr>
      </p:sp>
      <p:pic>
        <p:nvPicPr>
          <p:cNvPr id="7" name="Icon" descr="preencoded.png">    </p:cNvPr>
          <p:cNvPicPr>
            <a:picLocks noChangeAspect="1"/>
          </p:cNvPicPr>
          <p:nvPr/>
        </p:nvPicPr>
        <p:blipFill>
          <a:blip r:embed="rId1"/>
          <a:stretch>
            <a:fillRect/>
          </a:stretch>
        </p:blipFill>
        <p:spPr>
          <a:xfrm>
            <a:off x="889711" y="1959559"/>
            <a:ext cx="241402" cy="241402"/>
          </a:xfrm>
          <a:prstGeom prst="rect">
            <a:avLst/>
          </a:prstGeom>
        </p:spPr>
      </p:pic>
      <p:sp>
        <p:nvSpPr>
          <p:cNvPr id="8" name="Text 5"/>
          <p:cNvSpPr txBox="1"/>
          <p:nvPr/>
        </p:nvSpPr>
        <p:spPr>
          <a:xfrm>
            <a:off x="1399032" y="1828800"/>
            <a:ext cx="4357116" cy="502920"/>
          </a:xfrm>
          <a:prstGeom prst="rect">
            <a:avLst/>
          </a:prstGeom>
          <a:noFill/>
          <a:ln/>
        </p:spPr>
        <p:txBody>
          <a:bodyPr wrap="square" lIns="0" tIns="0" rIns="0" bIns="0" rtlCol="0" anchor="ctr"/>
          <a:lstStyle/>
          <a:p>
            <a:pPr indent="0" marL="0">
              <a:buNone/>
            </a:pPr>
            <a:r>
              <a:rPr lang="en-US" sz="1600" b="1" dirty="0">
                <a:solidFill>
                  <a:schemeClr val="tx1"/>
                </a:solidFill>
              </a:rPr>
              <a:t>Website: on-page and technical SEO</a:t>
            </a:r>
            <a:endParaRPr lang="en-US" sz="1600" dirty="0"/>
          </a:p>
        </p:txBody>
      </p:sp>
      <p:sp>
        <p:nvSpPr>
          <p:cNvPr id="9" name="Text 6"/>
          <p:cNvSpPr txBox="1"/>
          <p:nvPr/>
        </p:nvSpPr>
        <p:spPr>
          <a:xfrm>
            <a:off x="777240" y="2468880"/>
            <a:ext cx="4951476" cy="114300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Unique title, description and H1 on all 28 pages</a:t>
            </a:r>
            <a:endParaRPr lang="en-US" sz="1250" dirty="0"/>
          </a:p>
          <a:p>
            <a:pPr marL="177800" indent="-177800">
              <a:spcAft>
                <a:spcPts val="300"/>
              </a:spcAft>
              <a:buSzPct val="100000"/>
              <a:buChar char="•"/>
            </a:pPr>
            <a:r>
              <a:rPr lang="en-US" sz="1250" dirty="0">
                <a:solidFill>
                  <a:schemeClr val="tx1"/>
                </a:solidFill>
              </a:rPr>
              <a:t>Article, Breadcrumb and sameAs schema</a:t>
            </a:r>
            <a:endParaRPr lang="en-US" sz="1250" dirty="0"/>
          </a:p>
          <a:p>
            <a:pPr marL="177800" indent="-177800">
              <a:spcAft>
                <a:spcPts val="300"/>
              </a:spcAft>
              <a:buSzPct val="100000"/>
              <a:buChar char="•"/>
            </a:pPr>
            <a:r>
              <a:rPr lang="en-US" sz="1250" dirty="0">
                <a:solidFill>
                  <a:schemeClr val="tx1"/>
                </a:solidFill>
              </a:rPr>
              <a:t>Mobile speed from 80 toward 90+</a:t>
            </a:r>
            <a:endParaRPr lang="en-US" sz="1250" dirty="0"/>
          </a:p>
          <a:p>
            <a:pPr marL="177800" indent="-177800">
              <a:spcAft>
                <a:spcPts val="300"/>
              </a:spcAft>
              <a:buSzPct val="100000"/>
              <a:buChar char="•"/>
            </a:pPr>
            <a:r>
              <a:rPr lang="en-US" sz="1250" dirty="0">
                <a:solidFill>
                  <a:schemeClr val="tx1"/>
                </a:solidFill>
              </a:rPr>
              <a:t>Internal links from every page toward signup</a:t>
            </a:r>
            <a:endParaRPr lang="en-US" sz="1250" dirty="0"/>
          </a:p>
        </p:txBody>
      </p:sp>
      <p:sp>
        <p:nvSpPr>
          <p:cNvPr id="10" name="Workstream card"/>
          <p:cNvSpPr/>
          <p:nvPr/>
        </p:nvSpPr>
        <p:spPr>
          <a:xfrm>
            <a:off x="6231636" y="1600200"/>
            <a:ext cx="5454396" cy="2103120"/>
          </a:xfrm>
          <a:prstGeom prst="roundRect">
            <a:avLst>
              <a:gd name="adj" fmla="val 3478"/>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1" name="Icon circle"/>
          <p:cNvSpPr/>
          <p:nvPr/>
        </p:nvSpPr>
        <p:spPr>
          <a:xfrm>
            <a:off x="6487668" y="1828800"/>
            <a:ext cx="502920" cy="502920"/>
          </a:xfrm>
          <a:prstGeom prst="ellipse">
            <a:avLst/>
          </a:prstGeom>
          <a:solidFill>
            <a:srgbClr val="8B5CF6"/>
          </a:solidFill>
          <a:ln w="12700">
            <a:solidFill>
              <a:srgbClr val="8B5CF6"/>
            </a:solidFill>
            <a:prstDash val="solid"/>
          </a:ln>
        </p:spPr>
      </p:sp>
      <p:pic>
        <p:nvPicPr>
          <p:cNvPr id="12" name="Icon" descr="preencoded.png">    </p:cNvPr>
          <p:cNvPicPr>
            <a:picLocks noChangeAspect="1"/>
          </p:cNvPicPr>
          <p:nvPr/>
        </p:nvPicPr>
        <p:blipFill>
          <a:blip r:embed="rId2"/>
          <a:stretch>
            <a:fillRect/>
          </a:stretch>
        </p:blipFill>
        <p:spPr>
          <a:xfrm>
            <a:off x="6618427" y="1959559"/>
            <a:ext cx="241402" cy="241402"/>
          </a:xfrm>
          <a:prstGeom prst="rect">
            <a:avLst/>
          </a:prstGeom>
        </p:spPr>
      </p:pic>
      <p:sp>
        <p:nvSpPr>
          <p:cNvPr id="13" name="Text 9"/>
          <p:cNvSpPr txBox="1"/>
          <p:nvPr/>
        </p:nvSpPr>
        <p:spPr>
          <a:xfrm>
            <a:off x="7127748" y="1828800"/>
            <a:ext cx="4357116" cy="502920"/>
          </a:xfrm>
          <a:prstGeom prst="rect">
            <a:avLst/>
          </a:prstGeom>
          <a:noFill/>
          <a:ln/>
        </p:spPr>
        <p:txBody>
          <a:bodyPr wrap="square" lIns="0" tIns="0" rIns="0" bIns="0" rtlCol="0" anchor="ctr"/>
          <a:lstStyle/>
          <a:p>
            <a:pPr indent="0" marL="0">
              <a:buNone/>
            </a:pPr>
            <a:r>
              <a:rPr lang="en-US" sz="1600" b="1" dirty="0">
                <a:solidFill>
                  <a:schemeClr val="tx1"/>
                </a:solidFill>
              </a:rPr>
              <a:t>Keyword optimization</a:t>
            </a:r>
            <a:endParaRPr lang="en-US" sz="1600" dirty="0"/>
          </a:p>
        </p:txBody>
      </p:sp>
      <p:sp>
        <p:nvSpPr>
          <p:cNvPr id="14" name="Text 10"/>
          <p:cNvSpPr txBox="1"/>
          <p:nvPr/>
        </p:nvSpPr>
        <p:spPr>
          <a:xfrm>
            <a:off x="6505956" y="2468880"/>
            <a:ext cx="4951476" cy="114300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Keyword research with real search volumes</a:t>
            </a:r>
            <a:endParaRPr lang="en-US" sz="1250" dirty="0"/>
          </a:p>
          <a:p>
            <a:pPr marL="177800" indent="-177800">
              <a:spcAft>
                <a:spcPts val="300"/>
              </a:spcAft>
              <a:buSzPct val="100000"/>
              <a:buChar char="•"/>
            </a:pPr>
            <a:r>
              <a:rPr lang="en-US" sz="1250" dirty="0">
                <a:solidFill>
                  <a:schemeClr val="tx1"/>
                </a:solidFill>
              </a:rPr>
              <a:t>One primary keyword per page (see keyword plan)</a:t>
            </a:r>
            <a:endParaRPr lang="en-US" sz="1250" dirty="0"/>
          </a:p>
          <a:p>
            <a:pPr marL="177800" indent="-177800">
              <a:spcAft>
                <a:spcPts val="300"/>
              </a:spcAft>
              <a:buSzPct val="100000"/>
              <a:buChar char="•"/>
            </a:pPr>
            <a:r>
              <a:rPr lang="en-US" sz="1250" dirty="0">
                <a:solidFill>
                  <a:schemeClr val="tx1"/>
                </a:solidFill>
              </a:rPr>
              <a:t>Rewrite the homepage hero around the core phrase</a:t>
            </a:r>
            <a:endParaRPr lang="en-US" sz="1250" dirty="0"/>
          </a:p>
          <a:p>
            <a:pPr marL="177800" indent="-177800">
              <a:spcAft>
                <a:spcPts val="300"/>
              </a:spcAft>
              <a:buSzPct val="100000"/>
              <a:buChar char="•"/>
            </a:pPr>
            <a:r>
              <a:rPr lang="en-US" sz="1250" dirty="0">
                <a:solidFill>
                  <a:schemeClr val="tx1"/>
                </a:solidFill>
              </a:rPr>
              <a:t>Brief the 10 Month 2 blogs</a:t>
            </a:r>
            <a:endParaRPr lang="en-US" sz="1250" dirty="0"/>
          </a:p>
        </p:txBody>
      </p:sp>
      <p:sp>
        <p:nvSpPr>
          <p:cNvPr id="15" name="Workstream card"/>
          <p:cNvSpPr/>
          <p:nvPr/>
        </p:nvSpPr>
        <p:spPr>
          <a:xfrm>
            <a:off x="502920" y="3931920"/>
            <a:ext cx="5454396" cy="2103120"/>
          </a:xfrm>
          <a:prstGeom prst="roundRect">
            <a:avLst>
              <a:gd name="adj" fmla="val 3478"/>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6" name="Icon circle"/>
          <p:cNvSpPr/>
          <p:nvPr/>
        </p:nvSpPr>
        <p:spPr>
          <a:xfrm>
            <a:off x="758952" y="4160520"/>
            <a:ext cx="502920" cy="502920"/>
          </a:xfrm>
          <a:prstGeom prst="ellipse">
            <a:avLst/>
          </a:prstGeom>
          <a:solidFill>
            <a:srgbClr val="8B5CF6"/>
          </a:solidFill>
          <a:ln w="12700">
            <a:solidFill>
              <a:srgbClr val="8B5CF6"/>
            </a:solidFill>
            <a:prstDash val="solid"/>
          </a:ln>
        </p:spPr>
      </p:sp>
      <p:pic>
        <p:nvPicPr>
          <p:cNvPr id="17" name="Icon" descr="preencoded.png">    </p:cNvPr>
          <p:cNvPicPr>
            <a:picLocks noChangeAspect="1"/>
          </p:cNvPicPr>
          <p:nvPr/>
        </p:nvPicPr>
        <p:blipFill>
          <a:blip r:embed="rId3"/>
          <a:stretch>
            <a:fillRect/>
          </a:stretch>
        </p:blipFill>
        <p:spPr>
          <a:xfrm>
            <a:off x="889711" y="4291279"/>
            <a:ext cx="241402" cy="241402"/>
          </a:xfrm>
          <a:prstGeom prst="rect">
            <a:avLst/>
          </a:prstGeom>
        </p:spPr>
      </p:pic>
      <p:sp>
        <p:nvSpPr>
          <p:cNvPr id="18" name="Text 13"/>
          <p:cNvSpPr txBox="1"/>
          <p:nvPr/>
        </p:nvSpPr>
        <p:spPr>
          <a:xfrm>
            <a:off x="1399032" y="4160520"/>
            <a:ext cx="4357116" cy="502920"/>
          </a:xfrm>
          <a:prstGeom prst="rect">
            <a:avLst/>
          </a:prstGeom>
          <a:noFill/>
          <a:ln/>
        </p:spPr>
        <p:txBody>
          <a:bodyPr wrap="square" lIns="0" tIns="0" rIns="0" bIns="0" rtlCol="0" anchor="ctr"/>
          <a:lstStyle/>
          <a:p>
            <a:pPr indent="0" marL="0">
              <a:buNone/>
            </a:pPr>
            <a:r>
              <a:rPr lang="en-US" sz="1600" b="1" dirty="0">
                <a:solidFill>
                  <a:schemeClr val="tx1"/>
                </a:solidFill>
              </a:rPr>
              <a:t>Analytics installation</a:t>
            </a:r>
            <a:endParaRPr lang="en-US" sz="1600" dirty="0"/>
          </a:p>
        </p:txBody>
      </p:sp>
      <p:sp>
        <p:nvSpPr>
          <p:cNvPr id="19" name="Text 14"/>
          <p:cNvSpPr txBox="1"/>
          <p:nvPr/>
        </p:nvSpPr>
        <p:spPr>
          <a:xfrm>
            <a:off x="777240" y="4800600"/>
            <a:ext cx="4951476" cy="114300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Google Tag Manager as the single container</a:t>
            </a:r>
            <a:endParaRPr lang="en-US" sz="1250" dirty="0"/>
          </a:p>
          <a:p>
            <a:pPr marL="177800" indent="-177800">
              <a:spcAft>
                <a:spcPts val="300"/>
              </a:spcAft>
              <a:buSzPct val="100000"/>
              <a:buChar char="•"/>
            </a:pPr>
            <a:r>
              <a:rPr lang="en-US" sz="1250" dirty="0">
                <a:solidFill>
                  <a:schemeClr val="tx1"/>
                </a:solidFill>
              </a:rPr>
              <a:t>GA4 installed through GTM, conversions defined</a:t>
            </a:r>
            <a:endParaRPr lang="en-US" sz="1250" dirty="0"/>
          </a:p>
          <a:p>
            <a:pPr marL="177800" indent="-177800">
              <a:spcAft>
                <a:spcPts val="300"/>
              </a:spcAft>
              <a:buSzPct val="100000"/>
              <a:buChar char="•"/>
            </a:pPr>
            <a:r>
              <a:rPr lang="en-US" sz="1250" dirty="0">
                <a:solidFill>
                  <a:schemeClr val="tx1"/>
                </a:solidFill>
              </a:rPr>
              <a:t>Search Console and Bing Webmaster Tools, sitemaps submitted</a:t>
            </a:r>
            <a:endParaRPr lang="en-US" sz="1250" dirty="0"/>
          </a:p>
          <a:p>
            <a:pPr marL="177800" indent="-177800">
              <a:spcAft>
                <a:spcPts val="300"/>
              </a:spcAft>
              <a:buSzPct val="100000"/>
              <a:buChar char="•"/>
            </a:pPr>
            <a:r>
              <a:rPr lang="en-US" sz="1250" dirty="0">
                <a:solidFill>
                  <a:schemeClr val="tx1"/>
                </a:solidFill>
              </a:rPr>
              <a:t>Microsoft Clarity heatmaps and session recordings</a:t>
            </a:r>
            <a:endParaRPr lang="en-US" sz="1250" dirty="0"/>
          </a:p>
        </p:txBody>
      </p:sp>
      <p:sp>
        <p:nvSpPr>
          <p:cNvPr id="20" name="Workstream card"/>
          <p:cNvSpPr/>
          <p:nvPr/>
        </p:nvSpPr>
        <p:spPr>
          <a:xfrm>
            <a:off x="6231636" y="3931920"/>
            <a:ext cx="5454396" cy="2103120"/>
          </a:xfrm>
          <a:prstGeom prst="roundRect">
            <a:avLst>
              <a:gd name="adj" fmla="val 3478"/>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1" name="Icon circle"/>
          <p:cNvSpPr/>
          <p:nvPr/>
        </p:nvSpPr>
        <p:spPr>
          <a:xfrm>
            <a:off x="6487668" y="4160520"/>
            <a:ext cx="502920" cy="502920"/>
          </a:xfrm>
          <a:prstGeom prst="ellipse">
            <a:avLst/>
          </a:prstGeom>
          <a:solidFill>
            <a:srgbClr val="8B5CF6"/>
          </a:solidFill>
          <a:ln w="12700">
            <a:solidFill>
              <a:srgbClr val="8B5CF6"/>
            </a:solidFill>
            <a:prstDash val="solid"/>
          </a:ln>
        </p:spPr>
      </p:sp>
      <p:pic>
        <p:nvPicPr>
          <p:cNvPr id="22" name="Icon" descr="preencoded.png">    </p:cNvPr>
          <p:cNvPicPr>
            <a:picLocks noChangeAspect="1"/>
          </p:cNvPicPr>
          <p:nvPr/>
        </p:nvPicPr>
        <p:blipFill>
          <a:blip r:embed="rId4"/>
          <a:stretch>
            <a:fillRect/>
          </a:stretch>
        </p:blipFill>
        <p:spPr>
          <a:xfrm>
            <a:off x="6618427" y="4291279"/>
            <a:ext cx="241402" cy="241402"/>
          </a:xfrm>
          <a:prstGeom prst="rect">
            <a:avLst/>
          </a:prstGeom>
        </p:spPr>
      </p:pic>
      <p:sp>
        <p:nvSpPr>
          <p:cNvPr id="23" name="Text 17"/>
          <p:cNvSpPr txBox="1"/>
          <p:nvPr/>
        </p:nvSpPr>
        <p:spPr>
          <a:xfrm>
            <a:off x="7127748" y="4160520"/>
            <a:ext cx="4357116" cy="502920"/>
          </a:xfrm>
          <a:prstGeom prst="rect">
            <a:avLst/>
          </a:prstGeom>
          <a:noFill/>
          <a:ln/>
        </p:spPr>
        <p:txBody>
          <a:bodyPr wrap="square" lIns="0" tIns="0" rIns="0" bIns="0" rtlCol="0" anchor="ctr"/>
          <a:lstStyle/>
          <a:p>
            <a:pPr indent="0" marL="0">
              <a:buNone/>
            </a:pPr>
            <a:r>
              <a:rPr lang="en-US" sz="1600" b="1" dirty="0">
                <a:solidFill>
                  <a:schemeClr val="tx1"/>
                </a:solidFill>
              </a:rPr>
              <a:t>Social media optimization and promotions</a:t>
            </a:r>
            <a:endParaRPr lang="en-US" sz="1600" dirty="0"/>
          </a:p>
        </p:txBody>
      </p:sp>
      <p:sp>
        <p:nvSpPr>
          <p:cNvPr id="24" name="Text 18"/>
          <p:cNvSpPr txBox="1"/>
          <p:nvPr/>
        </p:nvSpPr>
        <p:spPr>
          <a:xfrm>
            <a:off x="6505956" y="4800600"/>
            <a:ext cx="4951476" cy="114300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Add LinkedIn, X, YouTube, GitHub and Reddit to today’s Facebook, Instagram and Threads</a:t>
            </a:r>
            <a:endParaRPr lang="en-US" sz="1250" dirty="0"/>
          </a:p>
          <a:p>
            <a:pPr marL="177800" indent="-177800">
              <a:spcAft>
                <a:spcPts val="300"/>
              </a:spcAft>
              <a:buSzPct val="100000"/>
              <a:buChar char="•"/>
            </a:pPr>
            <a:r>
              <a:rPr lang="en-US" sz="1250" dirty="0">
                <a:solidFill>
                  <a:schemeClr val="tx1"/>
                </a:solidFill>
              </a:rPr>
              <a:t>Same logo, bio and link on every profile</a:t>
            </a:r>
            <a:endParaRPr lang="en-US" sz="1250" dirty="0"/>
          </a:p>
          <a:p>
            <a:pPr marL="177800" indent="-177800">
              <a:spcAft>
                <a:spcPts val="300"/>
              </a:spcAft>
              <a:buSzPct val="100000"/>
              <a:buChar char="•"/>
            </a:pPr>
            <a:r>
              <a:rPr lang="en-US" sz="1250" dirty="0">
                <a:solidFill>
                  <a:schemeClr val="tx1"/>
                </a:solidFill>
              </a:rPr>
              <a:t>Pinned intro posts and a launch announcement</a:t>
            </a:r>
            <a:endParaRPr lang="en-US" sz="1250" dirty="0"/>
          </a:p>
          <a:p>
            <a:pPr marL="177800" indent="-177800">
              <a:spcAft>
                <a:spcPts val="300"/>
              </a:spcAft>
              <a:buSzPct val="100000"/>
              <a:buChar char="•"/>
            </a:pPr>
            <a:r>
              <a:rPr lang="en-US" sz="1250" dirty="0">
                <a:solidFill>
                  <a:schemeClr val="tx1"/>
                </a:solidFill>
              </a:rPr>
              <a:t>Start a 3-posts-a-week promotion rhythm</a:t>
            </a:r>
            <a:endParaRPr lang="en-US" sz="125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MONTH 2  ·  CONTENT AND BRANDING</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Publish what buyers search, list where they compare</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Every blog links to a product page, and every listing links back to taskive.ai.</a:t>
            </a:r>
            <a:endParaRPr lang="en-US" sz="1250" dirty="0"/>
          </a:p>
        </p:txBody>
      </p:sp>
      <p:sp>
        <p:nvSpPr>
          <p:cNvPr id="5" name="Blog plan card"/>
          <p:cNvSpPr/>
          <p:nvPr/>
        </p:nvSpPr>
        <p:spPr>
          <a:xfrm>
            <a:off x="502920" y="1600200"/>
            <a:ext cx="6172200" cy="4389120"/>
          </a:xfrm>
          <a:prstGeom prst="roundRect">
            <a:avLst>
              <a:gd name="adj" fmla="val 1667"/>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6" name="Icon circle"/>
          <p:cNvSpPr/>
          <p:nvPr/>
        </p:nvSpPr>
        <p:spPr>
          <a:xfrm>
            <a:off x="758952" y="1801368"/>
            <a:ext cx="457200" cy="457200"/>
          </a:xfrm>
          <a:prstGeom prst="ellipse">
            <a:avLst/>
          </a:prstGeom>
          <a:solidFill>
            <a:srgbClr val="8B5CF6"/>
          </a:solidFill>
          <a:ln w="12700">
            <a:solidFill>
              <a:srgbClr val="8B5CF6"/>
            </a:solidFill>
            <a:prstDash val="solid"/>
          </a:ln>
        </p:spPr>
      </p:sp>
      <p:pic>
        <p:nvPicPr>
          <p:cNvPr id="7" name="Icon" descr="preencoded.png">    </p:cNvPr>
          <p:cNvPicPr>
            <a:picLocks noChangeAspect="1"/>
          </p:cNvPicPr>
          <p:nvPr/>
        </p:nvPicPr>
        <p:blipFill>
          <a:blip r:embed="rId1"/>
          <a:stretch>
            <a:fillRect/>
          </a:stretch>
        </p:blipFill>
        <p:spPr>
          <a:xfrm>
            <a:off x="877824" y="1920240"/>
            <a:ext cx="219456" cy="219456"/>
          </a:xfrm>
          <a:prstGeom prst="rect">
            <a:avLst/>
          </a:prstGeom>
        </p:spPr>
      </p:pic>
      <p:sp>
        <p:nvSpPr>
          <p:cNvPr id="8" name="Text 5"/>
          <p:cNvSpPr txBox="1"/>
          <p:nvPr/>
        </p:nvSpPr>
        <p:spPr>
          <a:xfrm>
            <a:off x="1344168" y="1801368"/>
            <a:ext cx="5074920" cy="457200"/>
          </a:xfrm>
          <a:prstGeom prst="rect">
            <a:avLst/>
          </a:prstGeom>
          <a:noFill/>
          <a:ln/>
        </p:spPr>
        <p:txBody>
          <a:bodyPr wrap="square" lIns="0" tIns="0" rIns="0" bIns="0" rtlCol="0" anchor="ctr"/>
          <a:lstStyle/>
          <a:p>
            <a:pPr indent="0" marL="0">
              <a:buNone/>
            </a:pPr>
            <a:r>
              <a:rPr lang="en-US" sz="1600" b="1" dirty="0">
                <a:solidFill>
                  <a:schemeClr val="tx1"/>
                </a:solidFill>
              </a:rPr>
              <a:t>10 high-intent blogs</a:t>
            </a:r>
            <a:endParaRPr lang="en-US" sz="1600" dirty="0"/>
          </a:p>
        </p:txBody>
      </p:sp>
      <p:graphicFrame>
        <p:nvGraphicFramePr>
          <p:cNvPr id="14" name="Blog list"/>
          <p:cNvGraphicFramePr>
            <a:graphicFrameLocks noGrp="1"/>
          </p:cNvGraphicFramePr>
          <p:nvPr>
            <p:extLst>
              <p:ext uri="{D42A27DB-BD31-4B8C-83A1-F6EECF244321}">
                <p14:modId xmlns:p14="http://schemas.microsoft.com/office/powerpoint/2010/main" val="1579011935"/>
              </p:ext>
            </p:extLst>
          </p:nvPr>
        </p:nvGraphicFramePr>
        <p:xfrm>
          <a:off x="704088" y="2377440"/>
          <a:ext cx="5769864" cy="914400"/>
        </p:xfrm>
        <a:graphic>
          <a:graphicData uri="http://schemas.openxmlformats.org/drawingml/2006/table">
            <a:tbl>
              <a:tblPr/>
              <a:tblGrid>
                <a:gridCol w="347472"/>
                <a:gridCol w="4645152"/>
                <a:gridCol w="777240"/>
              </a:tblGrid>
              <a:tr h="352044">
                <a:tc>
                  <a:txBody>
                    <a:bodyPr/>
                    <a:lstStyle/>
                    <a:p>
                      <a:pPr indent="0" marL="0">
                        <a:buNone/>
                      </a:pPr>
                      <a:r>
                        <a:rPr lang="en-US" sz="1200" b="1" dirty="0">
                          <a:solidFill>
                            <a:srgbClr val="8B5CF6"/>
                          </a:solidFill>
                        </a:rPr>
                        <a:t>1</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C1B22"/>
                          </a:solidFill>
                        </a:rPr>
                        <a:t>Best Jira Alternatives for AI-Native Engineering Teams</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6E6B7B"/>
                          </a:solidFill>
                        </a:rPr>
                        <a:t>List</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r>
              <a:tr h="352044">
                <a:tc>
                  <a:txBody>
                    <a:bodyPr/>
                    <a:lstStyle/>
                    <a:p>
                      <a:pPr indent="0" marL="0">
                        <a:buNone/>
                      </a:pPr>
                      <a:r>
                        <a:rPr lang="en-US" sz="1200" b="1" dirty="0">
                          <a:solidFill>
                            <a:srgbClr val="8B5CF6"/>
                          </a:solidFill>
                        </a:rPr>
                        <a:t>2</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C1B22"/>
                          </a:solidFill>
                        </a:rPr>
                        <a:t>Taskive vs Linear: Which Fits Teams Using Claude Code?</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6E6B7B"/>
                          </a:solidFill>
                        </a:rPr>
                        <a:t>Compare</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r>
              <a:tr h="352044">
                <a:tc>
                  <a:txBody>
                    <a:bodyPr/>
                    <a:lstStyle/>
                    <a:p>
                      <a:pPr indent="0" marL="0">
                        <a:buNone/>
                      </a:pPr>
                      <a:r>
                        <a:rPr lang="en-US" sz="1200" b="1" dirty="0">
                          <a:solidFill>
                            <a:srgbClr val="8B5CF6"/>
                          </a:solidFill>
                        </a:rPr>
                        <a:t>3</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C1B22"/>
                          </a:solidFill>
                        </a:rPr>
                        <a:t>How to Give Claude Code Full Project Context with MCP</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6E6B7B"/>
                          </a:solidFill>
                        </a:rPr>
                        <a:t>How-to</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r>
              <a:tr h="352044">
                <a:tc>
                  <a:txBody>
                    <a:bodyPr/>
                    <a:lstStyle/>
                    <a:p>
                      <a:pPr indent="0" marL="0">
                        <a:buNone/>
                      </a:pPr>
                      <a:r>
                        <a:rPr lang="en-US" sz="1200" b="1" dirty="0">
                          <a:solidFill>
                            <a:srgbClr val="8B5CF6"/>
                          </a:solidFill>
                        </a:rPr>
                        <a:t>4</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C1B22"/>
                          </a:solidFill>
                        </a:rPr>
                        <a:t>How to Connect Cursor to Your Project Board with MCP</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6E6B7B"/>
                          </a:solidFill>
                        </a:rPr>
                        <a:t>How-to</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r>
              <a:tr h="352044">
                <a:tc>
                  <a:txBody>
                    <a:bodyPr/>
                    <a:lstStyle/>
                    <a:p>
                      <a:pPr indent="0" marL="0">
                        <a:buNone/>
                      </a:pPr>
                      <a:r>
                        <a:rPr lang="en-US" sz="1200" b="1" dirty="0">
                          <a:solidFill>
                            <a:srgbClr val="8B5CF6"/>
                          </a:solidFill>
                        </a:rPr>
                        <a:t>5</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C1B22"/>
                          </a:solidFill>
                        </a:rPr>
                        <a:t>Best MCP Servers for Project Management in 2026</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6E6B7B"/>
                          </a:solidFill>
                        </a:rPr>
                        <a:t>List</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r>
              <a:tr h="352044">
                <a:tc>
                  <a:txBody>
                    <a:bodyPr/>
                    <a:lstStyle/>
                    <a:p>
                      <a:pPr indent="0" marL="0">
                        <a:buNone/>
                      </a:pPr>
                      <a:r>
                        <a:rPr lang="en-US" sz="1200" b="1" dirty="0">
                          <a:solidFill>
                            <a:srgbClr val="8B5CF6"/>
                          </a:solidFill>
                        </a:rPr>
                        <a:t>6</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C1B22"/>
                          </a:solidFill>
                        </a:rPr>
                        <a:t>Best Free Project Management Software for Dev Teams</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6E6B7B"/>
                          </a:solidFill>
                        </a:rPr>
                        <a:t>List</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r>
              <a:tr h="352044">
                <a:tc>
                  <a:txBody>
                    <a:bodyPr/>
                    <a:lstStyle/>
                    <a:p>
                      <a:pPr indent="0" marL="0">
                        <a:buNone/>
                      </a:pPr>
                      <a:r>
                        <a:rPr lang="en-US" sz="1200" b="1" dirty="0">
                          <a:solidFill>
                            <a:srgbClr val="8B5CF6"/>
                          </a:solidFill>
                        </a:rPr>
                        <a:t>7</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C1B22"/>
                          </a:solidFill>
                        </a:rPr>
                        <a:t>How to Move from Jira to a Free Tool in One Afternoon</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6E6B7B"/>
                          </a:solidFill>
                        </a:rPr>
                        <a:t>How-to</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r>
              <a:tr h="352044">
                <a:tc>
                  <a:txBody>
                    <a:bodyPr/>
                    <a:lstStyle/>
                    <a:p>
                      <a:pPr indent="0" marL="0">
                        <a:buNone/>
                      </a:pPr>
                      <a:r>
                        <a:rPr lang="en-US" sz="1200" b="1" dirty="0">
                          <a:solidFill>
                            <a:srgbClr val="8B5CF6"/>
                          </a:solidFill>
                        </a:rPr>
                        <a:t>8</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C1B22"/>
                          </a:solidFill>
                        </a:rPr>
                        <a:t>AI Risk Scoring: How to Catch Project Delays Early</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6E6B7B"/>
                          </a:solidFill>
                        </a:rPr>
                        <a:t>Guide</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r>
              <a:tr h="352044">
                <a:tc>
                  <a:txBody>
                    <a:bodyPr/>
                    <a:lstStyle/>
                    <a:p>
                      <a:pPr indent="0" marL="0">
                        <a:buNone/>
                      </a:pPr>
                      <a:r>
                        <a:rPr lang="en-US" sz="1200" b="1" dirty="0">
                          <a:solidFill>
                            <a:srgbClr val="8B5CF6"/>
                          </a:solidFill>
                        </a:rPr>
                        <a:t>9</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C1B22"/>
                          </a:solidFill>
                        </a:rPr>
                        <a:t>How to Spot Developer Burnout Before Delivery Slips</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6E6B7B"/>
                          </a:solidFill>
                        </a:rPr>
                        <a:t>Guide</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r>
              <a:tr h="352044">
                <a:tc>
                  <a:txBody>
                    <a:bodyPr/>
                    <a:lstStyle/>
                    <a:p>
                      <a:pPr indent="0" marL="0">
                        <a:buNone/>
                      </a:pPr>
                      <a:r>
                        <a:rPr lang="en-US" sz="1200" b="1" dirty="0">
                          <a:solidFill>
                            <a:srgbClr val="8B5CF6"/>
                          </a:solidFill>
                        </a:rPr>
                        <a:t>10</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C1B22"/>
                          </a:solidFill>
                        </a:rPr>
                        <a:t>Trello vs Taskive: Kanban Built for AI Coding Agents</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6E6B7B"/>
                          </a:solidFill>
                        </a:rPr>
                        <a:t>Compare</a:t>
                      </a:r>
                      <a:endParaRPr lang="en-US" sz="1200" dirty="0"/>
                    </a:p>
                  </a:txBody>
                  <a:tcPr marL="54864" marR="54864"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0" name="Listings card"/>
          <p:cNvSpPr/>
          <p:nvPr/>
        </p:nvSpPr>
        <p:spPr>
          <a:xfrm>
            <a:off x="6949440" y="1600200"/>
            <a:ext cx="4736592" cy="1280160"/>
          </a:xfrm>
          <a:prstGeom prst="roundRect">
            <a:avLst>
              <a:gd name="adj" fmla="val 5714"/>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1" name="Icon circle"/>
          <p:cNvSpPr/>
          <p:nvPr/>
        </p:nvSpPr>
        <p:spPr>
          <a:xfrm>
            <a:off x="7178040" y="1783080"/>
            <a:ext cx="420624" cy="420624"/>
          </a:xfrm>
          <a:prstGeom prst="ellipse">
            <a:avLst/>
          </a:prstGeom>
          <a:solidFill>
            <a:srgbClr val="8B5CF6"/>
          </a:solidFill>
          <a:ln w="12700">
            <a:solidFill>
              <a:srgbClr val="8B5CF6"/>
            </a:solidFill>
            <a:prstDash val="solid"/>
          </a:ln>
        </p:spPr>
      </p:sp>
      <p:pic>
        <p:nvPicPr>
          <p:cNvPr id="12" name="Icon" descr="preencoded.png">    </p:cNvPr>
          <p:cNvPicPr>
            <a:picLocks noChangeAspect="1"/>
          </p:cNvPicPr>
          <p:nvPr/>
        </p:nvPicPr>
        <p:blipFill>
          <a:blip r:embed="rId2"/>
          <a:stretch>
            <a:fillRect/>
          </a:stretch>
        </p:blipFill>
        <p:spPr>
          <a:xfrm>
            <a:off x="7287402" y="1892442"/>
            <a:ext cx="201900" cy="201900"/>
          </a:xfrm>
          <a:prstGeom prst="rect">
            <a:avLst/>
          </a:prstGeom>
        </p:spPr>
      </p:pic>
      <p:sp>
        <p:nvSpPr>
          <p:cNvPr id="13" name="Text 8"/>
          <p:cNvSpPr txBox="1"/>
          <p:nvPr/>
        </p:nvSpPr>
        <p:spPr>
          <a:xfrm>
            <a:off x="7726680" y="1783080"/>
            <a:ext cx="3822192" cy="420624"/>
          </a:xfrm>
          <a:prstGeom prst="rect">
            <a:avLst/>
          </a:prstGeom>
          <a:noFill/>
          <a:ln/>
        </p:spPr>
        <p:txBody>
          <a:bodyPr wrap="square" lIns="0" tIns="0" rIns="0" bIns="0" rtlCol="0" anchor="ctr"/>
          <a:lstStyle/>
          <a:p>
            <a:pPr indent="0" marL="0">
              <a:buNone/>
            </a:pPr>
            <a:r>
              <a:rPr lang="en-US" sz="1450" b="1" dirty="0">
                <a:solidFill>
                  <a:schemeClr val="tx1"/>
                </a:solidFill>
              </a:rPr>
              <a:t>Branding: at least 10 product listings</a:t>
            </a:r>
            <a:endParaRPr lang="en-US" sz="1450" dirty="0"/>
          </a:p>
        </p:txBody>
      </p:sp>
      <p:sp>
        <p:nvSpPr>
          <p:cNvPr id="14" name="Text 9"/>
          <p:cNvSpPr txBox="1"/>
          <p:nvPr/>
        </p:nvSpPr>
        <p:spPr>
          <a:xfrm>
            <a:off x="7205472" y="2258568"/>
            <a:ext cx="4279392" cy="566928"/>
          </a:xfrm>
          <a:prstGeom prst="rect">
            <a:avLst/>
          </a:prstGeom>
          <a:noFill/>
          <a:ln/>
        </p:spPr>
        <p:txBody>
          <a:bodyPr wrap="square" lIns="0" tIns="0" rIns="0" bIns="0" rtlCol="0" anchor="t"/>
          <a:lstStyle/>
          <a:p>
            <a:pPr indent="0" marL="0">
              <a:buNone/>
            </a:pPr>
            <a:r>
              <a:rPr lang="en-US" sz="1150" dirty="0">
                <a:solidFill>
                  <a:schemeClr val="accent6"/>
                </a:solidFill>
              </a:rPr>
              <a:t>G2, Capterra, GetApp, Software Advice, TrustRadius, Gartner Peer Insights, SourceForge, AlternativeTo, SaaSHub, plus MCP directories. Product Hunt prepared for Month 3.</a:t>
            </a:r>
            <a:endParaRPr lang="en-US" sz="1150" dirty="0"/>
          </a:p>
        </p:txBody>
      </p:sp>
      <p:sp>
        <p:nvSpPr>
          <p:cNvPr id="15" name="Events card"/>
          <p:cNvSpPr/>
          <p:nvPr/>
        </p:nvSpPr>
        <p:spPr>
          <a:xfrm>
            <a:off x="6949440" y="3044952"/>
            <a:ext cx="4736592" cy="1691640"/>
          </a:xfrm>
          <a:prstGeom prst="roundRect">
            <a:avLst>
              <a:gd name="adj" fmla="val 4324"/>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6" name="Icon circle"/>
          <p:cNvSpPr/>
          <p:nvPr/>
        </p:nvSpPr>
        <p:spPr>
          <a:xfrm>
            <a:off x="7178040" y="3227832"/>
            <a:ext cx="420624" cy="420624"/>
          </a:xfrm>
          <a:prstGeom prst="ellipse">
            <a:avLst/>
          </a:prstGeom>
          <a:solidFill>
            <a:srgbClr val="8B5CF6"/>
          </a:solidFill>
          <a:ln w="12700">
            <a:solidFill>
              <a:srgbClr val="8B5CF6"/>
            </a:solidFill>
            <a:prstDash val="solid"/>
          </a:ln>
        </p:spPr>
      </p:sp>
      <p:pic>
        <p:nvPicPr>
          <p:cNvPr id="17" name="Icon" descr="preencoded.png">    </p:cNvPr>
          <p:cNvPicPr>
            <a:picLocks noChangeAspect="1"/>
          </p:cNvPicPr>
          <p:nvPr/>
        </p:nvPicPr>
        <p:blipFill>
          <a:blip r:embed="rId3"/>
          <a:stretch>
            <a:fillRect/>
          </a:stretch>
        </p:blipFill>
        <p:spPr>
          <a:xfrm>
            <a:off x="7287402" y="3337194"/>
            <a:ext cx="201900" cy="201900"/>
          </a:xfrm>
          <a:prstGeom prst="rect">
            <a:avLst/>
          </a:prstGeom>
        </p:spPr>
      </p:pic>
      <p:sp>
        <p:nvSpPr>
          <p:cNvPr id="18" name="Text 12"/>
          <p:cNvSpPr txBox="1"/>
          <p:nvPr/>
        </p:nvSpPr>
        <p:spPr>
          <a:xfrm>
            <a:off x="7726680" y="3227832"/>
            <a:ext cx="3822192" cy="420624"/>
          </a:xfrm>
          <a:prstGeom prst="rect">
            <a:avLst/>
          </a:prstGeom>
          <a:noFill/>
          <a:ln/>
        </p:spPr>
        <p:txBody>
          <a:bodyPr wrap="square" lIns="0" tIns="0" rIns="0" bIns="0" rtlCol="0" anchor="ctr"/>
          <a:lstStyle/>
          <a:p>
            <a:pPr indent="0" marL="0">
              <a:buNone/>
            </a:pPr>
            <a:r>
              <a:rPr lang="en-US" sz="1450" b="1" dirty="0">
                <a:solidFill>
                  <a:schemeClr val="tx1"/>
                </a:solidFill>
              </a:rPr>
              <a:t>Event tracking in GA4 through GTM</a:t>
            </a:r>
            <a:endParaRPr lang="en-US" sz="1450" dirty="0"/>
          </a:p>
        </p:txBody>
      </p:sp>
      <p:sp>
        <p:nvSpPr>
          <p:cNvPr id="19" name="Event chip"/>
          <p:cNvSpPr txBox="1"/>
          <p:nvPr/>
        </p:nvSpPr>
        <p:spPr>
          <a:xfrm>
            <a:off x="7205472" y="3776472"/>
            <a:ext cx="1142086" cy="292608"/>
          </a:xfrm>
          <a:prstGeom prst="rect">
            <a:avLst/>
          </a:prstGeom>
          <a:solidFill>
            <a:srgbClr val="EEEAFD"/>
          </a:solidFill>
          <a:ln/>
        </p:spPr>
        <p:txBody>
          <a:bodyPr wrap="square" lIns="0" tIns="0" rIns="0" bIns="0" rtlCol="0" anchor="ctr"/>
          <a:lstStyle/>
          <a:p>
            <a:pPr algn="ctr" indent="0" marL="0">
              <a:buNone/>
            </a:pPr>
            <a:r>
              <a:rPr lang="en-US" sz="1000" dirty="0">
                <a:solidFill>
                  <a:srgbClr val="6D3FD4"/>
                </a:solidFill>
                <a:latin typeface="Courier New" pitchFamily="34" charset="0"/>
                <a:ea typeface="Courier New" pitchFamily="34" charset="-122"/>
                <a:cs typeface="Courier New" pitchFamily="34" charset="-120"/>
              </a:rPr>
              <a:t>sign_up_start</a:t>
            </a:r>
            <a:endParaRPr lang="en-US" sz="1000" dirty="0"/>
          </a:p>
        </p:txBody>
      </p:sp>
      <p:sp>
        <p:nvSpPr>
          <p:cNvPr id="20" name="Event chip"/>
          <p:cNvSpPr txBox="1"/>
          <p:nvPr/>
        </p:nvSpPr>
        <p:spPr>
          <a:xfrm>
            <a:off x="8438998" y="3776472"/>
            <a:ext cx="1369771" cy="292608"/>
          </a:xfrm>
          <a:prstGeom prst="rect">
            <a:avLst/>
          </a:prstGeom>
          <a:solidFill>
            <a:srgbClr val="EEEAFD"/>
          </a:solidFill>
          <a:ln/>
        </p:spPr>
        <p:txBody>
          <a:bodyPr wrap="square" lIns="0" tIns="0" rIns="0" bIns="0" rtlCol="0" anchor="ctr"/>
          <a:lstStyle/>
          <a:p>
            <a:pPr algn="ctr" indent="0" marL="0">
              <a:buNone/>
            </a:pPr>
            <a:r>
              <a:rPr lang="en-US" sz="1000" dirty="0">
                <a:solidFill>
                  <a:srgbClr val="6D3FD4"/>
                </a:solidFill>
                <a:latin typeface="Courier New" pitchFamily="34" charset="0"/>
                <a:ea typeface="Courier New" pitchFamily="34" charset="-122"/>
                <a:cs typeface="Courier New" pitchFamily="34" charset="-120"/>
              </a:rPr>
              <a:t>sign_up_complete</a:t>
            </a:r>
            <a:endParaRPr lang="en-US" sz="1000" dirty="0"/>
          </a:p>
        </p:txBody>
      </p:sp>
      <p:sp>
        <p:nvSpPr>
          <p:cNvPr id="21" name="Event chip"/>
          <p:cNvSpPr txBox="1"/>
          <p:nvPr/>
        </p:nvSpPr>
        <p:spPr>
          <a:xfrm>
            <a:off x="9900209" y="3776472"/>
            <a:ext cx="1066190" cy="292608"/>
          </a:xfrm>
          <a:prstGeom prst="rect">
            <a:avLst/>
          </a:prstGeom>
          <a:solidFill>
            <a:srgbClr val="EEEAFD"/>
          </a:solidFill>
          <a:ln/>
        </p:spPr>
        <p:txBody>
          <a:bodyPr wrap="square" lIns="0" tIns="0" rIns="0" bIns="0" rtlCol="0" anchor="ctr"/>
          <a:lstStyle/>
          <a:p>
            <a:pPr algn="ctr" indent="0" marL="0">
              <a:buNone/>
            </a:pPr>
            <a:r>
              <a:rPr lang="en-US" sz="1000" dirty="0">
                <a:solidFill>
                  <a:srgbClr val="6D3FD4"/>
                </a:solidFill>
                <a:latin typeface="Courier New" pitchFamily="34" charset="0"/>
                <a:ea typeface="Courier New" pitchFamily="34" charset="-122"/>
                <a:cs typeface="Courier New" pitchFamily="34" charset="-120"/>
              </a:rPr>
              <a:t>pricing_view</a:t>
            </a:r>
            <a:endParaRPr lang="en-US" sz="1000" dirty="0"/>
          </a:p>
        </p:txBody>
      </p:sp>
      <p:sp>
        <p:nvSpPr>
          <p:cNvPr id="22" name="Event chip"/>
          <p:cNvSpPr txBox="1"/>
          <p:nvPr/>
        </p:nvSpPr>
        <p:spPr>
          <a:xfrm>
            <a:off x="7205472" y="4187952"/>
            <a:ext cx="1142086" cy="292608"/>
          </a:xfrm>
          <a:prstGeom prst="rect">
            <a:avLst/>
          </a:prstGeom>
          <a:solidFill>
            <a:srgbClr val="EEEAFD"/>
          </a:solidFill>
          <a:ln/>
        </p:spPr>
        <p:txBody>
          <a:bodyPr wrap="square" lIns="0" tIns="0" rIns="0" bIns="0" rtlCol="0" anchor="ctr"/>
          <a:lstStyle/>
          <a:p>
            <a:pPr algn="ctr" indent="0" marL="0">
              <a:buNone/>
            </a:pPr>
            <a:r>
              <a:rPr lang="en-US" sz="1000" dirty="0">
                <a:solidFill>
                  <a:srgbClr val="6D3FD4"/>
                </a:solidFill>
                <a:latin typeface="Courier New" pitchFamily="34" charset="0"/>
                <a:ea typeface="Courier New" pitchFamily="34" charset="-122"/>
                <a:cs typeface="Courier New" pitchFamily="34" charset="-120"/>
              </a:rPr>
              <a:t>mcp_docs_view</a:t>
            </a:r>
            <a:endParaRPr lang="en-US" sz="1000" dirty="0"/>
          </a:p>
        </p:txBody>
      </p:sp>
      <p:sp>
        <p:nvSpPr>
          <p:cNvPr id="23" name="Event chip"/>
          <p:cNvSpPr txBox="1"/>
          <p:nvPr/>
        </p:nvSpPr>
        <p:spPr>
          <a:xfrm>
            <a:off x="8438998" y="4187952"/>
            <a:ext cx="1445666" cy="292608"/>
          </a:xfrm>
          <a:prstGeom prst="rect">
            <a:avLst/>
          </a:prstGeom>
          <a:solidFill>
            <a:srgbClr val="EEEAFD"/>
          </a:solidFill>
          <a:ln/>
        </p:spPr>
        <p:txBody>
          <a:bodyPr wrap="square" lIns="0" tIns="0" rIns="0" bIns="0" rtlCol="0" anchor="ctr"/>
          <a:lstStyle/>
          <a:p>
            <a:pPr algn="ctr" indent="0" marL="0">
              <a:buNone/>
            </a:pPr>
            <a:r>
              <a:rPr lang="en-US" sz="1000" dirty="0">
                <a:solidFill>
                  <a:srgbClr val="6D3FD4"/>
                </a:solidFill>
                <a:latin typeface="Courier New" pitchFamily="34" charset="0"/>
                <a:ea typeface="Courier New" pitchFamily="34" charset="-122"/>
                <a:cs typeface="Courier New" pitchFamily="34" charset="-120"/>
              </a:rPr>
              <a:t>jira_import_click</a:t>
            </a:r>
            <a:endParaRPr lang="en-US" sz="1000" dirty="0"/>
          </a:p>
        </p:txBody>
      </p:sp>
      <p:sp>
        <p:nvSpPr>
          <p:cNvPr id="24" name="Event chip"/>
          <p:cNvSpPr txBox="1"/>
          <p:nvPr/>
        </p:nvSpPr>
        <p:spPr>
          <a:xfrm>
            <a:off x="9976104" y="4187952"/>
            <a:ext cx="1066190" cy="292608"/>
          </a:xfrm>
          <a:prstGeom prst="rect">
            <a:avLst/>
          </a:prstGeom>
          <a:solidFill>
            <a:srgbClr val="EEEAFD"/>
          </a:solidFill>
          <a:ln/>
        </p:spPr>
        <p:txBody>
          <a:bodyPr wrap="square" lIns="0" tIns="0" rIns="0" bIns="0" rtlCol="0" anchor="ctr"/>
          <a:lstStyle/>
          <a:p>
            <a:pPr algn="ctr" indent="0" marL="0">
              <a:buNone/>
            </a:pPr>
            <a:r>
              <a:rPr lang="en-US" sz="1000" dirty="0">
                <a:solidFill>
                  <a:srgbClr val="6D3FD4"/>
                </a:solidFill>
                <a:latin typeface="Courier New" pitchFamily="34" charset="0"/>
                <a:ea typeface="Courier New" pitchFamily="34" charset="-122"/>
                <a:cs typeface="Courier New" pitchFamily="34" charset="-120"/>
              </a:rPr>
              <a:t>demo_request</a:t>
            </a:r>
            <a:endParaRPr lang="en-US" sz="1000" dirty="0"/>
          </a:p>
        </p:txBody>
      </p:sp>
      <p:sp>
        <p:nvSpPr>
          <p:cNvPr id="25" name="Optimization card"/>
          <p:cNvSpPr/>
          <p:nvPr/>
        </p:nvSpPr>
        <p:spPr>
          <a:xfrm>
            <a:off x="6949440" y="4901184"/>
            <a:ext cx="4736592" cy="1088136"/>
          </a:xfrm>
          <a:prstGeom prst="roundRect">
            <a:avLst>
              <a:gd name="adj" fmla="val 6723"/>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6" name="Icon circle"/>
          <p:cNvSpPr/>
          <p:nvPr/>
        </p:nvSpPr>
        <p:spPr>
          <a:xfrm>
            <a:off x="7178040" y="5084064"/>
            <a:ext cx="420624" cy="420624"/>
          </a:xfrm>
          <a:prstGeom prst="ellipse">
            <a:avLst/>
          </a:prstGeom>
          <a:solidFill>
            <a:srgbClr val="8B5CF6"/>
          </a:solidFill>
          <a:ln w="12700">
            <a:solidFill>
              <a:srgbClr val="8B5CF6"/>
            </a:solidFill>
            <a:prstDash val="solid"/>
          </a:ln>
        </p:spPr>
      </p:sp>
      <p:pic>
        <p:nvPicPr>
          <p:cNvPr id="27" name="Icon" descr="preencoded.png">    </p:cNvPr>
          <p:cNvPicPr>
            <a:picLocks noChangeAspect="1"/>
          </p:cNvPicPr>
          <p:nvPr/>
        </p:nvPicPr>
        <p:blipFill>
          <a:blip r:embed="rId4"/>
          <a:stretch>
            <a:fillRect/>
          </a:stretch>
        </p:blipFill>
        <p:spPr>
          <a:xfrm>
            <a:off x="7287402" y="5193426"/>
            <a:ext cx="201900" cy="201900"/>
          </a:xfrm>
          <a:prstGeom prst="rect">
            <a:avLst/>
          </a:prstGeom>
        </p:spPr>
      </p:pic>
      <p:sp>
        <p:nvSpPr>
          <p:cNvPr id="28" name="Text 21"/>
          <p:cNvSpPr txBox="1"/>
          <p:nvPr/>
        </p:nvSpPr>
        <p:spPr>
          <a:xfrm>
            <a:off x="7726680" y="5084064"/>
            <a:ext cx="3822192" cy="420624"/>
          </a:xfrm>
          <a:prstGeom prst="rect">
            <a:avLst/>
          </a:prstGeom>
          <a:noFill/>
          <a:ln/>
        </p:spPr>
        <p:txBody>
          <a:bodyPr wrap="square" lIns="0" tIns="0" rIns="0" bIns="0" rtlCol="0" anchor="ctr"/>
          <a:lstStyle/>
          <a:p>
            <a:pPr indent="0" marL="0">
              <a:buNone/>
            </a:pPr>
            <a:r>
              <a:rPr lang="en-US" sz="1450" b="1" dirty="0">
                <a:solidFill>
                  <a:schemeClr val="tx1"/>
                </a:solidFill>
              </a:rPr>
              <a:t>Website optimization if still needed</a:t>
            </a:r>
            <a:endParaRPr lang="en-US" sz="1450" dirty="0"/>
          </a:p>
        </p:txBody>
      </p:sp>
      <p:sp>
        <p:nvSpPr>
          <p:cNvPr id="29" name="Text 22"/>
          <p:cNvSpPr txBox="1"/>
          <p:nvPr/>
        </p:nvSpPr>
        <p:spPr>
          <a:xfrm>
            <a:off x="7205472" y="5541264"/>
            <a:ext cx="4279392" cy="274320"/>
          </a:xfrm>
          <a:prstGeom prst="rect">
            <a:avLst/>
          </a:prstGeom>
          <a:noFill/>
          <a:ln/>
        </p:spPr>
        <p:txBody>
          <a:bodyPr wrap="square" lIns="0" tIns="0" rIns="0" bIns="0" rtlCol="0" anchor="t"/>
          <a:lstStyle/>
          <a:p>
            <a:pPr indent="0" marL="0">
              <a:buNone/>
            </a:pPr>
            <a:r>
              <a:rPr lang="en-US" sz="1150" dirty="0">
                <a:solidFill>
                  <a:schemeClr val="accent6"/>
                </a:solidFill>
              </a:rPr>
              <a:t>Fix what Month 1 data flags: weak pages, slow templates.</a:t>
            </a:r>
            <a:endParaRPr lang="en-US" sz="115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MONTH 3  ·  PROOF AND REVIEWS</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Collect genuine reviews and learn from real behavior</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Every review follows each platform’s guidelines. No paid, fake or scripted reviews: they get removed and damage trust.</a:t>
            </a:r>
            <a:endParaRPr lang="en-US" sz="1250" dirty="0"/>
          </a:p>
        </p:txBody>
      </p:sp>
      <p:sp>
        <p:nvSpPr>
          <p:cNvPr id="5" name="Review side card"/>
          <p:cNvSpPr/>
          <p:nvPr/>
        </p:nvSpPr>
        <p:spPr>
          <a:xfrm>
            <a:off x="502920" y="1600200"/>
            <a:ext cx="5454396" cy="2423160"/>
          </a:xfrm>
          <a:prstGeom prst="roundRect">
            <a:avLst>
              <a:gd name="adj" fmla="val 3019"/>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6" name="Icon circle"/>
          <p:cNvSpPr/>
          <p:nvPr/>
        </p:nvSpPr>
        <p:spPr>
          <a:xfrm>
            <a:off x="758952" y="1828800"/>
            <a:ext cx="502920" cy="502920"/>
          </a:xfrm>
          <a:prstGeom prst="ellipse">
            <a:avLst/>
          </a:prstGeom>
          <a:solidFill>
            <a:srgbClr val="8B5CF6"/>
          </a:solidFill>
          <a:ln w="12700">
            <a:solidFill>
              <a:srgbClr val="8B5CF6"/>
            </a:solidFill>
            <a:prstDash val="solid"/>
          </a:ln>
        </p:spPr>
      </p:sp>
      <p:pic>
        <p:nvPicPr>
          <p:cNvPr id="7" name="Icon" descr="preencoded.png">    </p:cNvPr>
          <p:cNvPicPr>
            <a:picLocks noChangeAspect="1"/>
          </p:cNvPicPr>
          <p:nvPr/>
        </p:nvPicPr>
        <p:blipFill>
          <a:blip r:embed="rId1"/>
          <a:stretch>
            <a:fillRect/>
          </a:stretch>
        </p:blipFill>
        <p:spPr>
          <a:xfrm>
            <a:off x="889711" y="1959559"/>
            <a:ext cx="241402" cy="241402"/>
          </a:xfrm>
          <a:prstGeom prst="rect">
            <a:avLst/>
          </a:prstGeom>
        </p:spPr>
      </p:pic>
      <p:sp>
        <p:nvSpPr>
          <p:cNvPr id="8" name="Text 5"/>
          <p:cNvSpPr txBox="1"/>
          <p:nvPr/>
        </p:nvSpPr>
        <p:spPr>
          <a:xfrm>
            <a:off x="1399032" y="1828800"/>
            <a:ext cx="4357116" cy="502920"/>
          </a:xfrm>
          <a:prstGeom prst="rect">
            <a:avLst/>
          </a:prstGeom>
          <a:noFill/>
          <a:ln/>
        </p:spPr>
        <p:txBody>
          <a:bodyPr wrap="square" lIns="0" tIns="0" rIns="0" bIns="0" rtlCol="0" anchor="ctr"/>
          <a:lstStyle/>
          <a:p>
            <a:pPr indent="0" marL="0">
              <a:buNone/>
            </a:pPr>
            <a:r>
              <a:rPr lang="en-US" sz="1600" b="1" dirty="0">
                <a:solidFill>
                  <a:schemeClr val="tx1"/>
                </a:solidFill>
              </a:rPr>
              <a:t>Reviews from the client side</a:t>
            </a:r>
            <a:endParaRPr lang="en-US" sz="1600" dirty="0"/>
          </a:p>
        </p:txBody>
      </p:sp>
      <p:sp>
        <p:nvSpPr>
          <p:cNvPr id="9" name="Why tag"/>
          <p:cNvSpPr txBox="1"/>
          <p:nvPr/>
        </p:nvSpPr>
        <p:spPr>
          <a:xfrm>
            <a:off x="777240" y="3566160"/>
            <a:ext cx="1600200" cy="274320"/>
          </a:xfrm>
          <a:prstGeom prst="rect">
            <a:avLst/>
          </a:prstGeom>
          <a:solidFill>
            <a:srgbClr val="E4F6EF"/>
          </a:solidFill>
          <a:ln/>
        </p:spPr>
        <p:txBody>
          <a:bodyPr wrap="square" lIns="0" tIns="0" rIns="0" bIns="0" rtlCol="0" anchor="ctr"/>
          <a:lstStyle/>
          <a:p>
            <a:pPr algn="ctr" indent="0" marL="0">
              <a:buNone/>
            </a:pPr>
            <a:r>
              <a:rPr lang="en-US" sz="900" b="1" spc="100" kern="0" dirty="0">
                <a:solidFill>
                  <a:srgbClr val="179C6E"/>
                </a:solidFill>
              </a:rPr>
              <a:t>MAKES THEM GENUINE</a:t>
            </a:r>
            <a:endParaRPr lang="en-US" sz="900" dirty="0"/>
          </a:p>
        </p:txBody>
      </p:sp>
      <p:sp>
        <p:nvSpPr>
          <p:cNvPr id="10" name="Text 7"/>
          <p:cNvSpPr txBox="1"/>
          <p:nvPr/>
        </p:nvSpPr>
        <p:spPr>
          <a:xfrm>
            <a:off x="777240" y="2468880"/>
            <a:ext cx="4951476" cy="10515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chemeClr val="tx1"/>
                </a:solidFill>
              </a:rPr>
              <a:t>Taskive personally invites its own active teams</a:t>
            </a:r>
            <a:endParaRPr lang="en-US" sz="1250" dirty="0"/>
          </a:p>
          <a:p>
            <a:pPr marL="177800" indent="-177800">
              <a:spcAft>
                <a:spcPts val="400"/>
              </a:spcAft>
              <a:buSzPct val="100000"/>
              <a:buChar char="•"/>
            </a:pPr>
            <a:r>
              <a:rPr lang="en-US" sz="1250" dirty="0">
                <a:solidFill>
                  <a:schemeClr val="tx1"/>
                </a:solidFill>
              </a:rPr>
              <a:t>In-app review prompt after a success moment</a:t>
            </a:r>
            <a:endParaRPr lang="en-US" sz="1250" dirty="0"/>
          </a:p>
          <a:p>
            <a:pPr marL="177800" indent="-177800">
              <a:spcAft>
                <a:spcPts val="400"/>
              </a:spcAft>
              <a:buSzPct val="100000"/>
              <a:buChar char="•"/>
            </a:pPr>
            <a:r>
              <a:rPr lang="en-US" sz="1250" dirty="0">
                <a:solidFill>
                  <a:schemeClr val="tx1"/>
                </a:solidFill>
              </a:rPr>
              <a:t>Founder email to the 20 most active workspaces</a:t>
            </a:r>
            <a:endParaRPr lang="en-US" sz="1250" dirty="0"/>
          </a:p>
          <a:p>
            <a:pPr marL="177800" indent="-177800">
              <a:spcAft>
                <a:spcPts val="400"/>
              </a:spcAft>
              <a:buSzPct val="100000"/>
              <a:buChar char="•"/>
            </a:pPr>
            <a:r>
              <a:rPr lang="en-US" sz="1250" dirty="0">
                <a:solidFill>
                  <a:schemeClr val="tx1"/>
                </a:solidFill>
              </a:rPr>
              <a:t>G2 and Capterra first, then TrustRadius</a:t>
            </a:r>
            <a:endParaRPr lang="en-US" sz="1250" dirty="0"/>
          </a:p>
        </p:txBody>
      </p:sp>
      <p:sp>
        <p:nvSpPr>
          <p:cNvPr id="11" name="Review side card"/>
          <p:cNvSpPr/>
          <p:nvPr/>
        </p:nvSpPr>
        <p:spPr>
          <a:xfrm>
            <a:off x="6231636" y="1600200"/>
            <a:ext cx="5454396" cy="2423160"/>
          </a:xfrm>
          <a:prstGeom prst="roundRect">
            <a:avLst>
              <a:gd name="adj" fmla="val 3019"/>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2" name="Icon circle"/>
          <p:cNvSpPr/>
          <p:nvPr/>
        </p:nvSpPr>
        <p:spPr>
          <a:xfrm>
            <a:off x="6487668" y="1828800"/>
            <a:ext cx="502920" cy="502920"/>
          </a:xfrm>
          <a:prstGeom prst="ellipse">
            <a:avLst/>
          </a:prstGeom>
          <a:solidFill>
            <a:srgbClr val="8B5CF6"/>
          </a:solidFill>
          <a:ln w="12700">
            <a:solidFill>
              <a:srgbClr val="8B5CF6"/>
            </a:solidFill>
            <a:prstDash val="solid"/>
          </a:ln>
        </p:spPr>
      </p:sp>
      <p:pic>
        <p:nvPicPr>
          <p:cNvPr id="13" name="Icon" descr="preencoded.png">    </p:cNvPr>
          <p:cNvPicPr>
            <a:picLocks noChangeAspect="1"/>
          </p:cNvPicPr>
          <p:nvPr/>
        </p:nvPicPr>
        <p:blipFill>
          <a:blip r:embed="rId2"/>
          <a:stretch>
            <a:fillRect/>
          </a:stretch>
        </p:blipFill>
        <p:spPr>
          <a:xfrm>
            <a:off x="6618427" y="1959559"/>
            <a:ext cx="241402" cy="241402"/>
          </a:xfrm>
          <a:prstGeom prst="rect">
            <a:avLst/>
          </a:prstGeom>
        </p:spPr>
      </p:pic>
      <p:sp>
        <p:nvSpPr>
          <p:cNvPr id="14" name="Text 10"/>
          <p:cNvSpPr txBox="1"/>
          <p:nvPr/>
        </p:nvSpPr>
        <p:spPr>
          <a:xfrm>
            <a:off x="7127748" y="1828800"/>
            <a:ext cx="4357116" cy="502920"/>
          </a:xfrm>
          <a:prstGeom prst="rect">
            <a:avLst/>
          </a:prstGeom>
          <a:noFill/>
          <a:ln/>
        </p:spPr>
        <p:txBody>
          <a:bodyPr wrap="square" lIns="0" tIns="0" rIns="0" bIns="0" rtlCol="0" anchor="ctr"/>
          <a:lstStyle/>
          <a:p>
            <a:pPr indent="0" marL="0">
              <a:buNone/>
            </a:pPr>
            <a:r>
              <a:rPr lang="en-US" sz="1600" b="1" dirty="0">
                <a:solidFill>
                  <a:schemeClr val="tx1"/>
                </a:solidFill>
              </a:rPr>
              <a:t>Reviews from the marketer side</a:t>
            </a:r>
            <a:endParaRPr lang="en-US" sz="1600" dirty="0"/>
          </a:p>
        </p:txBody>
      </p:sp>
      <p:sp>
        <p:nvSpPr>
          <p:cNvPr id="15" name="Why tag"/>
          <p:cNvSpPr txBox="1"/>
          <p:nvPr/>
        </p:nvSpPr>
        <p:spPr>
          <a:xfrm>
            <a:off x="6505956" y="3566160"/>
            <a:ext cx="1600200" cy="274320"/>
          </a:xfrm>
          <a:prstGeom prst="rect">
            <a:avLst/>
          </a:prstGeom>
          <a:solidFill>
            <a:srgbClr val="E4F6EF"/>
          </a:solidFill>
          <a:ln/>
        </p:spPr>
        <p:txBody>
          <a:bodyPr wrap="square" lIns="0" tIns="0" rIns="0" bIns="0" rtlCol="0" anchor="ctr"/>
          <a:lstStyle/>
          <a:p>
            <a:pPr algn="ctr" indent="0" marL="0">
              <a:buNone/>
            </a:pPr>
            <a:r>
              <a:rPr lang="en-US" sz="900" b="1" spc="100" kern="0" dirty="0">
                <a:solidFill>
                  <a:srgbClr val="179C6E"/>
                </a:solidFill>
              </a:rPr>
              <a:t>MAKES THEM CONSISTENT</a:t>
            </a:r>
            <a:endParaRPr lang="en-US" sz="900" dirty="0"/>
          </a:p>
        </p:txBody>
      </p:sp>
      <p:sp>
        <p:nvSpPr>
          <p:cNvPr id="16" name="Text 12"/>
          <p:cNvSpPr txBox="1"/>
          <p:nvPr/>
        </p:nvSpPr>
        <p:spPr>
          <a:xfrm>
            <a:off x="6505956" y="2468880"/>
            <a:ext cx="4951476" cy="10515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chemeClr val="tx1"/>
                </a:solidFill>
              </a:rPr>
              <a:t>Review campaigns through G2 and Capterra programs</a:t>
            </a:r>
            <a:endParaRPr lang="en-US" sz="1250" dirty="0"/>
          </a:p>
          <a:p>
            <a:pPr marL="177800" indent="-177800">
              <a:spcAft>
                <a:spcPts val="400"/>
              </a:spcAft>
              <a:buSzPct val="100000"/>
              <a:buChar char="•"/>
            </a:pPr>
            <a:r>
              <a:rPr lang="en-US" sz="1250" dirty="0">
                <a:solidFill>
                  <a:schemeClr val="tx1"/>
                </a:solidFill>
              </a:rPr>
              <a:t>Follow-ups with community and beta users</a:t>
            </a:r>
            <a:endParaRPr lang="en-US" sz="1250" dirty="0"/>
          </a:p>
          <a:p>
            <a:pPr marL="177800" indent="-177800">
              <a:spcAft>
                <a:spcPts val="400"/>
              </a:spcAft>
              <a:buSzPct val="100000"/>
              <a:buChar char="•"/>
            </a:pPr>
            <a:r>
              <a:rPr lang="en-US" sz="1250" dirty="0">
                <a:solidFill>
                  <a:schemeClr val="tx1"/>
                </a:solidFill>
              </a:rPr>
              <a:t>Turn reviews into website testimonials</a:t>
            </a:r>
            <a:endParaRPr lang="en-US" sz="1250" dirty="0"/>
          </a:p>
          <a:p>
            <a:pPr marL="177800" indent="-177800">
              <a:spcAft>
                <a:spcPts val="400"/>
              </a:spcAft>
              <a:buSzPct val="100000"/>
              <a:buChar char="•"/>
            </a:pPr>
            <a:r>
              <a:rPr lang="en-US" sz="1250" dirty="0">
                <a:solidFill>
                  <a:schemeClr val="tx1"/>
                </a:solidFill>
              </a:rPr>
              <a:t>Reply to every review within 48 hours</a:t>
            </a:r>
            <a:endParaRPr lang="en-US" sz="1250" dirty="0"/>
          </a:p>
        </p:txBody>
      </p:sp>
      <p:sp>
        <p:nvSpPr>
          <p:cNvPr id="17" name="Month 3 task card"/>
          <p:cNvSpPr/>
          <p:nvPr/>
        </p:nvSpPr>
        <p:spPr>
          <a:xfrm>
            <a:off x="502920" y="4251960"/>
            <a:ext cx="3544824" cy="1737360"/>
          </a:xfrm>
          <a:prstGeom prst="roundRect">
            <a:avLst>
              <a:gd name="adj" fmla="val 4211"/>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18" name="Icon circle"/>
          <p:cNvSpPr/>
          <p:nvPr/>
        </p:nvSpPr>
        <p:spPr>
          <a:xfrm>
            <a:off x="731520" y="4453128"/>
            <a:ext cx="420624" cy="420624"/>
          </a:xfrm>
          <a:prstGeom prst="ellipse">
            <a:avLst/>
          </a:prstGeom>
          <a:solidFill>
            <a:srgbClr val="8B5CF6"/>
          </a:solidFill>
          <a:ln w="12700">
            <a:solidFill>
              <a:srgbClr val="8B5CF6"/>
            </a:solidFill>
            <a:prstDash val="solid"/>
          </a:ln>
        </p:spPr>
      </p:sp>
      <p:pic>
        <p:nvPicPr>
          <p:cNvPr id="19" name="Icon" descr="preencoded.png">    </p:cNvPr>
          <p:cNvPicPr>
            <a:picLocks noChangeAspect="1"/>
          </p:cNvPicPr>
          <p:nvPr/>
        </p:nvPicPr>
        <p:blipFill>
          <a:blip r:embed="rId3"/>
          <a:stretch>
            <a:fillRect/>
          </a:stretch>
        </p:blipFill>
        <p:spPr>
          <a:xfrm>
            <a:off x="840882" y="4562490"/>
            <a:ext cx="201900" cy="201900"/>
          </a:xfrm>
          <a:prstGeom prst="rect">
            <a:avLst/>
          </a:prstGeom>
        </p:spPr>
      </p:pic>
      <p:sp>
        <p:nvSpPr>
          <p:cNvPr id="20" name="Text 15"/>
          <p:cNvSpPr txBox="1"/>
          <p:nvPr/>
        </p:nvSpPr>
        <p:spPr>
          <a:xfrm>
            <a:off x="1280160" y="4453128"/>
            <a:ext cx="2630424" cy="420624"/>
          </a:xfrm>
          <a:prstGeom prst="rect">
            <a:avLst/>
          </a:prstGeom>
          <a:noFill/>
          <a:ln/>
        </p:spPr>
        <p:txBody>
          <a:bodyPr wrap="square" lIns="0" tIns="0" rIns="0" bIns="0" rtlCol="0" anchor="ctr"/>
          <a:lstStyle/>
          <a:p>
            <a:pPr indent="0" marL="0">
              <a:buNone/>
            </a:pPr>
            <a:r>
              <a:rPr lang="en-US" sz="1400" b="1" dirty="0">
                <a:solidFill>
                  <a:schemeClr val="tx1"/>
                </a:solidFill>
              </a:rPr>
              <a:t>Listings and regular work</a:t>
            </a:r>
            <a:endParaRPr lang="en-US" sz="1400" dirty="0"/>
          </a:p>
        </p:txBody>
      </p:sp>
      <p:sp>
        <p:nvSpPr>
          <p:cNvPr id="21" name="Text 16"/>
          <p:cNvSpPr txBox="1"/>
          <p:nvPr/>
        </p:nvSpPr>
        <p:spPr>
          <a:xfrm>
            <a:off x="749808" y="4983480"/>
            <a:ext cx="3087624" cy="868680"/>
          </a:xfrm>
          <a:prstGeom prst="rect">
            <a:avLst/>
          </a:prstGeom>
          <a:noFill/>
          <a:ln/>
        </p:spPr>
        <p:txBody>
          <a:bodyPr wrap="square" lIns="0" tIns="0" rIns="0" bIns="0" rtlCol="0" anchor="t"/>
          <a:lstStyle/>
          <a:p>
            <a:pPr indent="0" marL="0">
              <a:buNone/>
            </a:pPr>
            <a:r>
              <a:rPr lang="en-US" sz="1200" dirty="0">
                <a:solidFill>
                  <a:schemeClr val="accent6"/>
                </a:solidFill>
              </a:rPr>
              <a:t>Finish the remaining directories, run the Product Hunt and Show HN launch, and keep the blog and social rhythm going.</a:t>
            </a:r>
            <a:endParaRPr lang="en-US" sz="1200" dirty="0"/>
          </a:p>
        </p:txBody>
      </p:sp>
      <p:sp>
        <p:nvSpPr>
          <p:cNvPr id="22" name="Month 3 task card"/>
          <p:cNvSpPr/>
          <p:nvPr/>
        </p:nvSpPr>
        <p:spPr>
          <a:xfrm>
            <a:off x="4322064" y="4251960"/>
            <a:ext cx="3544824" cy="1737360"/>
          </a:xfrm>
          <a:prstGeom prst="roundRect">
            <a:avLst>
              <a:gd name="adj" fmla="val 4211"/>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3" name="Icon circle"/>
          <p:cNvSpPr/>
          <p:nvPr/>
        </p:nvSpPr>
        <p:spPr>
          <a:xfrm>
            <a:off x="4550664" y="4453128"/>
            <a:ext cx="420624" cy="420624"/>
          </a:xfrm>
          <a:prstGeom prst="ellipse">
            <a:avLst/>
          </a:prstGeom>
          <a:solidFill>
            <a:srgbClr val="8B5CF6"/>
          </a:solidFill>
          <a:ln w="12700">
            <a:solidFill>
              <a:srgbClr val="8B5CF6"/>
            </a:solidFill>
            <a:prstDash val="solid"/>
          </a:ln>
        </p:spPr>
      </p:sp>
      <p:pic>
        <p:nvPicPr>
          <p:cNvPr id="24" name="Icon" descr="preencoded.png">    </p:cNvPr>
          <p:cNvPicPr>
            <a:picLocks noChangeAspect="1"/>
          </p:cNvPicPr>
          <p:nvPr/>
        </p:nvPicPr>
        <p:blipFill>
          <a:blip r:embed="rId4"/>
          <a:stretch>
            <a:fillRect/>
          </a:stretch>
        </p:blipFill>
        <p:spPr>
          <a:xfrm>
            <a:off x="4660026" y="4562490"/>
            <a:ext cx="201900" cy="201900"/>
          </a:xfrm>
          <a:prstGeom prst="rect">
            <a:avLst/>
          </a:prstGeom>
        </p:spPr>
      </p:pic>
      <p:sp>
        <p:nvSpPr>
          <p:cNvPr id="25" name="Text 19"/>
          <p:cNvSpPr txBox="1"/>
          <p:nvPr/>
        </p:nvSpPr>
        <p:spPr>
          <a:xfrm>
            <a:off x="5099304" y="4453128"/>
            <a:ext cx="2630424" cy="420624"/>
          </a:xfrm>
          <a:prstGeom prst="rect">
            <a:avLst/>
          </a:prstGeom>
          <a:noFill/>
          <a:ln/>
        </p:spPr>
        <p:txBody>
          <a:bodyPr wrap="square" lIns="0" tIns="0" rIns="0" bIns="0" rtlCol="0" anchor="ctr"/>
          <a:lstStyle/>
          <a:p>
            <a:pPr indent="0" marL="0">
              <a:buNone/>
            </a:pPr>
            <a:r>
              <a:rPr lang="en-US" sz="1400" b="1" dirty="0">
                <a:solidFill>
                  <a:schemeClr val="tx1"/>
                </a:solidFill>
              </a:rPr>
              <a:t>Website optimization if needed</a:t>
            </a:r>
            <a:endParaRPr lang="en-US" sz="1400" dirty="0"/>
          </a:p>
        </p:txBody>
      </p:sp>
      <p:sp>
        <p:nvSpPr>
          <p:cNvPr id="26" name="Text 20"/>
          <p:cNvSpPr txBox="1"/>
          <p:nvPr/>
        </p:nvSpPr>
        <p:spPr>
          <a:xfrm>
            <a:off x="4568952" y="4983480"/>
            <a:ext cx="3087624" cy="868680"/>
          </a:xfrm>
          <a:prstGeom prst="rect">
            <a:avLst/>
          </a:prstGeom>
          <a:noFill/>
          <a:ln/>
        </p:spPr>
        <p:txBody>
          <a:bodyPr wrap="square" lIns="0" tIns="0" rIns="0" bIns="0" rtlCol="0" anchor="t"/>
          <a:lstStyle/>
          <a:p>
            <a:pPr indent="0" marL="0">
              <a:buNone/>
            </a:pPr>
            <a:r>
              <a:rPr lang="en-US" sz="1200" dirty="0">
                <a:solidFill>
                  <a:schemeClr val="accent6"/>
                </a:solidFill>
              </a:rPr>
              <a:t>Fix drop-off points on pricing and signup found in Month 2 data. Test one change at a time.</a:t>
            </a:r>
            <a:endParaRPr lang="en-US" sz="1200" dirty="0"/>
          </a:p>
        </p:txBody>
      </p:sp>
      <p:sp>
        <p:nvSpPr>
          <p:cNvPr id="27" name="Month 3 task card"/>
          <p:cNvSpPr/>
          <p:nvPr/>
        </p:nvSpPr>
        <p:spPr>
          <a:xfrm>
            <a:off x="8141208" y="4251960"/>
            <a:ext cx="3544824" cy="1737360"/>
          </a:xfrm>
          <a:prstGeom prst="roundRect">
            <a:avLst>
              <a:gd name="adj" fmla="val 4211"/>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8" name="Icon circle"/>
          <p:cNvSpPr/>
          <p:nvPr/>
        </p:nvSpPr>
        <p:spPr>
          <a:xfrm>
            <a:off x="8369808" y="4453128"/>
            <a:ext cx="420624" cy="420624"/>
          </a:xfrm>
          <a:prstGeom prst="ellipse">
            <a:avLst/>
          </a:prstGeom>
          <a:solidFill>
            <a:srgbClr val="8B5CF6"/>
          </a:solidFill>
          <a:ln w="12700">
            <a:solidFill>
              <a:srgbClr val="8B5CF6"/>
            </a:solidFill>
            <a:prstDash val="solid"/>
          </a:ln>
        </p:spPr>
      </p:sp>
      <p:pic>
        <p:nvPicPr>
          <p:cNvPr id="29" name="Icon" descr="preencoded.png">    </p:cNvPr>
          <p:cNvPicPr>
            <a:picLocks noChangeAspect="1"/>
          </p:cNvPicPr>
          <p:nvPr/>
        </p:nvPicPr>
        <p:blipFill>
          <a:blip r:embed="rId5"/>
          <a:stretch>
            <a:fillRect/>
          </a:stretch>
        </p:blipFill>
        <p:spPr>
          <a:xfrm>
            <a:off x="8479170" y="4562490"/>
            <a:ext cx="201900" cy="201900"/>
          </a:xfrm>
          <a:prstGeom prst="rect">
            <a:avLst/>
          </a:prstGeom>
        </p:spPr>
      </p:pic>
      <p:sp>
        <p:nvSpPr>
          <p:cNvPr id="30" name="Text 23"/>
          <p:cNvSpPr txBox="1"/>
          <p:nvPr/>
        </p:nvSpPr>
        <p:spPr>
          <a:xfrm>
            <a:off x="8918448" y="4453128"/>
            <a:ext cx="2630424" cy="420624"/>
          </a:xfrm>
          <a:prstGeom prst="rect">
            <a:avLst/>
          </a:prstGeom>
          <a:noFill/>
          <a:ln/>
        </p:spPr>
        <p:txBody>
          <a:bodyPr wrap="square" lIns="0" tIns="0" rIns="0" bIns="0" rtlCol="0" anchor="ctr"/>
          <a:lstStyle/>
          <a:p>
            <a:pPr indent="0" marL="0">
              <a:buNone/>
            </a:pPr>
            <a:r>
              <a:rPr lang="en-US" sz="1400" b="1" dirty="0">
                <a:solidFill>
                  <a:schemeClr val="tx1"/>
                </a:solidFill>
              </a:rPr>
              <a:t>Track behaviors</a:t>
            </a:r>
            <a:endParaRPr lang="en-US" sz="1400" dirty="0"/>
          </a:p>
        </p:txBody>
      </p:sp>
      <p:sp>
        <p:nvSpPr>
          <p:cNvPr id="31" name="Text 24"/>
          <p:cNvSpPr txBox="1"/>
          <p:nvPr/>
        </p:nvSpPr>
        <p:spPr>
          <a:xfrm>
            <a:off x="8388096" y="4983480"/>
            <a:ext cx="3087624" cy="868680"/>
          </a:xfrm>
          <a:prstGeom prst="rect">
            <a:avLst/>
          </a:prstGeom>
          <a:noFill/>
          <a:ln/>
        </p:spPr>
        <p:txBody>
          <a:bodyPr wrap="square" lIns="0" tIns="0" rIns="0" bIns="0" rtlCol="0" anchor="t"/>
          <a:lstStyle/>
          <a:p>
            <a:pPr indent="0" marL="0">
              <a:buNone/>
            </a:pPr>
            <a:r>
              <a:rPr lang="en-US" sz="1200" dirty="0">
                <a:solidFill>
                  <a:schemeClr val="accent6"/>
                </a:solidFill>
              </a:rPr>
              <a:t>Clarity heatmaps and recordings, plus a GA4 funnel: landing page, pricing, signup. Findings set Month 4 priorities.</a:t>
            </a:r>
            <a:endParaRPr lang="en-US" sz="12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2"/>
                </a:solidFill>
              </a:rPr>
              <a:t>MONTH 4 ONWARDS  ·  AUTHORITY AND PRESENCE</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tx1"/>
                </a:solidFill>
              </a:rPr>
              <a:t>Regular work that compounds month after month</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chemeClr val="accent6"/>
                </a:solidFill>
              </a:rPr>
              <a:t>Quality over volume: one link from a relevant developer site beats twenty from directories nobody reads.</a:t>
            </a:r>
            <a:endParaRPr lang="en-US" sz="1250" dirty="0"/>
          </a:p>
        </p:txBody>
      </p:sp>
      <p:sp>
        <p:nvSpPr>
          <p:cNvPr id="5" name="Backlinks card"/>
          <p:cNvSpPr/>
          <p:nvPr/>
        </p:nvSpPr>
        <p:spPr>
          <a:xfrm>
            <a:off x="502920" y="1600200"/>
            <a:ext cx="5486400" cy="4389120"/>
          </a:xfrm>
          <a:prstGeom prst="roundRect">
            <a:avLst>
              <a:gd name="adj" fmla="val 1667"/>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6" name="Icon circle"/>
          <p:cNvSpPr/>
          <p:nvPr/>
        </p:nvSpPr>
        <p:spPr>
          <a:xfrm>
            <a:off x="758952" y="1828800"/>
            <a:ext cx="502920" cy="502920"/>
          </a:xfrm>
          <a:prstGeom prst="ellipse">
            <a:avLst/>
          </a:prstGeom>
          <a:solidFill>
            <a:srgbClr val="8B5CF6"/>
          </a:solidFill>
          <a:ln w="12700">
            <a:solidFill>
              <a:srgbClr val="8B5CF6"/>
            </a:solidFill>
            <a:prstDash val="solid"/>
          </a:ln>
        </p:spPr>
      </p:sp>
      <p:pic>
        <p:nvPicPr>
          <p:cNvPr id="7" name="Icon" descr="preencoded.png">    </p:cNvPr>
          <p:cNvPicPr>
            <a:picLocks noChangeAspect="1"/>
          </p:cNvPicPr>
          <p:nvPr/>
        </p:nvPicPr>
        <p:blipFill>
          <a:blip r:embed="rId1"/>
          <a:stretch>
            <a:fillRect/>
          </a:stretch>
        </p:blipFill>
        <p:spPr>
          <a:xfrm>
            <a:off x="889711" y="1959559"/>
            <a:ext cx="241402" cy="241402"/>
          </a:xfrm>
          <a:prstGeom prst="rect">
            <a:avLst/>
          </a:prstGeom>
        </p:spPr>
      </p:pic>
      <p:sp>
        <p:nvSpPr>
          <p:cNvPr id="8" name="Text 5"/>
          <p:cNvSpPr txBox="1"/>
          <p:nvPr/>
        </p:nvSpPr>
        <p:spPr>
          <a:xfrm>
            <a:off x="1399032" y="1828800"/>
            <a:ext cx="4389120" cy="502920"/>
          </a:xfrm>
          <a:prstGeom prst="rect">
            <a:avLst/>
          </a:prstGeom>
          <a:noFill/>
          <a:ln/>
        </p:spPr>
        <p:txBody>
          <a:bodyPr wrap="square" lIns="0" tIns="0" rIns="0" bIns="0" rtlCol="0" anchor="ctr"/>
          <a:lstStyle/>
          <a:p>
            <a:pPr indent="0" marL="0">
              <a:buNone/>
            </a:pPr>
            <a:r>
              <a:rPr lang="en-US" sz="1600" b="1" dirty="0">
                <a:solidFill>
                  <a:schemeClr val="tx1"/>
                </a:solidFill>
              </a:rPr>
              <a:t>Regular SEO: backlinks every month</a:t>
            </a:r>
            <a:endParaRPr lang="en-US" sz="1600" dirty="0"/>
          </a:p>
        </p:txBody>
      </p:sp>
      <p:sp>
        <p:nvSpPr>
          <p:cNvPr id="9" name="Dot"/>
          <p:cNvSpPr/>
          <p:nvPr/>
        </p:nvSpPr>
        <p:spPr>
          <a:xfrm>
            <a:off x="795528" y="2633472"/>
            <a:ext cx="146304" cy="146304"/>
          </a:xfrm>
          <a:prstGeom prst="ellipse">
            <a:avLst/>
          </a:prstGeom>
          <a:solidFill>
            <a:srgbClr val="8B5CF6"/>
          </a:solidFill>
          <a:ln w="12700">
            <a:solidFill>
              <a:srgbClr val="8B5CF6"/>
            </a:solidFill>
            <a:prstDash val="solid"/>
          </a:ln>
        </p:spPr>
      </p:sp>
      <p:sp>
        <p:nvSpPr>
          <p:cNvPr id="10" name="Text 7"/>
          <p:cNvSpPr txBox="1"/>
          <p:nvPr/>
        </p:nvSpPr>
        <p:spPr>
          <a:xfrm>
            <a:off x="1097280" y="2560320"/>
            <a:ext cx="4663440" cy="512064"/>
          </a:xfrm>
          <a:prstGeom prst="rect">
            <a:avLst/>
          </a:prstGeom>
          <a:noFill/>
          <a:ln/>
        </p:spPr>
        <p:txBody>
          <a:bodyPr wrap="square" lIns="0" tIns="0" rIns="0" bIns="0" rtlCol="0" anchor="t"/>
          <a:lstStyle/>
          <a:p>
            <a:pPr indent="0" marL="0">
              <a:buNone/>
            </a:pPr>
            <a:r>
              <a:rPr lang="en-US" sz="1200" b="1" dirty="0">
                <a:solidFill>
                  <a:srgbClr val="1C1B22"/>
                </a:solidFill>
              </a:rPr>
              <a:t>Guest posts</a:t>
            </a:r>
            <a:endParaRPr lang="en-US" sz="1200" dirty="0"/>
          </a:p>
          <a:p>
            <a:pPr indent="0" marL="0">
              <a:buNone/>
            </a:pPr>
            <a:r>
              <a:rPr lang="en-US" sz="1200" dirty="0">
                <a:solidFill>
                  <a:srgbClr val="6E6B7B"/>
                </a:solidFill>
              </a:rPr>
              <a:t>on developer and AI engineering blogs</a:t>
            </a:r>
            <a:endParaRPr lang="en-US" sz="1200" dirty="0"/>
          </a:p>
        </p:txBody>
      </p:sp>
      <p:sp>
        <p:nvSpPr>
          <p:cNvPr id="11" name="Dot"/>
          <p:cNvSpPr/>
          <p:nvPr/>
        </p:nvSpPr>
        <p:spPr>
          <a:xfrm>
            <a:off x="795528" y="3182112"/>
            <a:ext cx="146304" cy="146304"/>
          </a:xfrm>
          <a:prstGeom prst="ellipse">
            <a:avLst/>
          </a:prstGeom>
          <a:solidFill>
            <a:srgbClr val="8B5CF6"/>
          </a:solidFill>
          <a:ln w="12700">
            <a:solidFill>
              <a:srgbClr val="8B5CF6"/>
            </a:solidFill>
            <a:prstDash val="solid"/>
          </a:ln>
        </p:spPr>
      </p:sp>
      <p:sp>
        <p:nvSpPr>
          <p:cNvPr id="12" name="Text 9"/>
          <p:cNvSpPr txBox="1"/>
          <p:nvPr/>
        </p:nvSpPr>
        <p:spPr>
          <a:xfrm>
            <a:off x="1097280" y="3108960"/>
            <a:ext cx="4663440" cy="512064"/>
          </a:xfrm>
          <a:prstGeom prst="rect">
            <a:avLst/>
          </a:prstGeom>
          <a:noFill/>
          <a:ln/>
        </p:spPr>
        <p:txBody>
          <a:bodyPr wrap="square" lIns="0" tIns="0" rIns="0" bIns="0" rtlCol="0" anchor="t"/>
          <a:lstStyle/>
          <a:p>
            <a:pPr indent="0" marL="0">
              <a:buNone/>
            </a:pPr>
            <a:r>
              <a:rPr lang="en-US" sz="1200" b="1" dirty="0">
                <a:solidFill>
                  <a:srgbClr val="1C1B22"/>
                </a:solidFill>
              </a:rPr>
              <a:t>“Best of” inclusions</a:t>
            </a:r>
            <a:endParaRPr lang="en-US" sz="1200" dirty="0"/>
          </a:p>
          <a:p>
            <a:pPr indent="0" marL="0">
              <a:buNone/>
            </a:pPr>
            <a:r>
              <a:rPr lang="en-US" sz="1200" dirty="0">
                <a:solidFill>
                  <a:srgbClr val="6E6B7B"/>
                </a:solidFill>
              </a:rPr>
              <a:t>in AI project management and Jira-alternative roundups</a:t>
            </a:r>
            <a:endParaRPr lang="en-US" sz="1200" dirty="0"/>
          </a:p>
        </p:txBody>
      </p:sp>
      <p:sp>
        <p:nvSpPr>
          <p:cNvPr id="13" name="Dot"/>
          <p:cNvSpPr/>
          <p:nvPr/>
        </p:nvSpPr>
        <p:spPr>
          <a:xfrm>
            <a:off x="795528" y="3730752"/>
            <a:ext cx="146304" cy="146304"/>
          </a:xfrm>
          <a:prstGeom prst="ellipse">
            <a:avLst/>
          </a:prstGeom>
          <a:solidFill>
            <a:srgbClr val="8B5CF6"/>
          </a:solidFill>
          <a:ln w="12700">
            <a:solidFill>
              <a:srgbClr val="8B5CF6"/>
            </a:solidFill>
            <a:prstDash val="solid"/>
          </a:ln>
        </p:spPr>
      </p:sp>
      <p:sp>
        <p:nvSpPr>
          <p:cNvPr id="14" name="Text 11"/>
          <p:cNvSpPr txBox="1"/>
          <p:nvPr/>
        </p:nvSpPr>
        <p:spPr>
          <a:xfrm>
            <a:off x="1097280" y="3657600"/>
            <a:ext cx="4663440" cy="512064"/>
          </a:xfrm>
          <a:prstGeom prst="rect">
            <a:avLst/>
          </a:prstGeom>
          <a:noFill/>
          <a:ln/>
        </p:spPr>
        <p:txBody>
          <a:bodyPr wrap="square" lIns="0" tIns="0" rIns="0" bIns="0" rtlCol="0" anchor="t"/>
          <a:lstStyle/>
          <a:p>
            <a:pPr indent="0" marL="0">
              <a:buNone/>
            </a:pPr>
            <a:r>
              <a:rPr lang="en-US" sz="1200" b="1" dirty="0">
                <a:solidFill>
                  <a:srgbClr val="1C1B22"/>
                </a:solidFill>
              </a:rPr>
              <a:t>Integration partners</a:t>
            </a:r>
            <a:endParaRPr lang="en-US" sz="1200" dirty="0"/>
          </a:p>
          <a:p>
            <a:pPr indent="0" marL="0">
              <a:buNone/>
            </a:pPr>
            <a:r>
              <a:rPr lang="en-US" sz="1200" dirty="0">
                <a:solidFill>
                  <a:srgbClr val="6E6B7B"/>
                </a:solidFill>
              </a:rPr>
              <a:t>MCP clients, GitHub and tool directories</a:t>
            </a:r>
            <a:endParaRPr lang="en-US" sz="1200" dirty="0"/>
          </a:p>
        </p:txBody>
      </p:sp>
      <p:sp>
        <p:nvSpPr>
          <p:cNvPr id="15" name="Dot"/>
          <p:cNvSpPr/>
          <p:nvPr/>
        </p:nvSpPr>
        <p:spPr>
          <a:xfrm>
            <a:off x="795528" y="4279392"/>
            <a:ext cx="146304" cy="146304"/>
          </a:xfrm>
          <a:prstGeom prst="ellipse">
            <a:avLst/>
          </a:prstGeom>
          <a:solidFill>
            <a:srgbClr val="8B5CF6"/>
          </a:solidFill>
          <a:ln w="12700">
            <a:solidFill>
              <a:srgbClr val="8B5CF6"/>
            </a:solidFill>
            <a:prstDash val="solid"/>
          </a:ln>
        </p:spPr>
      </p:sp>
      <p:sp>
        <p:nvSpPr>
          <p:cNvPr id="16" name="Text 13"/>
          <p:cNvSpPr txBox="1"/>
          <p:nvPr/>
        </p:nvSpPr>
        <p:spPr>
          <a:xfrm>
            <a:off x="1097280" y="4206240"/>
            <a:ext cx="4663440" cy="512064"/>
          </a:xfrm>
          <a:prstGeom prst="rect">
            <a:avLst/>
          </a:prstGeom>
          <a:noFill/>
          <a:ln/>
        </p:spPr>
        <p:txBody>
          <a:bodyPr wrap="square" lIns="0" tIns="0" rIns="0" bIns="0" rtlCol="0" anchor="t"/>
          <a:lstStyle/>
          <a:p>
            <a:pPr indent="0" marL="0">
              <a:buNone/>
            </a:pPr>
            <a:r>
              <a:rPr lang="en-US" sz="1200" b="1" dirty="0">
                <a:solidFill>
                  <a:srgbClr val="1C1B22"/>
                </a:solidFill>
              </a:rPr>
              <a:t>Expert quotes</a:t>
            </a:r>
            <a:endParaRPr lang="en-US" sz="1200" dirty="0"/>
          </a:p>
          <a:p>
            <a:pPr indent="0" marL="0">
              <a:buNone/>
            </a:pPr>
            <a:r>
              <a:rPr lang="en-US" sz="1200" dirty="0">
                <a:solidFill>
                  <a:srgbClr val="6E6B7B"/>
                </a:solidFill>
              </a:rPr>
              <a:t>via Qwoted and Featured.com journalist requests</a:t>
            </a:r>
            <a:endParaRPr lang="en-US" sz="1200" dirty="0"/>
          </a:p>
        </p:txBody>
      </p:sp>
      <p:sp>
        <p:nvSpPr>
          <p:cNvPr id="17" name="Dot"/>
          <p:cNvSpPr/>
          <p:nvPr/>
        </p:nvSpPr>
        <p:spPr>
          <a:xfrm>
            <a:off x="795528" y="4828032"/>
            <a:ext cx="146304" cy="146304"/>
          </a:xfrm>
          <a:prstGeom prst="ellipse">
            <a:avLst/>
          </a:prstGeom>
          <a:solidFill>
            <a:srgbClr val="8B5CF6"/>
          </a:solidFill>
          <a:ln w="12700">
            <a:solidFill>
              <a:srgbClr val="8B5CF6"/>
            </a:solidFill>
            <a:prstDash val="solid"/>
          </a:ln>
        </p:spPr>
      </p:sp>
      <p:sp>
        <p:nvSpPr>
          <p:cNvPr id="18" name="Text 15"/>
          <p:cNvSpPr txBox="1"/>
          <p:nvPr/>
        </p:nvSpPr>
        <p:spPr>
          <a:xfrm>
            <a:off x="1097280" y="4754880"/>
            <a:ext cx="4663440" cy="512064"/>
          </a:xfrm>
          <a:prstGeom prst="rect">
            <a:avLst/>
          </a:prstGeom>
          <a:noFill/>
          <a:ln/>
        </p:spPr>
        <p:txBody>
          <a:bodyPr wrap="square" lIns="0" tIns="0" rIns="0" bIns="0" rtlCol="0" anchor="t"/>
          <a:lstStyle/>
          <a:p>
            <a:pPr indent="0" marL="0">
              <a:buNone/>
            </a:pPr>
            <a:r>
              <a:rPr lang="en-US" sz="1200" b="1" dirty="0">
                <a:solidFill>
                  <a:srgbClr val="1C1B22"/>
                </a:solidFill>
              </a:rPr>
              <a:t>Founder appearances</a:t>
            </a:r>
            <a:endParaRPr lang="en-US" sz="1200" dirty="0"/>
          </a:p>
          <a:p>
            <a:pPr indent="0" marL="0">
              <a:buNone/>
            </a:pPr>
            <a:r>
              <a:rPr lang="en-US" sz="1200" dirty="0">
                <a:solidFill>
                  <a:srgbClr val="6E6B7B"/>
                </a:solidFill>
              </a:rPr>
              <a:t>on podcasts and developer newsletters</a:t>
            </a:r>
            <a:endParaRPr lang="en-US" sz="1200" dirty="0"/>
          </a:p>
        </p:txBody>
      </p:sp>
      <p:sp>
        <p:nvSpPr>
          <p:cNvPr id="19" name="Dot"/>
          <p:cNvSpPr/>
          <p:nvPr/>
        </p:nvSpPr>
        <p:spPr>
          <a:xfrm>
            <a:off x="795528" y="5376672"/>
            <a:ext cx="146304" cy="146304"/>
          </a:xfrm>
          <a:prstGeom prst="ellipse">
            <a:avLst/>
          </a:prstGeom>
          <a:solidFill>
            <a:srgbClr val="8B5CF6"/>
          </a:solidFill>
          <a:ln w="12700">
            <a:solidFill>
              <a:srgbClr val="8B5CF6"/>
            </a:solidFill>
            <a:prstDash val="solid"/>
          </a:ln>
        </p:spPr>
      </p:sp>
      <p:sp>
        <p:nvSpPr>
          <p:cNvPr id="20" name="Text 17"/>
          <p:cNvSpPr txBox="1"/>
          <p:nvPr/>
        </p:nvSpPr>
        <p:spPr>
          <a:xfrm>
            <a:off x="1097280" y="5303520"/>
            <a:ext cx="4663440" cy="512064"/>
          </a:xfrm>
          <a:prstGeom prst="rect">
            <a:avLst/>
          </a:prstGeom>
          <a:noFill/>
          <a:ln/>
        </p:spPr>
        <p:txBody>
          <a:bodyPr wrap="square" lIns="0" tIns="0" rIns="0" bIns="0" rtlCol="0" anchor="t"/>
          <a:lstStyle/>
          <a:p>
            <a:pPr indent="0" marL="0">
              <a:buNone/>
            </a:pPr>
            <a:r>
              <a:rPr lang="en-US" sz="1200" b="1" dirty="0">
                <a:solidFill>
                  <a:srgbClr val="1C1B22"/>
                </a:solidFill>
              </a:rPr>
              <a:t>Link recovery</a:t>
            </a:r>
            <a:endParaRPr lang="en-US" sz="1200" dirty="0"/>
          </a:p>
          <a:p>
            <a:pPr indent="0" marL="0">
              <a:buNone/>
            </a:pPr>
            <a:r>
              <a:rPr lang="en-US" sz="1200" dirty="0">
                <a:solidFill>
                  <a:srgbClr val="6E6B7B"/>
                </a:solidFill>
              </a:rPr>
              <a:t>unlinked brand mentions and broken links</a:t>
            </a:r>
            <a:endParaRPr lang="en-US" sz="1200" dirty="0"/>
          </a:p>
        </p:txBody>
      </p:sp>
      <p:sp>
        <p:nvSpPr>
          <p:cNvPr id="21" name="Ongoing card"/>
          <p:cNvSpPr/>
          <p:nvPr/>
        </p:nvSpPr>
        <p:spPr>
          <a:xfrm>
            <a:off x="6263640" y="1600200"/>
            <a:ext cx="5422392" cy="1341120"/>
          </a:xfrm>
          <a:prstGeom prst="roundRect">
            <a:avLst>
              <a:gd name="adj" fmla="val 5455"/>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2" name="Icon circle"/>
          <p:cNvSpPr/>
          <p:nvPr/>
        </p:nvSpPr>
        <p:spPr>
          <a:xfrm>
            <a:off x="6492240" y="1801368"/>
            <a:ext cx="438912" cy="438912"/>
          </a:xfrm>
          <a:prstGeom prst="ellipse">
            <a:avLst/>
          </a:prstGeom>
          <a:solidFill>
            <a:srgbClr val="8B5CF6"/>
          </a:solidFill>
          <a:ln w="12700">
            <a:solidFill>
              <a:srgbClr val="8B5CF6"/>
            </a:solidFill>
            <a:prstDash val="solid"/>
          </a:ln>
        </p:spPr>
      </p:sp>
      <p:pic>
        <p:nvPicPr>
          <p:cNvPr id="23" name="Icon" descr="preencoded.png">    </p:cNvPr>
          <p:cNvPicPr>
            <a:picLocks noChangeAspect="1"/>
          </p:cNvPicPr>
          <p:nvPr/>
        </p:nvPicPr>
        <p:blipFill>
          <a:blip r:embed="rId2"/>
          <a:stretch>
            <a:fillRect/>
          </a:stretch>
        </p:blipFill>
        <p:spPr>
          <a:xfrm>
            <a:off x="6606357" y="1915485"/>
            <a:ext cx="210678" cy="210678"/>
          </a:xfrm>
          <a:prstGeom prst="rect">
            <a:avLst/>
          </a:prstGeom>
        </p:spPr>
      </p:pic>
      <p:sp>
        <p:nvSpPr>
          <p:cNvPr id="24" name="Text 20"/>
          <p:cNvSpPr txBox="1"/>
          <p:nvPr/>
        </p:nvSpPr>
        <p:spPr>
          <a:xfrm>
            <a:off x="7068312" y="1801368"/>
            <a:ext cx="4416552" cy="438912"/>
          </a:xfrm>
          <a:prstGeom prst="rect">
            <a:avLst/>
          </a:prstGeom>
          <a:noFill/>
          <a:ln/>
        </p:spPr>
        <p:txBody>
          <a:bodyPr wrap="square" lIns="0" tIns="0" rIns="0" bIns="0" rtlCol="0" anchor="ctr"/>
          <a:lstStyle/>
          <a:p>
            <a:pPr indent="0" marL="0">
              <a:buNone/>
            </a:pPr>
            <a:r>
              <a:rPr lang="en-US" sz="1500" b="1" dirty="0">
                <a:solidFill>
                  <a:schemeClr val="tx1"/>
                </a:solidFill>
              </a:rPr>
              <a:t>Social media presence</a:t>
            </a:r>
            <a:endParaRPr lang="en-US" sz="1500" dirty="0"/>
          </a:p>
        </p:txBody>
      </p:sp>
      <p:sp>
        <p:nvSpPr>
          <p:cNvPr id="25" name="Text 21"/>
          <p:cNvSpPr txBox="1"/>
          <p:nvPr/>
        </p:nvSpPr>
        <p:spPr>
          <a:xfrm>
            <a:off x="6510528" y="2295144"/>
            <a:ext cx="4965192" cy="554736"/>
          </a:xfrm>
          <a:prstGeom prst="rect">
            <a:avLst/>
          </a:prstGeom>
          <a:noFill/>
          <a:ln/>
        </p:spPr>
        <p:txBody>
          <a:bodyPr wrap="square" lIns="0" tIns="0" rIns="0" bIns="0" rtlCol="0" anchor="t"/>
          <a:lstStyle/>
          <a:p>
            <a:pPr indent="0" marL="0">
              <a:buNone/>
            </a:pPr>
            <a:r>
              <a:rPr lang="en-US" sz="1200" dirty="0">
                <a:solidFill>
                  <a:schemeClr val="accent6"/>
                </a:solidFill>
              </a:rPr>
              <a:t>Founder LinkedIn 3 times a week, company page, X developer community, 2 YouTube demos a month, genuine Reddit and HN participation.</a:t>
            </a:r>
            <a:endParaRPr lang="en-US" sz="1200" dirty="0"/>
          </a:p>
        </p:txBody>
      </p:sp>
      <p:sp>
        <p:nvSpPr>
          <p:cNvPr id="26" name="Ongoing card"/>
          <p:cNvSpPr/>
          <p:nvPr/>
        </p:nvSpPr>
        <p:spPr>
          <a:xfrm>
            <a:off x="6263640" y="3124200"/>
            <a:ext cx="5422392" cy="1341120"/>
          </a:xfrm>
          <a:prstGeom prst="roundRect">
            <a:avLst>
              <a:gd name="adj" fmla="val 5455"/>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27" name="Icon circle"/>
          <p:cNvSpPr/>
          <p:nvPr/>
        </p:nvSpPr>
        <p:spPr>
          <a:xfrm>
            <a:off x="6492240" y="3325368"/>
            <a:ext cx="438912" cy="438912"/>
          </a:xfrm>
          <a:prstGeom prst="ellipse">
            <a:avLst/>
          </a:prstGeom>
          <a:solidFill>
            <a:srgbClr val="8B5CF6"/>
          </a:solidFill>
          <a:ln w="12700">
            <a:solidFill>
              <a:srgbClr val="8B5CF6"/>
            </a:solidFill>
            <a:prstDash val="solid"/>
          </a:ln>
        </p:spPr>
      </p:sp>
      <p:pic>
        <p:nvPicPr>
          <p:cNvPr id="28" name="Icon" descr="preencoded.png">    </p:cNvPr>
          <p:cNvPicPr>
            <a:picLocks noChangeAspect="1"/>
          </p:cNvPicPr>
          <p:nvPr/>
        </p:nvPicPr>
        <p:blipFill>
          <a:blip r:embed="rId3"/>
          <a:stretch>
            <a:fillRect/>
          </a:stretch>
        </p:blipFill>
        <p:spPr>
          <a:xfrm>
            <a:off x="6606357" y="3439485"/>
            <a:ext cx="210678" cy="210678"/>
          </a:xfrm>
          <a:prstGeom prst="rect">
            <a:avLst/>
          </a:prstGeom>
        </p:spPr>
      </p:pic>
      <p:sp>
        <p:nvSpPr>
          <p:cNvPr id="29" name="Text 24"/>
          <p:cNvSpPr txBox="1"/>
          <p:nvPr/>
        </p:nvSpPr>
        <p:spPr>
          <a:xfrm>
            <a:off x="7068312" y="3325368"/>
            <a:ext cx="4416552" cy="438912"/>
          </a:xfrm>
          <a:prstGeom prst="rect">
            <a:avLst/>
          </a:prstGeom>
          <a:noFill/>
          <a:ln/>
        </p:spPr>
        <p:txBody>
          <a:bodyPr wrap="square" lIns="0" tIns="0" rIns="0" bIns="0" rtlCol="0" anchor="ctr"/>
          <a:lstStyle/>
          <a:p>
            <a:pPr indent="0" marL="0">
              <a:buNone/>
            </a:pPr>
            <a:r>
              <a:rPr lang="en-US" sz="1500" b="1" dirty="0">
                <a:solidFill>
                  <a:schemeClr val="tx1"/>
                </a:solidFill>
              </a:rPr>
              <a:t>Content and AI visibility</a:t>
            </a:r>
            <a:endParaRPr lang="en-US" sz="1500" dirty="0"/>
          </a:p>
        </p:txBody>
      </p:sp>
      <p:sp>
        <p:nvSpPr>
          <p:cNvPr id="30" name="Text 25"/>
          <p:cNvSpPr txBox="1"/>
          <p:nvPr/>
        </p:nvSpPr>
        <p:spPr>
          <a:xfrm>
            <a:off x="6510528" y="3819144"/>
            <a:ext cx="4965192" cy="554736"/>
          </a:xfrm>
          <a:prstGeom prst="rect">
            <a:avLst/>
          </a:prstGeom>
          <a:noFill/>
          <a:ln/>
        </p:spPr>
        <p:txBody>
          <a:bodyPr wrap="square" lIns="0" tIns="0" rIns="0" bIns="0" rtlCol="0" anchor="t"/>
          <a:lstStyle/>
          <a:p>
            <a:pPr indent="0" marL="0">
              <a:buNone/>
            </a:pPr>
            <a:r>
              <a:rPr lang="en-US" sz="1200" dirty="0">
                <a:solidFill>
                  <a:schemeClr val="accent6"/>
                </a:solidFill>
              </a:rPr>
              <a:t>4 posts a month plus refreshes of older posts. Monthly AI prompt tracking across ChatGPT, Perplexity, Gemini and Claude.</a:t>
            </a:r>
            <a:endParaRPr lang="en-US" sz="1200" dirty="0"/>
          </a:p>
        </p:txBody>
      </p:sp>
      <p:sp>
        <p:nvSpPr>
          <p:cNvPr id="31" name="Ongoing card"/>
          <p:cNvSpPr/>
          <p:nvPr/>
        </p:nvSpPr>
        <p:spPr>
          <a:xfrm>
            <a:off x="6263640" y="4648200"/>
            <a:ext cx="5422392" cy="1341120"/>
          </a:xfrm>
          <a:prstGeom prst="roundRect">
            <a:avLst>
              <a:gd name="adj" fmla="val 5455"/>
            </a:avLst>
          </a:prstGeom>
          <a:solidFill>
            <a:srgbClr val="F6F5FE"/>
          </a:solidFill>
          <a:ln w="12700">
            <a:solidFill>
              <a:srgbClr val="E2DEF7"/>
            </a:solidFill>
            <a:prstDash val="solid"/>
          </a:ln>
          <a:effectLst>
            <a:outerShdw sx="100000" sy="100000" kx="0" ky="0" algn="bl" rotWithShape="0" blurRad="76200" dist="25400" dir="5400000">
              <a:srgbClr val="C6BEE8">
                <a:alpha val="35000"/>
              </a:srgbClr>
            </a:outerShdw>
          </a:effectLst>
        </p:spPr>
      </p:sp>
      <p:sp>
        <p:nvSpPr>
          <p:cNvPr id="32" name="Icon circle"/>
          <p:cNvSpPr/>
          <p:nvPr/>
        </p:nvSpPr>
        <p:spPr>
          <a:xfrm>
            <a:off x="6492240" y="4849368"/>
            <a:ext cx="438912" cy="438912"/>
          </a:xfrm>
          <a:prstGeom prst="ellipse">
            <a:avLst/>
          </a:prstGeom>
          <a:solidFill>
            <a:srgbClr val="8B5CF6"/>
          </a:solidFill>
          <a:ln w="12700">
            <a:solidFill>
              <a:srgbClr val="8B5CF6"/>
            </a:solidFill>
            <a:prstDash val="solid"/>
          </a:ln>
        </p:spPr>
      </p:sp>
      <p:pic>
        <p:nvPicPr>
          <p:cNvPr id="33" name="Icon" descr="preencoded.png">    </p:cNvPr>
          <p:cNvPicPr>
            <a:picLocks noChangeAspect="1"/>
          </p:cNvPicPr>
          <p:nvPr/>
        </p:nvPicPr>
        <p:blipFill>
          <a:blip r:embed="rId4"/>
          <a:stretch>
            <a:fillRect/>
          </a:stretch>
        </p:blipFill>
        <p:spPr>
          <a:xfrm>
            <a:off x="6606357" y="4963485"/>
            <a:ext cx="210678" cy="210678"/>
          </a:xfrm>
          <a:prstGeom prst="rect">
            <a:avLst/>
          </a:prstGeom>
        </p:spPr>
      </p:pic>
      <p:sp>
        <p:nvSpPr>
          <p:cNvPr id="34" name="Text 28"/>
          <p:cNvSpPr txBox="1"/>
          <p:nvPr/>
        </p:nvSpPr>
        <p:spPr>
          <a:xfrm>
            <a:off x="7068312" y="4849368"/>
            <a:ext cx="4416552" cy="438912"/>
          </a:xfrm>
          <a:prstGeom prst="rect">
            <a:avLst/>
          </a:prstGeom>
          <a:noFill/>
          <a:ln/>
        </p:spPr>
        <p:txBody>
          <a:bodyPr wrap="square" lIns="0" tIns="0" rIns="0" bIns="0" rtlCol="0" anchor="ctr"/>
          <a:lstStyle/>
          <a:p>
            <a:pPr indent="0" marL="0">
              <a:buNone/>
            </a:pPr>
            <a:r>
              <a:rPr lang="en-US" sz="1500" b="1" dirty="0">
                <a:solidFill>
                  <a:schemeClr val="tx1"/>
                </a:solidFill>
              </a:rPr>
              <a:t>Monthly reporting</a:t>
            </a:r>
            <a:endParaRPr lang="en-US" sz="1500" dirty="0"/>
          </a:p>
        </p:txBody>
      </p:sp>
      <p:sp>
        <p:nvSpPr>
          <p:cNvPr id="35" name="Text 29"/>
          <p:cNvSpPr txBox="1"/>
          <p:nvPr/>
        </p:nvSpPr>
        <p:spPr>
          <a:xfrm>
            <a:off x="6510528" y="5343144"/>
            <a:ext cx="4965192" cy="554736"/>
          </a:xfrm>
          <a:prstGeom prst="rect">
            <a:avLst/>
          </a:prstGeom>
          <a:noFill/>
          <a:ln/>
        </p:spPr>
        <p:txBody>
          <a:bodyPr wrap="square" lIns="0" tIns="0" rIns="0" bIns="0" rtlCol="0" anchor="t"/>
          <a:lstStyle/>
          <a:p>
            <a:pPr indent="0" marL="0">
              <a:buNone/>
            </a:pPr>
            <a:r>
              <a:rPr lang="en-US" sz="1200" dirty="0">
                <a:solidFill>
                  <a:schemeClr val="accent6"/>
                </a:solidFill>
              </a:rPr>
              <a:t>Rankings, links, listings, reviews, signups and AI mentions, against the Month 1 baseline.</a:t>
            </a:r>
            <a:endParaRPr lang="en-US" sz="12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B7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1"/>
                </a:solidFill>
              </a:rPr>
              <a:t>HOW WE KNOW IT IS WORKING</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bg1"/>
                </a:solidFill>
              </a:rPr>
              <a:t>Eight numbers, reviewed every 30 days</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rgbClr val="A1A1AA"/>
                </a:solidFill>
              </a:rPr>
              <a:t>Targets on work we control are commitments. Rankings and traffic are directional: they follow the signals.</a:t>
            </a:r>
            <a:endParaRPr lang="en-US" sz="1250" dirty="0"/>
          </a:p>
        </p:txBody>
      </p:sp>
      <p:sp>
        <p:nvSpPr>
          <p:cNvPr id="5" name="KPI card"/>
          <p:cNvSpPr/>
          <p:nvPr/>
        </p:nvSpPr>
        <p:spPr>
          <a:xfrm>
            <a:off x="502920" y="1645920"/>
            <a:ext cx="2590038" cy="1965960"/>
          </a:xfrm>
          <a:prstGeom prst="roundRect">
            <a:avLst>
              <a:gd name="adj" fmla="val 3721"/>
            </a:avLst>
          </a:prstGeom>
          <a:solidFill>
            <a:srgbClr val="1E1E22"/>
          </a:solidFill>
          <a:ln w="12700">
            <a:solidFill>
              <a:srgbClr val="2E2C38"/>
            </a:solidFill>
            <a:prstDash val="solid"/>
          </a:ln>
        </p:spPr>
      </p:sp>
      <p:sp>
        <p:nvSpPr>
          <p:cNvPr id="6" name="Icon circle"/>
          <p:cNvSpPr/>
          <p:nvPr/>
        </p:nvSpPr>
        <p:spPr>
          <a:xfrm>
            <a:off x="731520" y="1874520"/>
            <a:ext cx="475488" cy="475488"/>
          </a:xfrm>
          <a:prstGeom prst="ellipse">
            <a:avLst/>
          </a:prstGeom>
          <a:solidFill>
            <a:srgbClr val="8B5CF6"/>
          </a:solidFill>
          <a:ln w="12700">
            <a:solidFill>
              <a:srgbClr val="8B5CF6"/>
            </a:solidFill>
            <a:prstDash val="solid"/>
          </a:ln>
        </p:spPr>
      </p:sp>
      <p:pic>
        <p:nvPicPr>
          <p:cNvPr id="7" name="Icon" descr="preencoded.png">    </p:cNvPr>
          <p:cNvPicPr>
            <a:picLocks noChangeAspect="1"/>
          </p:cNvPicPr>
          <p:nvPr/>
        </p:nvPicPr>
        <p:blipFill>
          <a:blip r:embed="rId1"/>
          <a:stretch>
            <a:fillRect/>
          </a:stretch>
        </p:blipFill>
        <p:spPr>
          <a:xfrm>
            <a:off x="855147" y="1998147"/>
            <a:ext cx="228234" cy="228234"/>
          </a:xfrm>
          <a:prstGeom prst="rect">
            <a:avLst/>
          </a:prstGeom>
        </p:spPr>
      </p:pic>
      <p:sp>
        <p:nvSpPr>
          <p:cNvPr id="8" name="Text 5"/>
          <p:cNvSpPr txBox="1"/>
          <p:nvPr/>
        </p:nvSpPr>
        <p:spPr>
          <a:xfrm>
            <a:off x="731520" y="2468880"/>
            <a:ext cx="2178558" cy="329184"/>
          </a:xfrm>
          <a:prstGeom prst="rect">
            <a:avLst/>
          </a:prstGeom>
          <a:noFill/>
          <a:ln/>
        </p:spPr>
        <p:txBody>
          <a:bodyPr wrap="square" lIns="0" tIns="0" rIns="0" bIns="0" rtlCol="0" anchor="t"/>
          <a:lstStyle/>
          <a:p>
            <a:pPr indent="0" marL="0">
              <a:buNone/>
            </a:pPr>
            <a:r>
              <a:rPr lang="en-US" sz="1400" b="1" dirty="0">
                <a:solidFill>
                  <a:schemeClr val="bg1"/>
                </a:solidFill>
              </a:rPr>
              <a:t>Ranking keywords</a:t>
            </a:r>
            <a:endParaRPr lang="en-US" sz="1400" dirty="0"/>
          </a:p>
        </p:txBody>
      </p:sp>
      <p:sp>
        <p:nvSpPr>
          <p:cNvPr id="9" name="Text 6"/>
          <p:cNvSpPr txBox="1"/>
          <p:nvPr/>
        </p:nvSpPr>
        <p:spPr>
          <a:xfrm>
            <a:off x="731520" y="2834640"/>
            <a:ext cx="2178558" cy="256032"/>
          </a:xfrm>
          <a:prstGeom prst="rect">
            <a:avLst/>
          </a:prstGeom>
          <a:noFill/>
          <a:ln/>
        </p:spPr>
        <p:txBody>
          <a:bodyPr wrap="square" lIns="0" tIns="0" rIns="0" bIns="0" rtlCol="0" anchor="t"/>
          <a:lstStyle/>
          <a:p>
            <a:pPr indent="0" marL="0">
              <a:buNone/>
            </a:pPr>
            <a:r>
              <a:rPr lang="en-US" sz="1150" dirty="0">
                <a:solidFill>
                  <a:srgbClr val="A1A1AA"/>
                </a:solidFill>
              </a:rPr>
              <a:t>Today: 1</a:t>
            </a:r>
            <a:endParaRPr lang="en-US" sz="1150" dirty="0"/>
          </a:p>
        </p:txBody>
      </p:sp>
      <p:sp>
        <p:nvSpPr>
          <p:cNvPr id="10" name="Text 7"/>
          <p:cNvSpPr txBox="1"/>
          <p:nvPr/>
        </p:nvSpPr>
        <p:spPr>
          <a:xfrm>
            <a:off x="731520" y="3108960"/>
            <a:ext cx="2178558" cy="365760"/>
          </a:xfrm>
          <a:prstGeom prst="rect">
            <a:avLst/>
          </a:prstGeom>
          <a:noFill/>
          <a:ln/>
        </p:spPr>
        <p:txBody>
          <a:bodyPr wrap="square" lIns="0" tIns="0" rIns="0" bIns="0" rtlCol="0" anchor="t"/>
          <a:lstStyle/>
          <a:p>
            <a:pPr indent="0" marL="0">
              <a:buNone/>
            </a:pPr>
            <a:r>
              <a:rPr lang="en-US" sz="1150" b="1" dirty="0">
                <a:solidFill>
                  <a:srgbClr val="C6BEE8"/>
                </a:solidFill>
              </a:rPr>
              <a:t>Grows as pages go live</a:t>
            </a:r>
            <a:endParaRPr lang="en-US" sz="1150" dirty="0"/>
          </a:p>
        </p:txBody>
      </p:sp>
      <p:sp>
        <p:nvSpPr>
          <p:cNvPr id="11" name="KPI card"/>
          <p:cNvSpPr/>
          <p:nvPr/>
        </p:nvSpPr>
        <p:spPr>
          <a:xfrm>
            <a:off x="3367278" y="1645920"/>
            <a:ext cx="2590038" cy="1965960"/>
          </a:xfrm>
          <a:prstGeom prst="roundRect">
            <a:avLst>
              <a:gd name="adj" fmla="val 3721"/>
            </a:avLst>
          </a:prstGeom>
          <a:solidFill>
            <a:srgbClr val="1E1E22"/>
          </a:solidFill>
          <a:ln w="12700">
            <a:solidFill>
              <a:srgbClr val="2E2C38"/>
            </a:solidFill>
            <a:prstDash val="solid"/>
          </a:ln>
        </p:spPr>
      </p:sp>
      <p:sp>
        <p:nvSpPr>
          <p:cNvPr id="12" name="Icon circle"/>
          <p:cNvSpPr/>
          <p:nvPr/>
        </p:nvSpPr>
        <p:spPr>
          <a:xfrm>
            <a:off x="3595878" y="1874520"/>
            <a:ext cx="475488" cy="475488"/>
          </a:xfrm>
          <a:prstGeom prst="ellipse">
            <a:avLst/>
          </a:prstGeom>
          <a:solidFill>
            <a:srgbClr val="8B5CF6"/>
          </a:solidFill>
          <a:ln w="12700">
            <a:solidFill>
              <a:srgbClr val="8B5CF6"/>
            </a:solidFill>
            <a:prstDash val="solid"/>
          </a:ln>
        </p:spPr>
      </p:sp>
      <p:pic>
        <p:nvPicPr>
          <p:cNvPr id="13" name="Icon" descr="preencoded.png">    </p:cNvPr>
          <p:cNvPicPr>
            <a:picLocks noChangeAspect="1"/>
          </p:cNvPicPr>
          <p:nvPr/>
        </p:nvPicPr>
        <p:blipFill>
          <a:blip r:embed="rId2"/>
          <a:stretch>
            <a:fillRect/>
          </a:stretch>
        </p:blipFill>
        <p:spPr>
          <a:xfrm>
            <a:off x="3719505" y="1998147"/>
            <a:ext cx="228234" cy="228234"/>
          </a:xfrm>
          <a:prstGeom prst="rect">
            <a:avLst/>
          </a:prstGeom>
        </p:spPr>
      </p:pic>
      <p:sp>
        <p:nvSpPr>
          <p:cNvPr id="14" name="Text 10"/>
          <p:cNvSpPr txBox="1"/>
          <p:nvPr/>
        </p:nvSpPr>
        <p:spPr>
          <a:xfrm>
            <a:off x="3595878" y="2468880"/>
            <a:ext cx="2178558" cy="329184"/>
          </a:xfrm>
          <a:prstGeom prst="rect">
            <a:avLst/>
          </a:prstGeom>
          <a:noFill/>
          <a:ln/>
        </p:spPr>
        <p:txBody>
          <a:bodyPr wrap="square" lIns="0" tIns="0" rIns="0" bIns="0" rtlCol="0" anchor="t"/>
          <a:lstStyle/>
          <a:p>
            <a:pPr indent="0" marL="0">
              <a:buNone/>
            </a:pPr>
            <a:r>
              <a:rPr lang="en-US" sz="1400" b="1" dirty="0">
                <a:solidFill>
                  <a:schemeClr val="bg1"/>
                </a:solidFill>
              </a:rPr>
              <a:t>Linking root domains</a:t>
            </a:r>
            <a:endParaRPr lang="en-US" sz="1400" dirty="0"/>
          </a:p>
        </p:txBody>
      </p:sp>
      <p:sp>
        <p:nvSpPr>
          <p:cNvPr id="15" name="Text 11"/>
          <p:cNvSpPr txBox="1"/>
          <p:nvPr/>
        </p:nvSpPr>
        <p:spPr>
          <a:xfrm>
            <a:off x="3595878" y="2834640"/>
            <a:ext cx="2178558" cy="256032"/>
          </a:xfrm>
          <a:prstGeom prst="rect">
            <a:avLst/>
          </a:prstGeom>
          <a:noFill/>
          <a:ln/>
        </p:spPr>
        <p:txBody>
          <a:bodyPr wrap="square" lIns="0" tIns="0" rIns="0" bIns="0" rtlCol="0" anchor="t"/>
          <a:lstStyle/>
          <a:p>
            <a:pPr indent="0" marL="0">
              <a:buNone/>
            </a:pPr>
            <a:r>
              <a:rPr lang="en-US" sz="1150" dirty="0">
                <a:solidFill>
                  <a:srgbClr val="A1A1AA"/>
                </a:solidFill>
              </a:rPr>
              <a:t>Today: 3</a:t>
            </a:r>
            <a:endParaRPr lang="en-US" sz="1150" dirty="0"/>
          </a:p>
        </p:txBody>
      </p:sp>
      <p:sp>
        <p:nvSpPr>
          <p:cNvPr id="16" name="Text 12"/>
          <p:cNvSpPr txBox="1"/>
          <p:nvPr/>
        </p:nvSpPr>
        <p:spPr>
          <a:xfrm>
            <a:off x="3595878" y="3108960"/>
            <a:ext cx="2178558" cy="365760"/>
          </a:xfrm>
          <a:prstGeom prst="rect">
            <a:avLst/>
          </a:prstGeom>
          <a:noFill/>
          <a:ln/>
        </p:spPr>
        <p:txBody>
          <a:bodyPr wrap="square" lIns="0" tIns="0" rIns="0" bIns="0" rtlCol="0" anchor="t"/>
          <a:lstStyle/>
          <a:p>
            <a:pPr indent="0" marL="0">
              <a:buNone/>
            </a:pPr>
            <a:r>
              <a:rPr lang="en-US" sz="1150" b="1" dirty="0">
                <a:solidFill>
                  <a:srgbClr val="C6BEE8"/>
                </a:solidFill>
              </a:rPr>
              <a:t>New links monthly from Month 4</a:t>
            </a:r>
            <a:endParaRPr lang="en-US" sz="1150" dirty="0"/>
          </a:p>
        </p:txBody>
      </p:sp>
      <p:sp>
        <p:nvSpPr>
          <p:cNvPr id="17" name="KPI card"/>
          <p:cNvSpPr/>
          <p:nvPr/>
        </p:nvSpPr>
        <p:spPr>
          <a:xfrm>
            <a:off x="6231636" y="1645920"/>
            <a:ext cx="2590038" cy="1965960"/>
          </a:xfrm>
          <a:prstGeom prst="roundRect">
            <a:avLst>
              <a:gd name="adj" fmla="val 3721"/>
            </a:avLst>
          </a:prstGeom>
          <a:solidFill>
            <a:srgbClr val="1E1E22"/>
          </a:solidFill>
          <a:ln w="12700">
            <a:solidFill>
              <a:srgbClr val="2E2C38"/>
            </a:solidFill>
            <a:prstDash val="solid"/>
          </a:ln>
        </p:spPr>
      </p:sp>
      <p:sp>
        <p:nvSpPr>
          <p:cNvPr id="18" name="Icon circle"/>
          <p:cNvSpPr/>
          <p:nvPr/>
        </p:nvSpPr>
        <p:spPr>
          <a:xfrm>
            <a:off x="6460236" y="1874520"/>
            <a:ext cx="475488" cy="475488"/>
          </a:xfrm>
          <a:prstGeom prst="ellipse">
            <a:avLst/>
          </a:prstGeom>
          <a:solidFill>
            <a:srgbClr val="8B5CF6"/>
          </a:solidFill>
          <a:ln w="12700">
            <a:solidFill>
              <a:srgbClr val="8B5CF6"/>
            </a:solidFill>
            <a:prstDash val="solid"/>
          </a:ln>
        </p:spPr>
      </p:sp>
      <p:pic>
        <p:nvPicPr>
          <p:cNvPr id="19" name="Icon" descr="preencoded.png">    </p:cNvPr>
          <p:cNvPicPr>
            <a:picLocks noChangeAspect="1"/>
          </p:cNvPicPr>
          <p:nvPr/>
        </p:nvPicPr>
        <p:blipFill>
          <a:blip r:embed="rId3"/>
          <a:stretch>
            <a:fillRect/>
          </a:stretch>
        </p:blipFill>
        <p:spPr>
          <a:xfrm>
            <a:off x="6583863" y="1998147"/>
            <a:ext cx="228234" cy="228234"/>
          </a:xfrm>
          <a:prstGeom prst="rect">
            <a:avLst/>
          </a:prstGeom>
        </p:spPr>
      </p:pic>
      <p:sp>
        <p:nvSpPr>
          <p:cNvPr id="20" name="Text 15"/>
          <p:cNvSpPr txBox="1"/>
          <p:nvPr/>
        </p:nvSpPr>
        <p:spPr>
          <a:xfrm>
            <a:off x="6460236" y="2468880"/>
            <a:ext cx="2178558" cy="329184"/>
          </a:xfrm>
          <a:prstGeom prst="rect">
            <a:avLst/>
          </a:prstGeom>
          <a:noFill/>
          <a:ln/>
        </p:spPr>
        <p:txBody>
          <a:bodyPr wrap="square" lIns="0" tIns="0" rIns="0" bIns="0" rtlCol="0" anchor="t"/>
          <a:lstStyle/>
          <a:p>
            <a:pPr indent="0" marL="0">
              <a:buNone/>
            </a:pPr>
            <a:r>
              <a:rPr lang="en-US" sz="1400" b="1" dirty="0">
                <a:solidFill>
                  <a:schemeClr val="bg1"/>
                </a:solidFill>
              </a:rPr>
              <a:t>Product listings live</a:t>
            </a:r>
            <a:endParaRPr lang="en-US" sz="1400" dirty="0"/>
          </a:p>
        </p:txBody>
      </p:sp>
      <p:sp>
        <p:nvSpPr>
          <p:cNvPr id="21" name="Text 16"/>
          <p:cNvSpPr txBox="1"/>
          <p:nvPr/>
        </p:nvSpPr>
        <p:spPr>
          <a:xfrm>
            <a:off x="6460236" y="2834640"/>
            <a:ext cx="2178558" cy="256032"/>
          </a:xfrm>
          <a:prstGeom prst="rect">
            <a:avLst/>
          </a:prstGeom>
          <a:noFill/>
          <a:ln/>
        </p:spPr>
        <p:txBody>
          <a:bodyPr wrap="square" lIns="0" tIns="0" rIns="0" bIns="0" rtlCol="0" anchor="t"/>
          <a:lstStyle/>
          <a:p>
            <a:pPr indent="0" marL="0">
              <a:buNone/>
            </a:pPr>
            <a:r>
              <a:rPr lang="en-US" sz="1150" dirty="0">
                <a:solidFill>
                  <a:srgbClr val="A1A1AA"/>
                </a:solidFill>
              </a:rPr>
              <a:t>Today: 1 (Glama)</a:t>
            </a:r>
            <a:endParaRPr lang="en-US" sz="1150" dirty="0"/>
          </a:p>
        </p:txBody>
      </p:sp>
      <p:sp>
        <p:nvSpPr>
          <p:cNvPr id="22" name="Text 17"/>
          <p:cNvSpPr txBox="1"/>
          <p:nvPr/>
        </p:nvSpPr>
        <p:spPr>
          <a:xfrm>
            <a:off x="6460236" y="3108960"/>
            <a:ext cx="2178558" cy="365760"/>
          </a:xfrm>
          <a:prstGeom prst="rect">
            <a:avLst/>
          </a:prstGeom>
          <a:noFill/>
          <a:ln/>
        </p:spPr>
        <p:txBody>
          <a:bodyPr wrap="square" lIns="0" tIns="0" rIns="0" bIns="0" rtlCol="0" anchor="t"/>
          <a:lstStyle/>
          <a:p>
            <a:pPr indent="0" marL="0">
              <a:buNone/>
            </a:pPr>
            <a:r>
              <a:rPr lang="en-US" sz="1150" b="1" dirty="0">
                <a:solidFill>
                  <a:srgbClr val="C6BEE8"/>
                </a:solidFill>
              </a:rPr>
              <a:t>10+ by end of Month 2</a:t>
            </a:r>
            <a:endParaRPr lang="en-US" sz="1150" dirty="0"/>
          </a:p>
        </p:txBody>
      </p:sp>
      <p:sp>
        <p:nvSpPr>
          <p:cNvPr id="23" name="KPI card"/>
          <p:cNvSpPr/>
          <p:nvPr/>
        </p:nvSpPr>
        <p:spPr>
          <a:xfrm>
            <a:off x="9095994" y="1645920"/>
            <a:ext cx="2590038" cy="1965960"/>
          </a:xfrm>
          <a:prstGeom prst="roundRect">
            <a:avLst>
              <a:gd name="adj" fmla="val 3721"/>
            </a:avLst>
          </a:prstGeom>
          <a:solidFill>
            <a:srgbClr val="1E1E22"/>
          </a:solidFill>
          <a:ln w="12700">
            <a:solidFill>
              <a:srgbClr val="2E2C38"/>
            </a:solidFill>
            <a:prstDash val="solid"/>
          </a:ln>
        </p:spPr>
      </p:sp>
      <p:sp>
        <p:nvSpPr>
          <p:cNvPr id="24" name="Icon circle"/>
          <p:cNvSpPr/>
          <p:nvPr/>
        </p:nvSpPr>
        <p:spPr>
          <a:xfrm>
            <a:off x="9324594" y="1874520"/>
            <a:ext cx="475488" cy="475488"/>
          </a:xfrm>
          <a:prstGeom prst="ellipse">
            <a:avLst/>
          </a:prstGeom>
          <a:solidFill>
            <a:srgbClr val="8B5CF6"/>
          </a:solidFill>
          <a:ln w="12700">
            <a:solidFill>
              <a:srgbClr val="8B5CF6"/>
            </a:solidFill>
            <a:prstDash val="solid"/>
          </a:ln>
        </p:spPr>
      </p:sp>
      <p:pic>
        <p:nvPicPr>
          <p:cNvPr id="25" name="Icon" descr="preencoded.png">    </p:cNvPr>
          <p:cNvPicPr>
            <a:picLocks noChangeAspect="1"/>
          </p:cNvPicPr>
          <p:nvPr/>
        </p:nvPicPr>
        <p:blipFill>
          <a:blip r:embed="rId4"/>
          <a:stretch>
            <a:fillRect/>
          </a:stretch>
        </p:blipFill>
        <p:spPr>
          <a:xfrm>
            <a:off x="9448221" y="1998147"/>
            <a:ext cx="228234" cy="228234"/>
          </a:xfrm>
          <a:prstGeom prst="rect">
            <a:avLst/>
          </a:prstGeom>
        </p:spPr>
      </p:pic>
      <p:sp>
        <p:nvSpPr>
          <p:cNvPr id="26" name="Text 20"/>
          <p:cNvSpPr txBox="1"/>
          <p:nvPr/>
        </p:nvSpPr>
        <p:spPr>
          <a:xfrm>
            <a:off x="9324594" y="2468880"/>
            <a:ext cx="2178558" cy="329184"/>
          </a:xfrm>
          <a:prstGeom prst="rect">
            <a:avLst/>
          </a:prstGeom>
          <a:noFill/>
          <a:ln/>
        </p:spPr>
        <p:txBody>
          <a:bodyPr wrap="square" lIns="0" tIns="0" rIns="0" bIns="0" rtlCol="0" anchor="t"/>
          <a:lstStyle/>
          <a:p>
            <a:pPr indent="0" marL="0">
              <a:buNone/>
            </a:pPr>
            <a:r>
              <a:rPr lang="en-US" sz="1400" b="1" dirty="0">
                <a:solidFill>
                  <a:schemeClr val="bg1"/>
                </a:solidFill>
              </a:rPr>
              <a:t>Verified reviews</a:t>
            </a:r>
            <a:endParaRPr lang="en-US" sz="1400" dirty="0"/>
          </a:p>
        </p:txBody>
      </p:sp>
      <p:sp>
        <p:nvSpPr>
          <p:cNvPr id="27" name="Text 21"/>
          <p:cNvSpPr txBox="1"/>
          <p:nvPr/>
        </p:nvSpPr>
        <p:spPr>
          <a:xfrm>
            <a:off x="9324594" y="2834640"/>
            <a:ext cx="2178558" cy="256032"/>
          </a:xfrm>
          <a:prstGeom prst="rect">
            <a:avLst/>
          </a:prstGeom>
          <a:noFill/>
          <a:ln/>
        </p:spPr>
        <p:txBody>
          <a:bodyPr wrap="square" lIns="0" tIns="0" rIns="0" bIns="0" rtlCol="0" anchor="t"/>
          <a:lstStyle/>
          <a:p>
            <a:pPr indent="0" marL="0">
              <a:buNone/>
            </a:pPr>
            <a:r>
              <a:rPr lang="en-US" sz="1150" dirty="0">
                <a:solidFill>
                  <a:srgbClr val="A1A1AA"/>
                </a:solidFill>
              </a:rPr>
              <a:t>Today: 0</a:t>
            </a:r>
            <a:endParaRPr lang="en-US" sz="1150" dirty="0"/>
          </a:p>
        </p:txBody>
      </p:sp>
      <p:sp>
        <p:nvSpPr>
          <p:cNvPr id="28" name="Text 22"/>
          <p:cNvSpPr txBox="1"/>
          <p:nvPr/>
        </p:nvSpPr>
        <p:spPr>
          <a:xfrm>
            <a:off x="9324594" y="3108960"/>
            <a:ext cx="2178558" cy="365760"/>
          </a:xfrm>
          <a:prstGeom prst="rect">
            <a:avLst/>
          </a:prstGeom>
          <a:noFill/>
          <a:ln/>
        </p:spPr>
        <p:txBody>
          <a:bodyPr wrap="square" lIns="0" tIns="0" rIns="0" bIns="0" rtlCol="0" anchor="t"/>
          <a:lstStyle/>
          <a:p>
            <a:pPr indent="0" marL="0">
              <a:buNone/>
            </a:pPr>
            <a:r>
              <a:rPr lang="en-US" sz="1150" b="1" dirty="0">
                <a:solidFill>
                  <a:srgbClr val="C6BEE8"/>
                </a:solidFill>
              </a:rPr>
              <a:t>10+ by end of Month 3</a:t>
            </a:r>
            <a:endParaRPr lang="en-US" sz="1150" dirty="0"/>
          </a:p>
        </p:txBody>
      </p:sp>
      <p:sp>
        <p:nvSpPr>
          <p:cNvPr id="29" name="KPI card"/>
          <p:cNvSpPr/>
          <p:nvPr/>
        </p:nvSpPr>
        <p:spPr>
          <a:xfrm>
            <a:off x="502920" y="3886200"/>
            <a:ext cx="2590038" cy="1965960"/>
          </a:xfrm>
          <a:prstGeom prst="roundRect">
            <a:avLst>
              <a:gd name="adj" fmla="val 3721"/>
            </a:avLst>
          </a:prstGeom>
          <a:solidFill>
            <a:srgbClr val="1E1E22"/>
          </a:solidFill>
          <a:ln w="12700">
            <a:solidFill>
              <a:srgbClr val="2E2C38"/>
            </a:solidFill>
            <a:prstDash val="solid"/>
          </a:ln>
        </p:spPr>
      </p:sp>
      <p:sp>
        <p:nvSpPr>
          <p:cNvPr id="30" name="Icon circle"/>
          <p:cNvSpPr/>
          <p:nvPr/>
        </p:nvSpPr>
        <p:spPr>
          <a:xfrm>
            <a:off x="731520" y="4114800"/>
            <a:ext cx="475488" cy="475488"/>
          </a:xfrm>
          <a:prstGeom prst="ellipse">
            <a:avLst/>
          </a:prstGeom>
          <a:solidFill>
            <a:srgbClr val="8B5CF6"/>
          </a:solidFill>
          <a:ln w="12700">
            <a:solidFill>
              <a:srgbClr val="8B5CF6"/>
            </a:solidFill>
            <a:prstDash val="solid"/>
          </a:ln>
        </p:spPr>
      </p:sp>
      <p:pic>
        <p:nvPicPr>
          <p:cNvPr id="31" name="Icon" descr="preencoded.png">    </p:cNvPr>
          <p:cNvPicPr>
            <a:picLocks noChangeAspect="1"/>
          </p:cNvPicPr>
          <p:nvPr/>
        </p:nvPicPr>
        <p:blipFill>
          <a:blip r:embed="rId5"/>
          <a:stretch>
            <a:fillRect/>
          </a:stretch>
        </p:blipFill>
        <p:spPr>
          <a:xfrm>
            <a:off x="855147" y="4238427"/>
            <a:ext cx="228234" cy="228234"/>
          </a:xfrm>
          <a:prstGeom prst="rect">
            <a:avLst/>
          </a:prstGeom>
        </p:spPr>
      </p:pic>
      <p:sp>
        <p:nvSpPr>
          <p:cNvPr id="32" name="Text 25"/>
          <p:cNvSpPr txBox="1"/>
          <p:nvPr/>
        </p:nvSpPr>
        <p:spPr>
          <a:xfrm>
            <a:off x="731520" y="4709160"/>
            <a:ext cx="2178558" cy="329184"/>
          </a:xfrm>
          <a:prstGeom prst="rect">
            <a:avLst/>
          </a:prstGeom>
          <a:noFill/>
          <a:ln/>
        </p:spPr>
        <p:txBody>
          <a:bodyPr wrap="square" lIns="0" tIns="0" rIns="0" bIns="0" rtlCol="0" anchor="t"/>
          <a:lstStyle/>
          <a:p>
            <a:pPr indent="0" marL="0">
              <a:buNone/>
            </a:pPr>
            <a:r>
              <a:rPr lang="en-US" sz="1400" b="1" dirty="0">
                <a:solidFill>
                  <a:schemeClr val="bg1"/>
                </a:solidFill>
              </a:rPr>
              <a:t>AI assistant mentions</a:t>
            </a:r>
            <a:endParaRPr lang="en-US" sz="1400" dirty="0"/>
          </a:p>
        </p:txBody>
      </p:sp>
      <p:sp>
        <p:nvSpPr>
          <p:cNvPr id="33" name="Text 26"/>
          <p:cNvSpPr txBox="1"/>
          <p:nvPr/>
        </p:nvSpPr>
        <p:spPr>
          <a:xfrm>
            <a:off x="731520" y="5074920"/>
            <a:ext cx="2178558" cy="256032"/>
          </a:xfrm>
          <a:prstGeom prst="rect">
            <a:avLst/>
          </a:prstGeom>
          <a:noFill/>
          <a:ln/>
        </p:spPr>
        <p:txBody>
          <a:bodyPr wrap="square" lIns="0" tIns="0" rIns="0" bIns="0" rtlCol="0" anchor="t"/>
          <a:lstStyle/>
          <a:p>
            <a:pPr indent="0" marL="0">
              <a:buNone/>
            </a:pPr>
            <a:r>
              <a:rPr lang="en-US" sz="1150" dirty="0">
                <a:solidFill>
                  <a:srgbClr val="A1A1AA"/>
                </a:solidFill>
              </a:rPr>
              <a:t>Today: not tracked</a:t>
            </a:r>
            <a:endParaRPr lang="en-US" sz="1150" dirty="0"/>
          </a:p>
        </p:txBody>
      </p:sp>
      <p:sp>
        <p:nvSpPr>
          <p:cNvPr id="34" name="Text 27"/>
          <p:cNvSpPr txBox="1"/>
          <p:nvPr/>
        </p:nvSpPr>
        <p:spPr>
          <a:xfrm>
            <a:off x="731520" y="5349240"/>
            <a:ext cx="2178558" cy="365760"/>
          </a:xfrm>
          <a:prstGeom prst="rect">
            <a:avLst/>
          </a:prstGeom>
          <a:noFill/>
          <a:ln/>
        </p:spPr>
        <p:txBody>
          <a:bodyPr wrap="square" lIns="0" tIns="0" rIns="0" bIns="0" rtlCol="0" anchor="t"/>
          <a:lstStyle/>
          <a:p>
            <a:pPr indent="0" marL="0">
              <a:buNone/>
            </a:pPr>
            <a:r>
              <a:rPr lang="en-US" sz="1150" b="1" dirty="0">
                <a:solidFill>
                  <a:srgbClr val="C6BEE8"/>
                </a:solidFill>
              </a:rPr>
              <a:t>Tracked monthly from Month 1</a:t>
            </a:r>
            <a:endParaRPr lang="en-US" sz="1150" dirty="0"/>
          </a:p>
        </p:txBody>
      </p:sp>
      <p:sp>
        <p:nvSpPr>
          <p:cNvPr id="35" name="KPI card"/>
          <p:cNvSpPr/>
          <p:nvPr/>
        </p:nvSpPr>
        <p:spPr>
          <a:xfrm>
            <a:off x="3367278" y="3886200"/>
            <a:ext cx="2590038" cy="1965960"/>
          </a:xfrm>
          <a:prstGeom prst="roundRect">
            <a:avLst>
              <a:gd name="adj" fmla="val 3721"/>
            </a:avLst>
          </a:prstGeom>
          <a:solidFill>
            <a:srgbClr val="1E1E22"/>
          </a:solidFill>
          <a:ln w="12700">
            <a:solidFill>
              <a:srgbClr val="2E2C38"/>
            </a:solidFill>
            <a:prstDash val="solid"/>
          </a:ln>
        </p:spPr>
      </p:sp>
      <p:sp>
        <p:nvSpPr>
          <p:cNvPr id="36" name="Icon circle"/>
          <p:cNvSpPr/>
          <p:nvPr/>
        </p:nvSpPr>
        <p:spPr>
          <a:xfrm>
            <a:off x="3595878" y="4114800"/>
            <a:ext cx="475488" cy="475488"/>
          </a:xfrm>
          <a:prstGeom prst="ellipse">
            <a:avLst/>
          </a:prstGeom>
          <a:solidFill>
            <a:srgbClr val="8B5CF6"/>
          </a:solidFill>
          <a:ln w="12700">
            <a:solidFill>
              <a:srgbClr val="8B5CF6"/>
            </a:solidFill>
            <a:prstDash val="solid"/>
          </a:ln>
        </p:spPr>
      </p:sp>
      <p:pic>
        <p:nvPicPr>
          <p:cNvPr id="37" name="Icon" descr="preencoded.png">    </p:cNvPr>
          <p:cNvPicPr>
            <a:picLocks noChangeAspect="1"/>
          </p:cNvPicPr>
          <p:nvPr/>
        </p:nvPicPr>
        <p:blipFill>
          <a:blip r:embed="rId6"/>
          <a:stretch>
            <a:fillRect/>
          </a:stretch>
        </p:blipFill>
        <p:spPr>
          <a:xfrm>
            <a:off x="3719505" y="4238427"/>
            <a:ext cx="228234" cy="228234"/>
          </a:xfrm>
          <a:prstGeom prst="rect">
            <a:avLst/>
          </a:prstGeom>
        </p:spPr>
      </p:pic>
      <p:sp>
        <p:nvSpPr>
          <p:cNvPr id="38" name="Text 30"/>
          <p:cNvSpPr txBox="1"/>
          <p:nvPr/>
        </p:nvSpPr>
        <p:spPr>
          <a:xfrm>
            <a:off x="3595878" y="4709160"/>
            <a:ext cx="2178558" cy="329184"/>
          </a:xfrm>
          <a:prstGeom prst="rect">
            <a:avLst/>
          </a:prstGeom>
          <a:noFill/>
          <a:ln/>
        </p:spPr>
        <p:txBody>
          <a:bodyPr wrap="square" lIns="0" tIns="0" rIns="0" bIns="0" rtlCol="0" anchor="t"/>
          <a:lstStyle/>
          <a:p>
            <a:pPr indent="0" marL="0">
              <a:buNone/>
            </a:pPr>
            <a:r>
              <a:rPr lang="en-US" sz="1400" b="1" dirty="0">
                <a:solidFill>
                  <a:schemeClr val="bg1"/>
                </a:solidFill>
              </a:rPr>
              <a:t>Organic sessions and signups</a:t>
            </a:r>
            <a:endParaRPr lang="en-US" sz="1400" dirty="0"/>
          </a:p>
        </p:txBody>
      </p:sp>
      <p:sp>
        <p:nvSpPr>
          <p:cNvPr id="39" name="Text 31"/>
          <p:cNvSpPr txBox="1"/>
          <p:nvPr/>
        </p:nvSpPr>
        <p:spPr>
          <a:xfrm>
            <a:off x="3595878" y="5074920"/>
            <a:ext cx="2178558" cy="256032"/>
          </a:xfrm>
          <a:prstGeom prst="rect">
            <a:avLst/>
          </a:prstGeom>
          <a:noFill/>
          <a:ln/>
        </p:spPr>
        <p:txBody>
          <a:bodyPr wrap="square" lIns="0" tIns="0" rIns="0" bIns="0" rtlCol="0" anchor="t"/>
          <a:lstStyle/>
          <a:p>
            <a:pPr indent="0" marL="0">
              <a:buNone/>
            </a:pPr>
            <a:r>
              <a:rPr lang="en-US" sz="1150" dirty="0">
                <a:solidFill>
                  <a:srgbClr val="A1A1AA"/>
                </a:solidFill>
              </a:rPr>
              <a:t>Today: near zero</a:t>
            </a:r>
            <a:endParaRPr lang="en-US" sz="1150" dirty="0"/>
          </a:p>
        </p:txBody>
      </p:sp>
      <p:sp>
        <p:nvSpPr>
          <p:cNvPr id="40" name="Text 32"/>
          <p:cNvSpPr txBox="1"/>
          <p:nvPr/>
        </p:nvSpPr>
        <p:spPr>
          <a:xfrm>
            <a:off x="3595878" y="5349240"/>
            <a:ext cx="2178558" cy="365760"/>
          </a:xfrm>
          <a:prstGeom prst="rect">
            <a:avLst/>
          </a:prstGeom>
          <a:noFill/>
          <a:ln/>
        </p:spPr>
        <p:txBody>
          <a:bodyPr wrap="square" lIns="0" tIns="0" rIns="0" bIns="0" rtlCol="0" anchor="t"/>
          <a:lstStyle/>
          <a:p>
            <a:pPr indent="0" marL="0">
              <a:buNone/>
            </a:pPr>
            <a:r>
              <a:rPr lang="en-US" sz="1150" b="1" dirty="0">
                <a:solidFill>
                  <a:srgbClr val="C6BEE8"/>
                </a:solidFill>
              </a:rPr>
              <a:t>Measured in GA4 from Month 1</a:t>
            </a:r>
            <a:endParaRPr lang="en-US" sz="1150" dirty="0"/>
          </a:p>
        </p:txBody>
      </p:sp>
      <p:sp>
        <p:nvSpPr>
          <p:cNvPr id="41" name="KPI card"/>
          <p:cNvSpPr/>
          <p:nvPr/>
        </p:nvSpPr>
        <p:spPr>
          <a:xfrm>
            <a:off x="6231636" y="3886200"/>
            <a:ext cx="2590038" cy="1965960"/>
          </a:xfrm>
          <a:prstGeom prst="roundRect">
            <a:avLst>
              <a:gd name="adj" fmla="val 3721"/>
            </a:avLst>
          </a:prstGeom>
          <a:solidFill>
            <a:srgbClr val="1E1E22"/>
          </a:solidFill>
          <a:ln w="12700">
            <a:solidFill>
              <a:srgbClr val="2E2C38"/>
            </a:solidFill>
            <a:prstDash val="solid"/>
          </a:ln>
        </p:spPr>
      </p:sp>
      <p:sp>
        <p:nvSpPr>
          <p:cNvPr id="42" name="Icon circle"/>
          <p:cNvSpPr/>
          <p:nvPr/>
        </p:nvSpPr>
        <p:spPr>
          <a:xfrm>
            <a:off x="6460236" y="4114800"/>
            <a:ext cx="475488" cy="475488"/>
          </a:xfrm>
          <a:prstGeom prst="ellipse">
            <a:avLst/>
          </a:prstGeom>
          <a:solidFill>
            <a:srgbClr val="8B5CF6"/>
          </a:solidFill>
          <a:ln w="12700">
            <a:solidFill>
              <a:srgbClr val="8B5CF6"/>
            </a:solidFill>
            <a:prstDash val="solid"/>
          </a:ln>
        </p:spPr>
      </p:sp>
      <p:pic>
        <p:nvPicPr>
          <p:cNvPr id="43" name="Icon" descr="preencoded.png">    </p:cNvPr>
          <p:cNvPicPr>
            <a:picLocks noChangeAspect="1"/>
          </p:cNvPicPr>
          <p:nvPr/>
        </p:nvPicPr>
        <p:blipFill>
          <a:blip r:embed="rId7"/>
          <a:stretch>
            <a:fillRect/>
          </a:stretch>
        </p:blipFill>
        <p:spPr>
          <a:xfrm>
            <a:off x="6583863" y="4238427"/>
            <a:ext cx="228234" cy="228234"/>
          </a:xfrm>
          <a:prstGeom prst="rect">
            <a:avLst/>
          </a:prstGeom>
        </p:spPr>
      </p:pic>
      <p:sp>
        <p:nvSpPr>
          <p:cNvPr id="44" name="Text 35"/>
          <p:cNvSpPr txBox="1"/>
          <p:nvPr/>
        </p:nvSpPr>
        <p:spPr>
          <a:xfrm>
            <a:off x="6460236" y="4709160"/>
            <a:ext cx="2178558" cy="329184"/>
          </a:xfrm>
          <a:prstGeom prst="rect">
            <a:avLst/>
          </a:prstGeom>
          <a:noFill/>
          <a:ln/>
        </p:spPr>
        <p:txBody>
          <a:bodyPr wrap="square" lIns="0" tIns="0" rIns="0" bIns="0" rtlCol="0" anchor="t"/>
          <a:lstStyle/>
          <a:p>
            <a:pPr indent="0" marL="0">
              <a:buNone/>
            </a:pPr>
            <a:r>
              <a:rPr lang="en-US" sz="1400" b="1" dirty="0">
                <a:solidFill>
                  <a:schemeClr val="bg1"/>
                </a:solidFill>
              </a:rPr>
              <a:t>Mobile performance</a:t>
            </a:r>
            <a:endParaRPr lang="en-US" sz="1400" dirty="0"/>
          </a:p>
        </p:txBody>
      </p:sp>
      <p:sp>
        <p:nvSpPr>
          <p:cNvPr id="45" name="Text 36"/>
          <p:cNvSpPr txBox="1"/>
          <p:nvPr/>
        </p:nvSpPr>
        <p:spPr>
          <a:xfrm>
            <a:off x="6460236" y="5074920"/>
            <a:ext cx="2178558" cy="256032"/>
          </a:xfrm>
          <a:prstGeom prst="rect">
            <a:avLst/>
          </a:prstGeom>
          <a:noFill/>
          <a:ln/>
        </p:spPr>
        <p:txBody>
          <a:bodyPr wrap="square" lIns="0" tIns="0" rIns="0" bIns="0" rtlCol="0" anchor="t"/>
          <a:lstStyle/>
          <a:p>
            <a:pPr indent="0" marL="0">
              <a:buNone/>
            </a:pPr>
            <a:r>
              <a:rPr lang="en-US" sz="1150" dirty="0">
                <a:solidFill>
                  <a:srgbClr val="A1A1AA"/>
                </a:solidFill>
              </a:rPr>
              <a:t>Today: 80</a:t>
            </a:r>
            <a:endParaRPr lang="en-US" sz="1150" dirty="0"/>
          </a:p>
        </p:txBody>
      </p:sp>
      <p:sp>
        <p:nvSpPr>
          <p:cNvPr id="46" name="Text 37"/>
          <p:cNvSpPr txBox="1"/>
          <p:nvPr/>
        </p:nvSpPr>
        <p:spPr>
          <a:xfrm>
            <a:off x="6460236" y="5349240"/>
            <a:ext cx="2178558" cy="365760"/>
          </a:xfrm>
          <a:prstGeom prst="rect">
            <a:avLst/>
          </a:prstGeom>
          <a:noFill/>
          <a:ln/>
        </p:spPr>
        <p:txBody>
          <a:bodyPr wrap="square" lIns="0" tIns="0" rIns="0" bIns="0" rtlCol="0" anchor="t"/>
          <a:lstStyle/>
          <a:p>
            <a:pPr indent="0" marL="0">
              <a:buNone/>
            </a:pPr>
            <a:r>
              <a:rPr lang="en-US" sz="1150" b="1" dirty="0">
                <a:solidFill>
                  <a:srgbClr val="C6BEE8"/>
                </a:solidFill>
              </a:rPr>
              <a:t>90+ by end of Month 1</a:t>
            </a:r>
            <a:endParaRPr lang="en-US" sz="1150" dirty="0"/>
          </a:p>
        </p:txBody>
      </p:sp>
      <p:sp>
        <p:nvSpPr>
          <p:cNvPr id="47" name="KPI card"/>
          <p:cNvSpPr/>
          <p:nvPr/>
        </p:nvSpPr>
        <p:spPr>
          <a:xfrm>
            <a:off x="9095994" y="3886200"/>
            <a:ext cx="2590038" cy="1965960"/>
          </a:xfrm>
          <a:prstGeom prst="roundRect">
            <a:avLst>
              <a:gd name="adj" fmla="val 3721"/>
            </a:avLst>
          </a:prstGeom>
          <a:solidFill>
            <a:srgbClr val="1E1E22"/>
          </a:solidFill>
          <a:ln w="12700">
            <a:solidFill>
              <a:srgbClr val="2E2C38"/>
            </a:solidFill>
            <a:prstDash val="solid"/>
          </a:ln>
        </p:spPr>
      </p:sp>
      <p:sp>
        <p:nvSpPr>
          <p:cNvPr id="48" name="Icon circle"/>
          <p:cNvSpPr/>
          <p:nvPr/>
        </p:nvSpPr>
        <p:spPr>
          <a:xfrm>
            <a:off x="9324594" y="4114800"/>
            <a:ext cx="475488" cy="475488"/>
          </a:xfrm>
          <a:prstGeom prst="ellipse">
            <a:avLst/>
          </a:prstGeom>
          <a:solidFill>
            <a:srgbClr val="8B5CF6"/>
          </a:solidFill>
          <a:ln w="12700">
            <a:solidFill>
              <a:srgbClr val="8B5CF6"/>
            </a:solidFill>
            <a:prstDash val="solid"/>
          </a:ln>
        </p:spPr>
      </p:sp>
      <p:pic>
        <p:nvPicPr>
          <p:cNvPr id="49" name="Icon" descr="preencoded.png">    </p:cNvPr>
          <p:cNvPicPr>
            <a:picLocks noChangeAspect="1"/>
          </p:cNvPicPr>
          <p:nvPr/>
        </p:nvPicPr>
        <p:blipFill>
          <a:blip r:embed="rId8"/>
          <a:stretch>
            <a:fillRect/>
          </a:stretch>
        </p:blipFill>
        <p:spPr>
          <a:xfrm>
            <a:off x="9448221" y="4238427"/>
            <a:ext cx="228234" cy="228234"/>
          </a:xfrm>
          <a:prstGeom prst="rect">
            <a:avLst/>
          </a:prstGeom>
        </p:spPr>
      </p:pic>
      <p:sp>
        <p:nvSpPr>
          <p:cNvPr id="50" name="Text 40"/>
          <p:cNvSpPr txBox="1"/>
          <p:nvPr/>
        </p:nvSpPr>
        <p:spPr>
          <a:xfrm>
            <a:off x="9324594" y="4709160"/>
            <a:ext cx="2178558" cy="329184"/>
          </a:xfrm>
          <a:prstGeom prst="rect">
            <a:avLst/>
          </a:prstGeom>
          <a:noFill/>
          <a:ln/>
        </p:spPr>
        <p:txBody>
          <a:bodyPr wrap="square" lIns="0" tIns="0" rIns="0" bIns="0" rtlCol="0" anchor="t"/>
          <a:lstStyle/>
          <a:p>
            <a:pPr indent="0" marL="0">
              <a:buNone/>
            </a:pPr>
            <a:r>
              <a:rPr lang="en-US" sz="1400" b="1" dirty="0">
                <a:solidFill>
                  <a:schemeClr val="bg1"/>
                </a:solidFill>
              </a:rPr>
              <a:t>Branded searches</a:t>
            </a:r>
            <a:endParaRPr lang="en-US" sz="1400" dirty="0"/>
          </a:p>
        </p:txBody>
      </p:sp>
      <p:sp>
        <p:nvSpPr>
          <p:cNvPr id="51" name="Text 41"/>
          <p:cNvSpPr txBox="1"/>
          <p:nvPr/>
        </p:nvSpPr>
        <p:spPr>
          <a:xfrm>
            <a:off x="9324594" y="5074920"/>
            <a:ext cx="2178558" cy="256032"/>
          </a:xfrm>
          <a:prstGeom prst="rect">
            <a:avLst/>
          </a:prstGeom>
          <a:noFill/>
          <a:ln/>
        </p:spPr>
        <p:txBody>
          <a:bodyPr wrap="square" lIns="0" tIns="0" rIns="0" bIns="0" rtlCol="0" anchor="t"/>
          <a:lstStyle/>
          <a:p>
            <a:pPr indent="0" marL="0">
              <a:buNone/>
            </a:pPr>
            <a:r>
              <a:rPr lang="en-US" sz="1150" dirty="0">
                <a:solidFill>
                  <a:srgbClr val="A1A1AA"/>
                </a:solidFill>
              </a:rPr>
              <a:t>Today: not tracked</a:t>
            </a:r>
            <a:endParaRPr lang="en-US" sz="1150" dirty="0"/>
          </a:p>
        </p:txBody>
      </p:sp>
      <p:sp>
        <p:nvSpPr>
          <p:cNvPr id="52" name="Text 42"/>
          <p:cNvSpPr txBox="1"/>
          <p:nvPr/>
        </p:nvSpPr>
        <p:spPr>
          <a:xfrm>
            <a:off x="9324594" y="5349240"/>
            <a:ext cx="2178558" cy="365760"/>
          </a:xfrm>
          <a:prstGeom prst="rect">
            <a:avLst/>
          </a:prstGeom>
          <a:noFill/>
          <a:ln/>
        </p:spPr>
        <p:txBody>
          <a:bodyPr wrap="square" lIns="0" tIns="0" rIns="0" bIns="0" rtlCol="0" anchor="t"/>
          <a:lstStyle/>
          <a:p>
            <a:pPr indent="0" marL="0">
              <a:buNone/>
            </a:pPr>
            <a:r>
              <a:rPr lang="en-US" sz="1150" b="1" dirty="0">
                <a:solidFill>
                  <a:srgbClr val="C6BEE8"/>
                </a:solidFill>
              </a:rPr>
              <a:t>Rising in Search Console</a:t>
            </a:r>
            <a:endParaRPr lang="en-US" sz="115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1A1A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02920" y="457200"/>
            <a:ext cx="11183112" cy="292608"/>
          </a:xfrm>
          <a:prstGeom prst="rect">
            <a:avLst/>
          </a:prstGeom>
          <a:noFill/>
          <a:ln/>
        </p:spPr>
        <p:txBody>
          <a:bodyPr wrap="square" lIns="0" tIns="0" rIns="0" bIns="0" rtlCol="0" anchor="t"/>
          <a:lstStyle/>
          <a:p>
            <a:pPr algn="l" indent="0" marL="0">
              <a:buNone/>
            </a:pPr>
            <a:r>
              <a:rPr lang="en-US" sz="1250" b="1" spc="200" kern="0" dirty="0">
                <a:solidFill>
                  <a:schemeClr val="accent1"/>
                </a:solidFill>
              </a:rPr>
              <a:t>NEXT STEP</a:t>
            </a:r>
            <a:endParaRPr lang="en-US" sz="1250" dirty="0"/>
          </a:p>
        </p:txBody>
      </p:sp>
      <p:sp>
        <p:nvSpPr>
          <p:cNvPr id="3" name="Text 0"/>
          <p:cNvSpPr/>
          <p:nvPr>
            <p:ph idx="101" type="title" hasCustomPrompt="1"/>
          </p:nvPr>
        </p:nvSpPr>
        <p:spPr>
          <a:xfrm>
            <a:off x="502920" y="749808"/>
            <a:ext cx="11183112" cy="731520"/>
          </a:xfrm>
          <a:prstGeom prst="rect">
            <a:avLst/>
          </a:prstGeom>
          <a:noFill/>
          <a:ln/>
        </p:spPr>
        <p:txBody>
          <a:bodyPr wrap="square" lIns="0" tIns="0" rIns="0" bIns="0" rtlCol="0" anchor="t"/>
          <a:lstStyle/>
          <a:p>
            <a:pPr algn="l" indent="0" marL="0">
              <a:buNone/>
            </a:pPr>
            <a:r>
              <a:rPr lang="en-US" sz="2900" b="1" dirty="0">
                <a:solidFill>
                  <a:schemeClr val="bg1"/>
                </a:solidFill>
              </a:rPr>
              <a:t>Start Month 1 with four things from Taskive</a:t>
            </a:r>
            <a:endParaRPr lang="en-US" sz="2900" dirty="0"/>
          </a:p>
        </p:txBody>
      </p:sp>
      <p:sp>
        <p:nvSpPr>
          <p:cNvPr id="4" name="Text 0"/>
          <p:cNvSpPr/>
          <p:nvPr>
            <p:ph idx="102" type="body" hasCustomPrompt="1"/>
          </p:nvPr>
        </p:nvSpPr>
        <p:spPr>
          <a:xfrm>
            <a:off x="502920" y="6172200"/>
            <a:ext cx="10607040" cy="329184"/>
          </a:xfrm>
          <a:prstGeom prst="rect">
            <a:avLst/>
          </a:prstGeom>
          <a:noFill/>
          <a:ln/>
        </p:spPr>
        <p:txBody>
          <a:bodyPr wrap="square" lIns="0" tIns="0" rIns="0" bIns="0" rtlCol="0" anchor="t"/>
          <a:lstStyle/>
          <a:p>
            <a:pPr algn="l" indent="0" marL="0">
              <a:buNone/>
            </a:pPr>
            <a:r>
              <a:rPr lang="en-US" sz="1250" i="1" dirty="0">
                <a:solidFill>
                  <a:srgbClr val="A1A1AA"/>
                </a:solidFill>
              </a:rPr>
              <a:t>Approve the plan and Month 1 starts the same week.</a:t>
            </a:r>
            <a:endParaRPr lang="en-US" sz="1250" dirty="0"/>
          </a:p>
        </p:txBody>
      </p:sp>
      <p:sp>
        <p:nvSpPr>
          <p:cNvPr id="5" name="Ask card"/>
          <p:cNvSpPr/>
          <p:nvPr/>
        </p:nvSpPr>
        <p:spPr>
          <a:xfrm>
            <a:off x="502920" y="1737360"/>
            <a:ext cx="2590038" cy="2743200"/>
          </a:xfrm>
          <a:prstGeom prst="roundRect">
            <a:avLst>
              <a:gd name="adj" fmla="val 2824"/>
            </a:avLst>
          </a:prstGeom>
          <a:solidFill>
            <a:srgbClr val="1E1E22"/>
          </a:solidFill>
          <a:ln w="12700">
            <a:solidFill>
              <a:srgbClr val="2E2C38"/>
            </a:solidFill>
            <a:prstDash val="solid"/>
          </a:ln>
        </p:spPr>
      </p:sp>
      <p:sp>
        <p:nvSpPr>
          <p:cNvPr id="6" name="Text 4"/>
          <p:cNvSpPr txBox="1"/>
          <p:nvPr/>
        </p:nvSpPr>
        <p:spPr>
          <a:xfrm>
            <a:off x="777240" y="2011680"/>
            <a:ext cx="1097280" cy="548640"/>
          </a:xfrm>
          <a:prstGeom prst="rect">
            <a:avLst/>
          </a:prstGeom>
          <a:noFill/>
          <a:ln/>
        </p:spPr>
        <p:txBody>
          <a:bodyPr wrap="square" lIns="0" tIns="0" rIns="0" bIns="0" rtlCol="0" anchor="t"/>
          <a:lstStyle/>
          <a:p>
            <a:pPr indent="0" marL="0">
              <a:buNone/>
            </a:pPr>
            <a:r>
              <a:rPr lang="en-US" sz="3000" b="1" dirty="0">
                <a:solidFill>
                  <a:schemeClr val="accent1"/>
                </a:solidFill>
                <a:latin typeface="Century Schoolbook" pitchFamily="34" charset="0"/>
                <a:ea typeface="Century Schoolbook" pitchFamily="34" charset="-122"/>
                <a:cs typeface="Century Schoolbook" pitchFamily="34" charset="-120"/>
              </a:rPr>
              <a:t>01</a:t>
            </a:r>
            <a:endParaRPr lang="en-US" sz="3000" dirty="0"/>
          </a:p>
        </p:txBody>
      </p:sp>
      <p:sp>
        <p:nvSpPr>
          <p:cNvPr id="7" name="Icon circle"/>
          <p:cNvSpPr/>
          <p:nvPr/>
        </p:nvSpPr>
        <p:spPr>
          <a:xfrm>
            <a:off x="2269998" y="2029968"/>
            <a:ext cx="548640" cy="548640"/>
          </a:xfrm>
          <a:prstGeom prst="ellipse">
            <a:avLst/>
          </a:prstGeom>
          <a:solidFill>
            <a:srgbClr val="8B5CF6"/>
          </a:solidFill>
          <a:ln w="12700">
            <a:solidFill>
              <a:srgbClr val="8B5CF6"/>
            </a:solidFill>
            <a:prstDash val="solid"/>
          </a:ln>
        </p:spPr>
      </p:sp>
      <p:pic>
        <p:nvPicPr>
          <p:cNvPr id="8" name="Icon" descr="preencoded.png">    </p:cNvPr>
          <p:cNvPicPr>
            <a:picLocks noChangeAspect="1"/>
          </p:cNvPicPr>
          <p:nvPr/>
        </p:nvPicPr>
        <p:blipFill>
          <a:blip r:embed="rId1"/>
          <a:stretch>
            <a:fillRect/>
          </a:stretch>
        </p:blipFill>
        <p:spPr>
          <a:xfrm>
            <a:off x="2412644" y="2172614"/>
            <a:ext cx="263347" cy="263347"/>
          </a:xfrm>
          <a:prstGeom prst="rect">
            <a:avLst/>
          </a:prstGeom>
        </p:spPr>
      </p:pic>
      <p:sp>
        <p:nvSpPr>
          <p:cNvPr id="9" name="Text 6"/>
          <p:cNvSpPr txBox="1"/>
          <p:nvPr/>
        </p:nvSpPr>
        <p:spPr>
          <a:xfrm>
            <a:off x="777240" y="2834640"/>
            <a:ext cx="2087118" cy="685800"/>
          </a:xfrm>
          <a:prstGeom prst="rect">
            <a:avLst/>
          </a:prstGeom>
          <a:noFill/>
          <a:ln/>
        </p:spPr>
        <p:txBody>
          <a:bodyPr wrap="square" lIns="0" tIns="0" rIns="0" bIns="0" rtlCol="0" anchor="t"/>
          <a:lstStyle/>
          <a:p>
            <a:pPr indent="0" marL="0">
              <a:buNone/>
            </a:pPr>
            <a:r>
              <a:rPr lang="en-US" sz="1600" b="1" dirty="0">
                <a:solidFill>
                  <a:schemeClr val="bg1"/>
                </a:solidFill>
              </a:rPr>
              <a:t>Website and DNS access</a:t>
            </a:r>
            <a:endParaRPr lang="en-US" sz="1600" dirty="0"/>
          </a:p>
        </p:txBody>
      </p:sp>
      <p:sp>
        <p:nvSpPr>
          <p:cNvPr id="10" name="Text 7"/>
          <p:cNvSpPr txBox="1"/>
          <p:nvPr/>
        </p:nvSpPr>
        <p:spPr>
          <a:xfrm>
            <a:off x="777240" y="3547872"/>
            <a:ext cx="2087118" cy="777240"/>
          </a:xfrm>
          <a:prstGeom prst="rect">
            <a:avLst/>
          </a:prstGeom>
          <a:noFill/>
          <a:ln/>
        </p:spPr>
        <p:txBody>
          <a:bodyPr wrap="square" lIns="0" tIns="0" rIns="0" bIns="0" rtlCol="0" anchor="t"/>
          <a:lstStyle/>
          <a:p>
            <a:pPr indent="0" marL="0">
              <a:buNone/>
            </a:pPr>
            <a:r>
              <a:rPr lang="en-US" sz="1250" dirty="0">
                <a:solidFill>
                  <a:srgbClr val="A1A1AA"/>
                </a:solidFill>
              </a:rPr>
              <a:t>To fix pages, install tracking and verify Search Console.</a:t>
            </a:r>
            <a:endParaRPr lang="en-US" sz="1250" dirty="0"/>
          </a:p>
        </p:txBody>
      </p:sp>
      <p:sp>
        <p:nvSpPr>
          <p:cNvPr id="11" name="Ask card"/>
          <p:cNvSpPr/>
          <p:nvPr/>
        </p:nvSpPr>
        <p:spPr>
          <a:xfrm>
            <a:off x="3367278" y="1737360"/>
            <a:ext cx="2590038" cy="2743200"/>
          </a:xfrm>
          <a:prstGeom prst="roundRect">
            <a:avLst>
              <a:gd name="adj" fmla="val 2824"/>
            </a:avLst>
          </a:prstGeom>
          <a:solidFill>
            <a:srgbClr val="1E1E22"/>
          </a:solidFill>
          <a:ln w="12700">
            <a:solidFill>
              <a:srgbClr val="2E2C38"/>
            </a:solidFill>
            <a:prstDash val="solid"/>
          </a:ln>
        </p:spPr>
      </p:sp>
      <p:sp>
        <p:nvSpPr>
          <p:cNvPr id="12" name="Text 9"/>
          <p:cNvSpPr txBox="1"/>
          <p:nvPr/>
        </p:nvSpPr>
        <p:spPr>
          <a:xfrm>
            <a:off x="3641598" y="2011680"/>
            <a:ext cx="1097280" cy="548640"/>
          </a:xfrm>
          <a:prstGeom prst="rect">
            <a:avLst/>
          </a:prstGeom>
          <a:noFill/>
          <a:ln/>
        </p:spPr>
        <p:txBody>
          <a:bodyPr wrap="square" lIns="0" tIns="0" rIns="0" bIns="0" rtlCol="0" anchor="t"/>
          <a:lstStyle/>
          <a:p>
            <a:pPr indent="0" marL="0">
              <a:buNone/>
            </a:pPr>
            <a:r>
              <a:rPr lang="en-US" sz="3000" b="1" dirty="0">
                <a:solidFill>
                  <a:schemeClr val="accent1"/>
                </a:solidFill>
                <a:latin typeface="Century Schoolbook" pitchFamily="34" charset="0"/>
                <a:ea typeface="Century Schoolbook" pitchFamily="34" charset="-122"/>
                <a:cs typeface="Century Schoolbook" pitchFamily="34" charset="-120"/>
              </a:rPr>
              <a:t>02</a:t>
            </a:r>
            <a:endParaRPr lang="en-US" sz="3000" dirty="0"/>
          </a:p>
        </p:txBody>
      </p:sp>
      <p:sp>
        <p:nvSpPr>
          <p:cNvPr id="13" name="Icon circle"/>
          <p:cNvSpPr/>
          <p:nvPr/>
        </p:nvSpPr>
        <p:spPr>
          <a:xfrm>
            <a:off x="5134356" y="2029968"/>
            <a:ext cx="548640" cy="548640"/>
          </a:xfrm>
          <a:prstGeom prst="ellipse">
            <a:avLst/>
          </a:prstGeom>
          <a:solidFill>
            <a:srgbClr val="8B5CF6"/>
          </a:solidFill>
          <a:ln w="12700">
            <a:solidFill>
              <a:srgbClr val="8B5CF6"/>
            </a:solidFill>
            <a:prstDash val="solid"/>
          </a:ln>
        </p:spPr>
      </p:sp>
      <p:pic>
        <p:nvPicPr>
          <p:cNvPr id="14" name="Icon" descr="preencoded.png">    </p:cNvPr>
          <p:cNvPicPr>
            <a:picLocks noChangeAspect="1"/>
          </p:cNvPicPr>
          <p:nvPr/>
        </p:nvPicPr>
        <p:blipFill>
          <a:blip r:embed="rId2"/>
          <a:stretch>
            <a:fillRect/>
          </a:stretch>
        </p:blipFill>
        <p:spPr>
          <a:xfrm>
            <a:off x="5277002" y="2172614"/>
            <a:ext cx="263347" cy="263347"/>
          </a:xfrm>
          <a:prstGeom prst="rect">
            <a:avLst/>
          </a:prstGeom>
        </p:spPr>
      </p:pic>
      <p:sp>
        <p:nvSpPr>
          <p:cNvPr id="15" name="Text 11"/>
          <p:cNvSpPr txBox="1"/>
          <p:nvPr/>
        </p:nvSpPr>
        <p:spPr>
          <a:xfrm>
            <a:off x="3641598" y="2834640"/>
            <a:ext cx="2087118" cy="685800"/>
          </a:xfrm>
          <a:prstGeom prst="rect">
            <a:avLst/>
          </a:prstGeom>
          <a:noFill/>
          <a:ln/>
        </p:spPr>
        <p:txBody>
          <a:bodyPr wrap="square" lIns="0" tIns="0" rIns="0" bIns="0" rtlCol="0" anchor="t"/>
          <a:lstStyle/>
          <a:p>
            <a:pPr indent="0" marL="0">
              <a:buNone/>
            </a:pPr>
            <a:r>
              <a:rPr lang="en-US" sz="1600" b="1" dirty="0">
                <a:solidFill>
                  <a:schemeClr val="bg1"/>
                </a:solidFill>
              </a:rPr>
              <a:t>Admin on social accounts</a:t>
            </a:r>
            <a:endParaRPr lang="en-US" sz="1600" dirty="0"/>
          </a:p>
        </p:txBody>
      </p:sp>
      <p:sp>
        <p:nvSpPr>
          <p:cNvPr id="16" name="Text 12"/>
          <p:cNvSpPr txBox="1"/>
          <p:nvPr/>
        </p:nvSpPr>
        <p:spPr>
          <a:xfrm>
            <a:off x="3641598" y="3547872"/>
            <a:ext cx="2087118" cy="777240"/>
          </a:xfrm>
          <a:prstGeom prst="rect">
            <a:avLst/>
          </a:prstGeom>
          <a:noFill/>
          <a:ln/>
        </p:spPr>
        <p:txBody>
          <a:bodyPr wrap="square" lIns="0" tIns="0" rIns="0" bIns="0" rtlCol="0" anchor="t"/>
          <a:lstStyle/>
          <a:p>
            <a:pPr indent="0" marL="0">
              <a:buNone/>
            </a:pPr>
            <a:r>
              <a:rPr lang="en-US" sz="1250" dirty="0">
                <a:solidFill>
                  <a:srgbClr val="A1A1AA"/>
                </a:solidFill>
              </a:rPr>
              <a:t>To claim, align and optimize every profile.</a:t>
            </a:r>
            <a:endParaRPr lang="en-US" sz="1250" dirty="0"/>
          </a:p>
        </p:txBody>
      </p:sp>
      <p:sp>
        <p:nvSpPr>
          <p:cNvPr id="17" name="Ask card"/>
          <p:cNvSpPr/>
          <p:nvPr/>
        </p:nvSpPr>
        <p:spPr>
          <a:xfrm>
            <a:off x="6231636" y="1737360"/>
            <a:ext cx="2590038" cy="2743200"/>
          </a:xfrm>
          <a:prstGeom prst="roundRect">
            <a:avLst>
              <a:gd name="adj" fmla="val 2824"/>
            </a:avLst>
          </a:prstGeom>
          <a:solidFill>
            <a:srgbClr val="1E1E22"/>
          </a:solidFill>
          <a:ln w="12700">
            <a:solidFill>
              <a:srgbClr val="2E2C38"/>
            </a:solidFill>
            <a:prstDash val="solid"/>
          </a:ln>
        </p:spPr>
      </p:sp>
      <p:sp>
        <p:nvSpPr>
          <p:cNvPr id="18" name="Text 14"/>
          <p:cNvSpPr txBox="1"/>
          <p:nvPr/>
        </p:nvSpPr>
        <p:spPr>
          <a:xfrm>
            <a:off x="6505956" y="2011680"/>
            <a:ext cx="1097280" cy="548640"/>
          </a:xfrm>
          <a:prstGeom prst="rect">
            <a:avLst/>
          </a:prstGeom>
          <a:noFill/>
          <a:ln/>
        </p:spPr>
        <p:txBody>
          <a:bodyPr wrap="square" lIns="0" tIns="0" rIns="0" bIns="0" rtlCol="0" anchor="t"/>
          <a:lstStyle/>
          <a:p>
            <a:pPr indent="0" marL="0">
              <a:buNone/>
            </a:pPr>
            <a:r>
              <a:rPr lang="en-US" sz="3000" b="1" dirty="0">
                <a:solidFill>
                  <a:schemeClr val="accent1"/>
                </a:solidFill>
                <a:latin typeface="Century Schoolbook" pitchFamily="34" charset="0"/>
                <a:ea typeface="Century Schoolbook" pitchFamily="34" charset="-122"/>
                <a:cs typeface="Century Schoolbook" pitchFamily="34" charset="-120"/>
              </a:rPr>
              <a:t>03</a:t>
            </a:r>
            <a:endParaRPr lang="en-US" sz="3000" dirty="0"/>
          </a:p>
        </p:txBody>
      </p:sp>
      <p:sp>
        <p:nvSpPr>
          <p:cNvPr id="19" name="Icon circle"/>
          <p:cNvSpPr/>
          <p:nvPr/>
        </p:nvSpPr>
        <p:spPr>
          <a:xfrm>
            <a:off x="7998714" y="2029968"/>
            <a:ext cx="548640" cy="548640"/>
          </a:xfrm>
          <a:prstGeom prst="ellipse">
            <a:avLst/>
          </a:prstGeom>
          <a:solidFill>
            <a:srgbClr val="8B5CF6"/>
          </a:solidFill>
          <a:ln w="12700">
            <a:solidFill>
              <a:srgbClr val="8B5CF6"/>
            </a:solidFill>
            <a:prstDash val="solid"/>
          </a:ln>
        </p:spPr>
      </p:sp>
      <p:pic>
        <p:nvPicPr>
          <p:cNvPr id="20" name="Icon" descr="preencoded.png">    </p:cNvPr>
          <p:cNvPicPr>
            <a:picLocks noChangeAspect="1"/>
          </p:cNvPicPr>
          <p:nvPr/>
        </p:nvPicPr>
        <p:blipFill>
          <a:blip r:embed="rId3"/>
          <a:stretch>
            <a:fillRect/>
          </a:stretch>
        </p:blipFill>
        <p:spPr>
          <a:xfrm>
            <a:off x="8141360" y="2172614"/>
            <a:ext cx="263347" cy="263347"/>
          </a:xfrm>
          <a:prstGeom prst="rect">
            <a:avLst/>
          </a:prstGeom>
        </p:spPr>
      </p:pic>
      <p:sp>
        <p:nvSpPr>
          <p:cNvPr id="21" name="Text 16"/>
          <p:cNvSpPr txBox="1"/>
          <p:nvPr/>
        </p:nvSpPr>
        <p:spPr>
          <a:xfrm>
            <a:off x="6505956" y="2834640"/>
            <a:ext cx="2087118" cy="685800"/>
          </a:xfrm>
          <a:prstGeom prst="rect">
            <a:avLst/>
          </a:prstGeom>
          <a:noFill/>
          <a:ln/>
        </p:spPr>
        <p:txBody>
          <a:bodyPr wrap="square" lIns="0" tIns="0" rIns="0" bIns="0" rtlCol="0" anchor="t"/>
          <a:lstStyle/>
          <a:p>
            <a:pPr indent="0" marL="0">
              <a:buNone/>
            </a:pPr>
            <a:r>
              <a:rPr lang="en-US" sz="1600" b="1" dirty="0">
                <a:solidFill>
                  <a:schemeClr val="bg1"/>
                </a:solidFill>
              </a:rPr>
              <a:t>10 to 20 happy teams</a:t>
            </a:r>
            <a:endParaRPr lang="en-US" sz="1600" dirty="0"/>
          </a:p>
        </p:txBody>
      </p:sp>
      <p:sp>
        <p:nvSpPr>
          <p:cNvPr id="22" name="Text 17"/>
          <p:cNvSpPr txBox="1"/>
          <p:nvPr/>
        </p:nvSpPr>
        <p:spPr>
          <a:xfrm>
            <a:off x="6505956" y="3547872"/>
            <a:ext cx="2087118" cy="777240"/>
          </a:xfrm>
          <a:prstGeom prst="rect">
            <a:avLst/>
          </a:prstGeom>
          <a:noFill/>
          <a:ln/>
        </p:spPr>
        <p:txBody>
          <a:bodyPr wrap="square" lIns="0" tIns="0" rIns="0" bIns="0" rtlCol="0" anchor="t"/>
          <a:lstStyle/>
          <a:p>
            <a:pPr indent="0" marL="0">
              <a:buNone/>
            </a:pPr>
            <a:r>
              <a:rPr lang="en-US" sz="1250" dirty="0">
                <a:solidFill>
                  <a:srgbClr val="A1A1AA"/>
                </a:solidFill>
              </a:rPr>
              <a:t>Real users we can invite for genuine reviews in Month 3.</a:t>
            </a:r>
            <a:endParaRPr lang="en-US" sz="1250" dirty="0"/>
          </a:p>
        </p:txBody>
      </p:sp>
      <p:sp>
        <p:nvSpPr>
          <p:cNvPr id="23" name="Ask card"/>
          <p:cNvSpPr/>
          <p:nvPr/>
        </p:nvSpPr>
        <p:spPr>
          <a:xfrm>
            <a:off x="9095994" y="1737360"/>
            <a:ext cx="2590038" cy="2743200"/>
          </a:xfrm>
          <a:prstGeom prst="roundRect">
            <a:avLst>
              <a:gd name="adj" fmla="val 2824"/>
            </a:avLst>
          </a:prstGeom>
          <a:solidFill>
            <a:srgbClr val="1E1E22"/>
          </a:solidFill>
          <a:ln w="12700">
            <a:solidFill>
              <a:srgbClr val="2E2C38"/>
            </a:solidFill>
            <a:prstDash val="solid"/>
          </a:ln>
        </p:spPr>
      </p:sp>
      <p:sp>
        <p:nvSpPr>
          <p:cNvPr id="24" name="Text 19"/>
          <p:cNvSpPr txBox="1"/>
          <p:nvPr/>
        </p:nvSpPr>
        <p:spPr>
          <a:xfrm>
            <a:off x="9370314" y="2011680"/>
            <a:ext cx="1097280" cy="548640"/>
          </a:xfrm>
          <a:prstGeom prst="rect">
            <a:avLst/>
          </a:prstGeom>
          <a:noFill/>
          <a:ln/>
        </p:spPr>
        <p:txBody>
          <a:bodyPr wrap="square" lIns="0" tIns="0" rIns="0" bIns="0" rtlCol="0" anchor="t"/>
          <a:lstStyle/>
          <a:p>
            <a:pPr indent="0" marL="0">
              <a:buNone/>
            </a:pPr>
            <a:r>
              <a:rPr lang="en-US" sz="3000" b="1" dirty="0">
                <a:solidFill>
                  <a:schemeClr val="accent1"/>
                </a:solidFill>
                <a:latin typeface="Century Schoolbook" pitchFamily="34" charset="0"/>
                <a:ea typeface="Century Schoolbook" pitchFamily="34" charset="-122"/>
                <a:cs typeface="Century Schoolbook" pitchFamily="34" charset="-120"/>
              </a:rPr>
              <a:t>04</a:t>
            </a:r>
            <a:endParaRPr lang="en-US" sz="3000" dirty="0"/>
          </a:p>
        </p:txBody>
      </p:sp>
      <p:sp>
        <p:nvSpPr>
          <p:cNvPr id="25" name="Icon circle"/>
          <p:cNvSpPr/>
          <p:nvPr/>
        </p:nvSpPr>
        <p:spPr>
          <a:xfrm>
            <a:off x="10863072" y="2029968"/>
            <a:ext cx="548640" cy="548640"/>
          </a:xfrm>
          <a:prstGeom prst="ellipse">
            <a:avLst/>
          </a:prstGeom>
          <a:solidFill>
            <a:srgbClr val="8B5CF6"/>
          </a:solidFill>
          <a:ln w="12700">
            <a:solidFill>
              <a:srgbClr val="8B5CF6"/>
            </a:solidFill>
            <a:prstDash val="solid"/>
          </a:ln>
        </p:spPr>
      </p:sp>
      <p:pic>
        <p:nvPicPr>
          <p:cNvPr id="26" name="Icon" descr="preencoded.png">    </p:cNvPr>
          <p:cNvPicPr>
            <a:picLocks noChangeAspect="1"/>
          </p:cNvPicPr>
          <p:nvPr/>
        </p:nvPicPr>
        <p:blipFill>
          <a:blip r:embed="rId4"/>
          <a:stretch>
            <a:fillRect/>
          </a:stretch>
        </p:blipFill>
        <p:spPr>
          <a:xfrm>
            <a:off x="11005718" y="2172614"/>
            <a:ext cx="263347" cy="263347"/>
          </a:xfrm>
          <a:prstGeom prst="rect">
            <a:avLst/>
          </a:prstGeom>
        </p:spPr>
      </p:pic>
      <p:sp>
        <p:nvSpPr>
          <p:cNvPr id="27" name="Text 21"/>
          <p:cNvSpPr txBox="1"/>
          <p:nvPr/>
        </p:nvSpPr>
        <p:spPr>
          <a:xfrm>
            <a:off x="9370314" y="2834640"/>
            <a:ext cx="2087118" cy="685800"/>
          </a:xfrm>
          <a:prstGeom prst="rect">
            <a:avLst/>
          </a:prstGeom>
          <a:noFill/>
          <a:ln/>
        </p:spPr>
        <p:txBody>
          <a:bodyPr wrap="square" lIns="0" tIns="0" rIns="0" bIns="0" rtlCol="0" anchor="t"/>
          <a:lstStyle/>
          <a:p>
            <a:pPr indent="0" marL="0">
              <a:buNone/>
            </a:pPr>
            <a:r>
              <a:rPr lang="en-US" sz="1600" b="1" dirty="0">
                <a:solidFill>
                  <a:schemeClr val="bg1"/>
                </a:solidFill>
              </a:rPr>
              <a:t>30 minutes a week of founder time</a:t>
            </a:r>
            <a:endParaRPr lang="en-US" sz="1600" dirty="0"/>
          </a:p>
        </p:txBody>
      </p:sp>
      <p:sp>
        <p:nvSpPr>
          <p:cNvPr id="28" name="Text 22"/>
          <p:cNvSpPr txBox="1"/>
          <p:nvPr/>
        </p:nvSpPr>
        <p:spPr>
          <a:xfrm>
            <a:off x="9370314" y="3547872"/>
            <a:ext cx="2087118" cy="777240"/>
          </a:xfrm>
          <a:prstGeom prst="rect">
            <a:avLst/>
          </a:prstGeom>
          <a:noFill/>
          <a:ln/>
        </p:spPr>
        <p:txBody>
          <a:bodyPr wrap="square" lIns="0" tIns="0" rIns="0" bIns="0" rtlCol="0" anchor="t"/>
          <a:lstStyle/>
          <a:p>
            <a:pPr indent="0" marL="0">
              <a:buNone/>
            </a:pPr>
            <a:r>
              <a:rPr lang="en-US" sz="1250" dirty="0">
                <a:solidFill>
                  <a:srgbClr val="A1A1AA"/>
                </a:solidFill>
              </a:rPr>
              <a:t>For LinkedIn posts, community answers and approvals.</a:t>
            </a:r>
            <a:endParaRPr lang="en-US" sz="1250" dirty="0"/>
          </a:p>
        </p:txBody>
      </p:sp>
      <p:sp>
        <p:nvSpPr>
          <p:cNvPr id="29" name="Text 23"/>
          <p:cNvSpPr txBox="1"/>
          <p:nvPr/>
        </p:nvSpPr>
        <p:spPr>
          <a:xfrm>
            <a:off x="502920" y="4846320"/>
            <a:ext cx="10515600" cy="822960"/>
          </a:xfrm>
          <a:prstGeom prst="rect">
            <a:avLst/>
          </a:prstGeom>
          <a:noFill/>
          <a:ln/>
        </p:spPr>
        <p:txBody>
          <a:bodyPr wrap="square" lIns="0" tIns="0" rIns="0" bIns="0" rtlCol="0" anchor="t"/>
          <a:lstStyle/>
          <a:p>
            <a:pPr indent="0" marL="0">
              <a:buNone/>
            </a:pPr>
            <a:r>
              <a:rPr lang="en-US" sz="2000" b="1" dirty="0">
                <a:solidFill>
                  <a:schemeClr val="accent1"/>
                </a:solidFill>
                <a:latin typeface="Century Schoolbook" pitchFamily="34" charset="0"/>
                <a:ea typeface="Century Schoolbook" pitchFamily="34" charset="-122"/>
                <a:cs typeface="Century Schoolbook" pitchFamily="34" charset="-120"/>
              </a:rPr>
              <a:t>Thirty days after approval: </a:t>
            </a:r>
            <a:pPr indent="0" marL="0">
              <a:buNone/>
            </a:pPr>
            <a:r>
              <a:rPr lang="en-US" sz="2000" b="1" dirty="0">
                <a:solidFill>
                  <a:schemeClr val="bg1"/>
                </a:solidFill>
                <a:latin typeface="Century Schoolbook" pitchFamily="34" charset="0"/>
                <a:ea typeface="Century Schoolbook" pitchFamily="34" charset="-122"/>
                <a:cs typeface="Century Schoolbook" pitchFamily="34" charset="-120"/>
              </a:rPr>
              <a:t>a clean, tracked site, consistent profiles everywhere, and a keyword plan every page follows.</a:t>
            </a:r>
            <a:endParaRPr lang="en-US" sz="20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1A1AA"/>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Taskive Visibility">
  <a:themeElements>
    <a:clrScheme name="Taskive Visibility">
      <a:dk1>
        <a:srgbClr val="1C1B22"/>
      </a:dk1>
      <a:lt1>
        <a:srgbClr val="FFFFFF"/>
      </a:lt1>
      <a:dk2>
        <a:srgbClr val="121212"/>
      </a:dk2>
      <a:lt2>
        <a:srgbClr val="F6F5FE"/>
      </a:lt2>
      <a:accent1>
        <a:srgbClr val="8B5CF6"/>
      </a:accent1>
      <a:accent2>
        <a:srgbClr val="6D3FD4"/>
      </a:accent2>
      <a:accent3>
        <a:srgbClr val="179C6E"/>
      </a:accent3>
      <a:accent4>
        <a:srgbClr val="D6304A"/>
      </a:accent4>
      <a:accent5>
        <a:srgbClr val="DE8C1B"/>
      </a:accent5>
      <a:accent6>
        <a:srgbClr val="6E6B7B"/>
      </a:accent6>
      <a:hlink>
        <a:srgbClr val="6D3FD4"/>
      </a:hlink>
      <a:folHlink>
        <a:srgbClr val="6D3FD4"/>
      </a:folHlink>
    </a:clrScheme>
    <a:fontScheme name="Taskive Visibility">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Taskive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Taskive Search and AI Visibility Growth Plan</dc:title>
  <dc:subject>PptxGenJS Presentation</dc:subject>
  <dc:creator>Prepared for Taskive</dc:creator>
  <cp:lastModifiedBy>Prepared for Taskive</cp:lastModifiedBy>
  <cp:revision>1</cp:revision>
  <dcterms:created xsi:type="dcterms:W3CDTF">2026-10-04T13:35:44Z</dcterms:created>
  <dcterms:modified xsi:type="dcterms:W3CDTF">2026-10-04T13:35:44Z</dcterms:modified>
</cp:coreProperties>
</file>